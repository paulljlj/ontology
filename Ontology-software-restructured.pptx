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86" r:id="rId6"/>
    <p:sldMasterId id="2147483692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3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/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 lim="800000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35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36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37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38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39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40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ph type="body" sz="quarter" idx="141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9" name="AutoShape 9"/>
          <p:cNvSpPr/>
          <p:nvPr>
            <p:ph type="body" sz="quarter" idx="142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sz="quarter" idx="143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>
            <p:ph type="body" sz="quarter" idx="144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45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46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4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14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14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12193588" cy="6864350"/>
            <a:chOff x="0" y="0"/>
            <a:chExt cx="12193588" cy="6864350"/>
          </a:xfrm>
        </p:grpSpPr>
        <p:sp>
          <p:nvSpPr>
            <p:cNvPr id="4" name="Freeform 4"/>
            <p:cNvSpPr/>
            <p:nvPr/>
          </p:nvSpPr>
          <p:spPr>
            <a:xfrm rot="5400000">
              <a:off x="10383480" y="5049028"/>
              <a:ext cx="1855521" cy="1761380"/>
            </a:xfrm>
            <a:custGeom>
              <a:avLst/>
              <a:gdLst/>
              <a:ahLst/>
              <a:cxnLst/>
              <a:rect l="l" t="t" r="r" b="b"/>
              <a:pathLst>
                <a:path w="1855521" h="1761380">
                  <a:moveTo>
                    <a:pt x="0" y="0"/>
                  </a:moveTo>
                  <a:lnTo>
                    <a:pt x="1855521" y="0"/>
                  </a:lnTo>
                  <a:lnTo>
                    <a:pt x="1855521" y="1761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75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8470050" y="3140812"/>
              <a:ext cx="3797170" cy="3649905"/>
            </a:xfrm>
            <a:custGeom>
              <a:avLst/>
              <a:gdLst/>
              <a:ahLst/>
              <a:cxnLst/>
              <a:rect l="l" t="t" r="r" b="b"/>
              <a:pathLst>
                <a:path w="3797170" h="3649905">
                  <a:moveTo>
                    <a:pt x="0" y="0"/>
                  </a:moveTo>
                  <a:lnTo>
                    <a:pt x="1965038" y="0"/>
                  </a:lnTo>
                  <a:lnTo>
                    <a:pt x="3797170" y="1761079"/>
                  </a:lnTo>
                  <a:lnTo>
                    <a:pt x="3797170" y="3649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F7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8585310" y="5163442"/>
              <a:ext cx="3606778" cy="1150703"/>
            </a:xfrm>
            <a:custGeom>
              <a:avLst/>
              <a:gdLst/>
              <a:ahLst/>
              <a:cxnLst/>
              <a:rect l="l" t="t" r="r" b="b"/>
              <a:pathLst>
                <a:path w="3606778" h="1150703">
                  <a:moveTo>
                    <a:pt x="1111899" y="0"/>
                  </a:moveTo>
                  <a:lnTo>
                    <a:pt x="3606778" y="0"/>
                  </a:lnTo>
                  <a:lnTo>
                    <a:pt x="3606778" y="1150703"/>
                  </a:lnTo>
                  <a:lnTo>
                    <a:pt x="0" y="1150703"/>
                  </a:lnTo>
                  <a:lnTo>
                    <a:pt x="1111899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728422" cy="3636256"/>
            </a:xfrm>
            <a:custGeom>
              <a:avLst/>
              <a:gdLst/>
              <a:ahLst/>
              <a:cxnLst/>
              <a:rect l="l" t="t" r="r" b="b"/>
              <a:pathLst>
                <a:path w="3728422" h="3636256">
                  <a:moveTo>
                    <a:pt x="0" y="0"/>
                  </a:moveTo>
                  <a:lnTo>
                    <a:pt x="3728422" y="0"/>
                  </a:lnTo>
                  <a:lnTo>
                    <a:pt x="3728422" y="67224"/>
                  </a:lnTo>
                  <a:lnTo>
                    <a:pt x="159137" y="3636256"/>
                  </a:lnTo>
                  <a:lnTo>
                    <a:pt x="159137" y="3621422"/>
                  </a:lnTo>
                  <a:lnTo>
                    <a:pt x="0" y="362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B7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58" y="258312"/>
              <a:ext cx="4472915" cy="1150703"/>
            </a:xfrm>
            <a:custGeom>
              <a:avLst/>
              <a:gdLst/>
              <a:ahLst/>
              <a:cxnLst/>
              <a:rect l="l" t="t" r="r" b="b"/>
              <a:pathLst>
                <a:path w="4472915" h="1150703">
                  <a:moveTo>
                    <a:pt x="0" y="0"/>
                  </a:moveTo>
                  <a:lnTo>
                    <a:pt x="4472915" y="0"/>
                  </a:lnTo>
                  <a:lnTo>
                    <a:pt x="3361016" y="1150703"/>
                  </a:lnTo>
                  <a:lnTo>
                    <a:pt x="0" y="115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cxnSp>
        <p:nvCxnSpPr>
          <p:cNvPr id="9" name="Connector 9"/>
          <p:cNvCxnSpPr/>
          <p:nvPr/>
        </p:nvCxnSpPr>
        <p:spPr>
          <a:xfrm>
            <a:off x="3106738" y="4746625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106738" y="2197100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ph type="body" sz="quarter" idx="150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 algn="dist">
              <a:lnSpc>
                <a:spcPct val="100000"/>
              </a:lnSpc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dist">
              <a:lnSpc>
                <a:spcPct val="100000"/>
              </a:lnSpc>
            </a:pPr>
            <a:r>
              <a:rPr lang="en-US"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12" name="AutoShape 12"/>
          <p:cNvSpPr/>
          <p:nvPr>
            <p:ph type="body" sz="quarter" idx="151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ph type="body" sz="quarter" idx="152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>
            <p:ph type="body" sz="quarter" idx="153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ph type="body" sz="quarter" idx="154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6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6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Freeform 3"/>
          <p:cNvSpPr/>
          <p:nvPr/>
        </p:nvSpPr>
        <p:spPr>
          <a:xfrm>
            <a:off x="4878388" y="0"/>
            <a:ext cx="7313612" cy="6858000"/>
          </a:xfrm>
          <a:custGeom>
            <a:avLst/>
            <a:gdLst/>
            <a:ahLst/>
            <a:cxnLst/>
            <a:rect l="l" t="t" r="r" b="b"/>
            <a:pathLst>
              <a:path w="7313612" h="6858000">
                <a:moveTo>
                  <a:pt x="1714410" y="0"/>
                </a:moveTo>
                <a:lnTo>
                  <a:pt x="7313613" y="0"/>
                </a:lnTo>
                <a:lnTo>
                  <a:pt x="7313613" y="6858000"/>
                </a:lnTo>
                <a:lnTo>
                  <a:pt x="0" y="6858000"/>
                </a:lnTo>
                <a:lnTo>
                  <a:pt x="1714410" y="0"/>
                </a:lnTo>
                <a:close/>
              </a:path>
            </a:pathLst>
          </a:custGeom>
          <a:solidFill>
            <a:srgbClr val="254F8F">
              <a:alpha val="10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miter lim="800000"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41450" y="2012950"/>
            <a:ext cx="2674938" cy="2689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63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64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65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335713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66" hasCustomPrompt="1"/>
          </p:nvPr>
        </p:nvSpPr>
        <p:spPr>
          <a:xfrm>
            <a:off x="6856413" y="405066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67" hasCustomPrompt="1"/>
          </p:nvPr>
        </p:nvSpPr>
        <p:spPr>
          <a:xfrm>
            <a:off x="6856413" y="4525645"/>
            <a:ext cx="2011680" cy="408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1600" b="0" i="0" u="none" strike="noStrike" spc="1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68" hasCustomPrompt="1"/>
          </p:nvPr>
        </p:nvSpPr>
        <p:spPr>
          <a:xfrm>
            <a:off x="6856413" y="3300095"/>
            <a:ext cx="4352290" cy="3702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2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单击此处编辑副标题</a:t>
            </a:r>
            <a:endParaRPr lang="en-US" sz="2000" b="0" i="0" u="none" strike="noStrike" spc="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ph type="body" sz="quarter" idx="169" hasCustomPrompt="1"/>
          </p:nvPr>
        </p:nvSpPr>
        <p:spPr>
          <a:xfrm>
            <a:off x="6848793" y="1923415"/>
            <a:ext cx="4359910" cy="1172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defRPr sz="6600" b="0" i="0" u="none" strike="noStrike" spc="700">
                <a:solidFill>
                  <a:srgbClr val="000000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600" b="0" i="0" u="none" strike="noStrike" spc="700">
                <a:solidFill>
                  <a:srgbClr val="000000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6600" b="0" i="0" u="none" strike="noStrike" spc="700">
              <a:solidFill>
                <a:srgbClr val="000000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9" name="AutoShape 9"/>
          <p:cNvSpPr/>
          <p:nvPr>
            <p:ph type="body" sz="quarter" idx="170" hasCustomPrompt="1"/>
          </p:nvPr>
        </p:nvSpPr>
        <p:spPr>
          <a:xfrm>
            <a:off x="879475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sz="quarter" idx="171" hasCustomPrompt="1"/>
          </p:nvPr>
        </p:nvSpPr>
        <p:spPr>
          <a:xfrm>
            <a:off x="4116388" y="6350000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/>
          <p:nvPr>
            <p:ph type="body" sz="quarter" idx="172" hasCustomPrompt="1"/>
          </p:nvPr>
        </p:nvSpPr>
        <p:spPr>
          <a:xfrm>
            <a:off x="8610600" y="6350000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ect">
            <a:avLst/>
          </a:prstGeom>
          <a:solidFill>
            <a:srgbClr val="B39B77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>
            <p:ph type="body" sz="quarter" idx="173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174" hasCustomPrompt="1"/>
          </p:nvPr>
        </p:nvSpPr>
        <p:spPr>
          <a:xfrm>
            <a:off x="608330" y="384810"/>
            <a:ext cx="6873875" cy="705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175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176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177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12193588" cy="6864350"/>
            <a:chOff x="0" y="0"/>
            <a:chExt cx="12193588" cy="6864350"/>
          </a:xfrm>
        </p:grpSpPr>
        <p:sp>
          <p:nvSpPr>
            <p:cNvPr id="4" name="Freeform 4"/>
            <p:cNvSpPr/>
            <p:nvPr/>
          </p:nvSpPr>
          <p:spPr>
            <a:xfrm rot="5400000">
              <a:off x="10383480" y="5049028"/>
              <a:ext cx="1855521" cy="1761380"/>
            </a:xfrm>
            <a:custGeom>
              <a:avLst/>
              <a:gdLst/>
              <a:ahLst/>
              <a:cxnLst/>
              <a:rect l="l" t="t" r="r" b="b"/>
              <a:pathLst>
                <a:path w="1855521" h="1761380">
                  <a:moveTo>
                    <a:pt x="0" y="0"/>
                  </a:moveTo>
                  <a:lnTo>
                    <a:pt x="1855521" y="0"/>
                  </a:lnTo>
                  <a:lnTo>
                    <a:pt x="1855521" y="1761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75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Freeform 5"/>
            <p:cNvSpPr/>
            <p:nvPr/>
          </p:nvSpPr>
          <p:spPr>
            <a:xfrm rot="5400000">
              <a:off x="8470050" y="3140812"/>
              <a:ext cx="3797170" cy="3649905"/>
            </a:xfrm>
            <a:custGeom>
              <a:avLst/>
              <a:gdLst/>
              <a:ahLst/>
              <a:cxnLst/>
              <a:rect l="l" t="t" r="r" b="b"/>
              <a:pathLst>
                <a:path w="3797170" h="3649905">
                  <a:moveTo>
                    <a:pt x="0" y="0"/>
                  </a:moveTo>
                  <a:lnTo>
                    <a:pt x="1965038" y="0"/>
                  </a:lnTo>
                  <a:lnTo>
                    <a:pt x="3797170" y="1761079"/>
                  </a:lnTo>
                  <a:lnTo>
                    <a:pt x="3797170" y="3649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F7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8585310" y="5163442"/>
              <a:ext cx="3606778" cy="1150703"/>
            </a:xfrm>
            <a:custGeom>
              <a:avLst/>
              <a:gdLst/>
              <a:ahLst/>
              <a:cxnLst/>
              <a:rect l="l" t="t" r="r" b="b"/>
              <a:pathLst>
                <a:path w="3606778" h="1150703">
                  <a:moveTo>
                    <a:pt x="1111899" y="0"/>
                  </a:moveTo>
                  <a:lnTo>
                    <a:pt x="3606778" y="0"/>
                  </a:lnTo>
                  <a:lnTo>
                    <a:pt x="3606778" y="1150703"/>
                  </a:lnTo>
                  <a:lnTo>
                    <a:pt x="0" y="1150703"/>
                  </a:lnTo>
                  <a:lnTo>
                    <a:pt x="1111899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728422" cy="3636256"/>
            </a:xfrm>
            <a:custGeom>
              <a:avLst/>
              <a:gdLst/>
              <a:ahLst/>
              <a:cxnLst/>
              <a:rect l="l" t="t" r="r" b="b"/>
              <a:pathLst>
                <a:path w="3728422" h="3636256">
                  <a:moveTo>
                    <a:pt x="0" y="0"/>
                  </a:moveTo>
                  <a:lnTo>
                    <a:pt x="3728422" y="0"/>
                  </a:lnTo>
                  <a:lnTo>
                    <a:pt x="3728422" y="67224"/>
                  </a:lnTo>
                  <a:lnTo>
                    <a:pt x="159137" y="3636256"/>
                  </a:lnTo>
                  <a:lnTo>
                    <a:pt x="159137" y="3621422"/>
                  </a:lnTo>
                  <a:lnTo>
                    <a:pt x="0" y="362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9B7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58" y="258312"/>
              <a:ext cx="4472915" cy="1150703"/>
            </a:xfrm>
            <a:custGeom>
              <a:avLst/>
              <a:gdLst/>
              <a:ahLst/>
              <a:cxnLst/>
              <a:rect l="l" t="t" r="r" b="b"/>
              <a:pathLst>
                <a:path w="4472915" h="1150703">
                  <a:moveTo>
                    <a:pt x="0" y="0"/>
                  </a:moveTo>
                  <a:lnTo>
                    <a:pt x="4472915" y="0"/>
                  </a:lnTo>
                  <a:lnTo>
                    <a:pt x="3361016" y="1150703"/>
                  </a:lnTo>
                  <a:lnTo>
                    <a:pt x="0" y="115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cxnSp>
        <p:nvCxnSpPr>
          <p:cNvPr id="9" name="Connector 9"/>
          <p:cNvCxnSpPr/>
          <p:nvPr/>
        </p:nvCxnSpPr>
        <p:spPr>
          <a:xfrm>
            <a:off x="3106738" y="4746625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106738" y="2197100"/>
            <a:ext cx="5978525" cy="0"/>
          </a:xfrm>
          <a:prstGeom prst="line">
            <a:avLst/>
          </a:prstGeom>
          <a:noFill/>
          <a:ln w="25400" cap="flat">
            <a:solidFill>
              <a:srgbClr val="006DB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ph type="body" sz="quarter" idx="178" hasCustomPrompt="1"/>
          </p:nvPr>
        </p:nvSpPr>
        <p:spPr>
          <a:xfrm>
            <a:off x="3201036" y="2496502"/>
            <a:ext cx="5789930" cy="13989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rmAutofit/>
          </a:bodyPr>
          <a:lstStyle>
            <a:lvl1pPr algn="dist">
              <a:lnSpc>
                <a:spcPct val="100000"/>
              </a:lnSpc>
              <a:defRPr sz="8000" b="0" i="0" u="none" strike="noStrike" spc="1000">
                <a:solidFill>
                  <a:srgbClr val="262626">
                    <a:alpha val="100000"/>
                  </a:srgbClr>
                </a:solidFill>
                <a:latin typeface="汉仪旗黑-85S"/>
              </a:defRPr>
            </a:lvl1pPr>
          </a:lstStyle>
          <a:p>
            <a:pPr marL="0" indent="0" algn="dist">
              <a:lnSpc>
                <a:spcPct val="100000"/>
              </a:lnSpc>
            </a:pPr>
            <a:r>
              <a:rPr lang="en-US" sz="8000" b="0" i="0" u="none" strike="noStrike" spc="1000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编辑标题</a:t>
            </a:r>
            <a:endParaRPr lang="en-US" sz="8000" b="0" i="0" u="none" strike="noStrike" spc="1000">
              <a:solidFill>
                <a:srgbClr val="262626"/>
              </a:solidFill>
              <a:latin typeface="汉仪旗黑-85S"/>
              <a:ea typeface="汉仪旗黑-85S"/>
              <a:cs typeface="汉仪旗黑-85S"/>
              <a:sym typeface="汉仪旗黑-85S"/>
            </a:endParaRPr>
          </a:p>
        </p:txBody>
      </p:sp>
      <p:sp>
        <p:nvSpPr>
          <p:cNvPr id="12" name="AutoShape 12"/>
          <p:cNvSpPr/>
          <p:nvPr>
            <p:ph type="body" sz="quarter" idx="179" hasCustomPrompt="1"/>
          </p:nvPr>
        </p:nvSpPr>
        <p:spPr>
          <a:xfrm>
            <a:off x="3201036" y="4003049"/>
            <a:ext cx="5789930" cy="476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20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0000"/>
              </a:lnSpc>
            </a:pPr>
            <a:r>
              <a:rPr lang="en-US" sz="20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ph type="body" sz="quarter" idx="180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>
            <p:ph type="body" sz="quarter" idx="181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ph type="body" sz="quarter" idx="182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27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AutoShape 2"/>
          <p:cNvSpPr/>
          <p:nvPr>
            <p:ph type="body" sz="quarter" idx="128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29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0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31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55" hasCustomPrompt="1"/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170" tIns="46990" rIns="90170" bIns="4699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AutoShape 2"/>
          <p:cNvSpPr/>
          <p:nvPr>
            <p:ph type="body" sz="quarter" idx="156" hasCustomPrompt="1"/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57" hasCustomPrompt="1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58" hasCustomPrompt="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9" hasCustomPrompt="1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0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9.png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8.xml"/><Relationship Id="rId24" Type="http://schemas.openxmlformats.org/officeDocument/2006/relationships/image" Target="../media/image14.png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image" Target="../media/image13.png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12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11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9.jpeg"/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64675" y="185738"/>
            <a:ext cx="2374900" cy="54768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908685"/>
            <a:ext cx="12193588" cy="469423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77800" y="1283970"/>
            <a:ext cx="8180705" cy="2049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0170" tIns="46990" rIns="90170" bIns="4699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基于Ontology 本体与 MCP 协议的知识图谱系统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95630" y="5070158"/>
            <a:ext cx="2560638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rtlCol="0" anchor="b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sz="14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月16日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4513" y="4625975"/>
            <a:ext cx="2560637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rtlCol="0" anchor="b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刘杰、钟子妍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5283" r="20867"/>
          <a:stretch>
            <a:fillRect/>
          </a:stretch>
        </p:blipFill>
        <p:spPr>
          <a:xfrm>
            <a:off x="595313" y="3587750"/>
            <a:ext cx="1063625" cy="47783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0713" y="6008688"/>
            <a:ext cx="3600450" cy="3857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2900" y="276225"/>
            <a:ext cx="2376488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234940" y="0"/>
            <a:ext cx="6957060" cy="6858000"/>
          </a:xfrm>
          <a:prstGeom prst="roundRect">
            <a:avLst>
              <a:gd name="adj" fmla="val 0"/>
            </a:avLst>
          </a:prstGeom>
          <a:solidFill>
            <a:srgbClr val="254F8F">
              <a:alpha val="8000"/>
            </a:srgbClr>
          </a:solidFill>
          <a:ln w="12700" cap="flat" cmpd="sng">
            <a:solidFill>
              <a:srgbClr val="446DA9">
                <a:alpha val="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962900" y="520700"/>
            <a:ext cx="1651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45720" rIns="91440" bIns="4572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262626"/>
                </a:solidFill>
                <a:latin typeface="汉仪旗黑-85S"/>
                <a:ea typeface="汉仪旗黑-85S"/>
                <a:cs typeface="汉仪旗黑-85S"/>
                <a:sym typeface="汉仪旗黑-85S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87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71600" y="160401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模式、本体概念、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整体架构、领域本体词典和核心数据模型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948">
            <a:off x="711210" y="2381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11200" y="2603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71600" y="25654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AIProvider 抽象，Feature→Spec→Plan→Task 生成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0948">
            <a:off x="711210" y="3397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3619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0948">
            <a:off x="711210" y="44132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11200" y="4635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71600" y="45974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查询、导出、推理能力标准化暴露给 AI 客户端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334000" y="1587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94400" y="1549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本体真相源、双存储、公理增强、统一校验、Agent 安全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7161">
            <a:off x="5334007" y="23812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334000" y="2603500"/>
            <a:ext cx="558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94400" y="2565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架构可扩展性与维护性优势，未来优化方向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371600" y="3746500"/>
            <a:ext cx="3164840" cy="633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Reasoner推理与检查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reasoner推理，数据一致性检查</a:t>
            </a:r>
            <a:endParaRPr lang="en-US" sz="11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9" hasCustomPrompt="1"/>
          </p:nvPr>
        </p:nvSpPr>
        <p:spPr>
          <a:xfrm>
            <a:off x="6381750" y="1924050"/>
            <a:ext cx="554545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PART1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51815" y="47625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系统概述——AI Agent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Agent（智能体）是一种能够自主感知环境信息、通过内部逻辑进行思考与决策，并主动采取行动以完成复杂任务或解决问题的新一代 AI 系统。它突破了传统问答式交互的局限，具备“自主工作”的能力。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01｜核心要素构成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683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基础框架由四大模块构成：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LLM（智能大脑）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负责推理；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Memory（记忆系统）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存储历史与信息；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Planning（规划能力）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拆解复杂任务；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Tools（工具集）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拓展现实交互边界。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02｜底层运作逻辑：ReAct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61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其本质遵循</a:t>
            </a:r>
            <a:r>
              <a:rPr lang="en-US" sz="13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ReAct 循环机制：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 Agent 通过不断进行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Reasoning（思考）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、执行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Acting（行动）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、获取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Observation（观察反馈）</a:t>
            </a:r>
            <a:r>
              <a:rPr lang="en-US" sz="1300" b="0" i="0" u="none" strike="noStrike">
                <a:solidFill>
                  <a:srgbClr val="1D2129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，形成闭环，持续逼近目标。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6604000" y="2032000"/>
            <a:ext cx="508000" cy="508000"/>
          </a:xfrm>
          <a:prstGeom prst="ellipse">
            <a:avLst/>
          </a:prstGeom>
          <a:gradFill rotWithShape="1">
            <a:gsLst>
              <a:gs pos="0">
                <a:srgbClr val="165DFF">
                  <a:alpha val="100000"/>
                </a:srgbClr>
              </a:gs>
              <a:gs pos="100000">
                <a:srgbClr val="4080F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6705600" y="2133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7239000" y="2032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模型中枢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负责意图理解、逻辑推理与策略生成的“大脑”。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9398000" y="2032000"/>
            <a:ext cx="508000" cy="508000"/>
          </a:xfrm>
          <a:prstGeom prst="ellipse">
            <a:avLst/>
          </a:prstGeom>
          <a:solidFill>
            <a:srgbClr val="00B0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9499600" y="2133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10033000" y="2032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 Prompt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精准定义 Agent 的角色、任务范围与执行规范。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604000" y="3556000"/>
            <a:ext cx="508000" cy="508000"/>
          </a:xfrm>
          <a:prstGeom prst="ellipse">
            <a:avLst/>
          </a:prstGeom>
          <a:solidFill>
            <a:schemeClr val="accent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6705600" y="3657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7239000" y="355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记忆存储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保存历史交互记录与上下文，支持长程逻辑连贯。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9398000" y="3556000"/>
            <a:ext cx="508000" cy="508000"/>
          </a:xfrm>
          <a:prstGeom prst="ellipse">
            <a:avLst/>
          </a:prstGeom>
          <a:solidFill>
            <a:srgbClr val="FF000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9499600" y="3657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10033000" y="3556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外部知识库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对接企业或全网知识源，补充模型训练数据盲区。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604000" y="5080000"/>
            <a:ext cx="508000" cy="508000"/>
          </a:xfrm>
          <a:prstGeom prst="ellipse">
            <a:avLst/>
          </a:prstGeom>
          <a:solidFill>
            <a:srgbClr val="7030A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6705600" y="5181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7239000" y="5080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工具调用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连接计算器、浏览器、API等，实现现实世界交互。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9398000" y="5080000"/>
            <a:ext cx="508000" cy="508000"/>
          </a:xfrm>
          <a:prstGeom prst="ellipse">
            <a:avLst/>
          </a:prstGeom>
          <a:solidFill>
            <a:srgbClr val="00206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9499600" y="51816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>
            <p:custDataLst>
              <p:tags r:id="rId25"/>
            </p:custDataLst>
          </p:nvPr>
        </p:nvSpPr>
        <p:spPr>
          <a:xfrm>
            <a:off x="10033000" y="5080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D21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自主执行闭环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无需频繁人工介入，形成感知-决策-行动的完整链条。</a:t>
            </a:r>
            <a:endParaRPr lang="en-US" sz="12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系统概述——本体 Ontology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6456045" y="1268730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核心定义：</a:t>
            </a:r>
            <a:endParaRPr lang="en-US" sz="1100"/>
          </a:p>
          <a:p>
            <a:pPr marL="0" indent="45720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本体是针对特定领域知识的结构化、形式化的语义抽象模型，把业务语义和执行细节分开。它是人工智能与知识图谱领域的“语义基石”。</a:t>
            </a:r>
            <a:endParaRPr lang="en-US" sz="14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17000"/>
              </a:lnSpc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438531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01｜结构化构成逻辑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Class（类）、Instance（实例）两大核心要素，构建实体间清晰的层级、关联与拓扑关系，让碎片化信息变成“可被理解”的知识网络。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5588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08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02｜语义的完整边界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不仅定义“是什么”（实体类型、属性特征、静态关联），同时明确“如何运作”（流程规则、交互动作、业务约束），实现对业务场景的全面语义映射。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90177">
            <a:off x="3746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2200275"/>
            <a:ext cx="5080000" cy="1228725"/>
          </a:xfrm>
          <a:prstGeom prst="roundRect">
            <a:avLst>
              <a:gd name="adj" fmla="val 0"/>
            </a:avLst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199640"/>
            <a:ext cx="76200" cy="122936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31000" y="1968500"/>
            <a:ext cx="457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底层 · 语义层 Semantic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架构的根基。完成领域内实体定义、属性梳理与关系建立，构建类结构。例如定义积木类型(Class)及属性：Feature(任务)、Spec(功能需求)、Plan(技术方案)、Task(实现步骤)。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3619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408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3619500"/>
            <a:ext cx="76200" cy="1460500"/>
          </a:xfrm>
          <a:prstGeom prst="roundRect">
            <a:avLst>
              <a:gd name="adj" fmla="val 0"/>
            </a:avLst>
          </a:prstGeom>
          <a:solidFill>
            <a:srgbClr val="408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3746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中层 · 动力层 Behavior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架构的行为逻辑。定义“如何运作”的业务流程与执行逻辑。例如：“先搭墙，再盖屋顶”“墙必须用方形砖”，赋予静态实体“行为能力”。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5207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520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533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顶层 · 动态层 Dynamic Layer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架构的智能表现。定义“如何决策”：规则触发、推理与行动执行。例如：决定搭什么、用哪些积木、按什么步骤搭，驱动业务场景闭环。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7345" y="1374140"/>
            <a:ext cx="5256530" cy="29514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35280" y="476250"/>
            <a:ext cx="762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系统概述——本体 Agent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762000" y="15748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让 OWL 本体从静态定义变成可执行的动态推理与校验能力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127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4384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956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 Agent 是将 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OWL 本体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、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与 </a:t>
            </a: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MCP 工具调用</a:t>
            </a: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结合的智能体。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它不直接操作数据，而是通过本体规则约束所有读写行为，实现语义级校验与隐含关系推导。</a:t>
            </a:r>
            <a:endParaRPr lang="en-US" sz="1400" b="0" i="0" u="none" strike="noStrike">
              <a:solidFill>
                <a:srgbClr val="38383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3688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三大核心能力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826000"/>
            <a:ext cx="25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7600" y="4826000"/>
            <a:ext cx="396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本体约束校验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17600" y="5105400"/>
            <a:ext cx="396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所有实例创建必须通过本体规则检查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486400"/>
            <a:ext cx="25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17600" y="5486400"/>
            <a:ext cx="3962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语义冲突检测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17600" y="5765800"/>
            <a:ext cx="396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自动发现函数属性违反、逻辑矛盾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6045200"/>
            <a:ext cx="25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17600" y="6045200"/>
            <a:ext cx="3962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隐含关系推导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17600" y="6324600"/>
            <a:ext cx="3962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基于传递性公理自动计算推导边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88000" y="24384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工作流程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5880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 / AI 请求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5880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创建/查询制品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07393">
            <a:off x="7213699" y="3549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7216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7216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MCP 工具层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216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 Agent 入口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7393">
            <a:off x="9347299" y="3549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7" name="AutoShape 27"/>
          <p:cNvSpPr/>
          <p:nvPr/>
        </p:nvSpPr>
        <p:spPr>
          <a:xfrm>
            <a:off x="9855200" y="31496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855200" y="3251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本体校验层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55200" y="3556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validate_instance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292605">
            <a:off x="10414000" y="42609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1" name="AutoShape 31"/>
          <p:cNvSpPr/>
          <p:nvPr/>
        </p:nvSpPr>
        <p:spPr>
          <a:xfrm>
            <a:off x="98552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8552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8552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语义推理 / 冲突检测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10692605">
            <a:off x="9448701" y="49720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5" name="AutoShape 35"/>
          <p:cNvSpPr/>
          <p:nvPr/>
        </p:nvSpPr>
        <p:spPr>
          <a:xfrm>
            <a:off x="77216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7216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OWL 本体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7216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TBox 公理 / 类定义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10692605">
            <a:off x="7315101" y="49720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9" name="AutoShape 39"/>
          <p:cNvSpPr/>
          <p:nvPr/>
        </p:nvSpPr>
        <p:spPr>
          <a:xfrm>
            <a:off x="5588000" y="4572000"/>
            <a:ext cx="1524000" cy="812800"/>
          </a:xfrm>
          <a:prstGeom prst="roundRect">
            <a:avLst>
              <a:gd name="adj" fmla="val 9375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558800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结果输出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588000" y="497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8D2F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 / 冲突 / 推导边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588000" y="57912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关键区别：</a:t>
            </a: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普通 Agent 直接读写数据库，本体 Agent 必须经过本体校验与推理层，确保所有操作符合领域规则，从根本上抑制 AI 幻觉。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4092">
            <a:off x="762004" y="6623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6C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</a:t>
            </a: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本体驱动智能体核心架构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语义锚定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全程围绕高内聚的业务本体 Instance 进行感知、推理与决策。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屏蔽工具差异：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不直接接触任何底层接口，只理解业务语义本身，确保业务逻辑不随工具变化而漂移。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826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业务视角唯一真相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所有智能行为的判断基准统一指向本体定义，消除跨工具交互的语义歧义。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9889">
            <a:off x="1270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683000" y="15240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0" y="1651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01｜AI Agent 交互层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相当于‘员工层’，负责具体干活（执行任务、生成内容），只和‘管理层’（本体）沟通。</a:t>
            </a:r>
            <a:endParaRPr lang="en-US" sz="11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42000" y="2794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683000" y="32385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810000" y="33655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02｜Ontology 本体核心层（中枢）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相当于‘管理层’，没收了Agent直接使用工具的权力，所有工具调用必须经过本体的规则审批（硬编码约束）。</a:t>
            </a:r>
            <a:endParaRPr lang="en-US" sz="11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42000" y="4699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683000" y="5143500"/>
            <a:ext cx="4572000" cy="9525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12700" cap="flat" cmpd="sng">
            <a:solidFill>
              <a:srgbClr val="1E40A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10000" y="5270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03｜工具抽象与映射层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通过MCP协议统一接口，所有工具对外只暴露list_tools()和call_tool()两个接口，实现工具可替换。</a:t>
            </a:r>
            <a:endParaRPr lang="en-US" sz="11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6350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763000" y="152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动态适配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2159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底层技术栈通过映射层与上层智能体完全隔离。新增或替换工具只需关注映射规则更新。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敏捷迭代基础：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业务逻辑与执行工具彻底解耦，支持技术选型随业务发展灵活切换。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763000" y="482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渐进式资源披露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优先获取摘要级语义，复杂工具详情按需加载，有效节约上下文开销。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4135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6413500"/>
            <a:ext cx="1168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架构总结：该分层架构在保证 Agent 专注于高价值业务逻辑的同时，赋予了系统技术弹性，兼顾了语义的一致性与工程落地的灵活性。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</a:t>
            </a:r>
            <a:r>
              <a:rPr lang="en-US" sz="2800">
                <a:solidFill>
                  <a:srgbClr val="FFFFFF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r>
              <a:rPr lang="zh-CN" altLang="en-US" sz="2800">
                <a:solidFill>
                  <a:srgbClr val="FFFFFF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系统架构分层</a:t>
            </a:r>
            <a:endParaRPr lang="zh-CN" altLang="en-US" sz="2800">
              <a:solidFill>
                <a:srgbClr val="FFFFFF"/>
              </a:solidFill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941705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这是一个本体驱动（Ontology-Driven）的AI软件工程平台，主要思想是：用知识图谱（本体）表达软件工程全生命周期，用AI自动生成需求→方案→任务，用推理机做语义校验。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78660"/>
            <a:ext cx="10668000" cy="1781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整体架构分层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：FastAPI REST、MCP Tool (LLM/AI Agent)、内部函数调用；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：workflows.py 业务流水线、reasoning.py 语义推理校验、ontology_service.py 图谱 CRUD；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领域层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：constants.py 枚举、schemas.py Pydantic DTO、ontology.py OWL 本体 TBox 定义；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基础设施层：</a:t>
            </a:r>
            <a:r>
              <a:rPr lang="en-US" sz="1500" b="0" i="0" u="none" strike="noStrike">
                <a:solidFill>
                  <a:srgbClr val="00000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ORM (PostgreSQL)、Neo4j 图数据库、AI Provider、模拟外部集成 (Jenkins / 日志)</a:t>
            </a:r>
            <a:endParaRPr lang="en-US" sz="1500" b="0" i="0" u="none" strike="noStrike">
              <a:solidFill>
                <a:srgbClr val="000000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11300" y="3759835"/>
            <a:ext cx="8733155" cy="2935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917575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 领域本体词典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9135" y="1222375"/>
            <a:ext cx="6350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StrEnum 的强类型定义（早期原型）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570980" y="20758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104380" y="2266315"/>
            <a:ext cx="139827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保障类型安全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61480" y="2892425"/>
            <a:ext cx="2349500" cy="6438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利用其约束特性，在编码阶段提供可选值的提示，并在编译期完成合法性的校验。从源头避免拼写错误和无效值的传入。</a:t>
            </a:r>
            <a:endParaRPr lang="en-US" sz="1100"/>
          </a:p>
          <a:p>
            <a:pPr algn="l">
              <a:lnSpc>
                <a:spcPct val="108000"/>
              </a:lnSpc>
            </a:pPr>
          </a:p>
        </p:txBody>
      </p:sp>
      <p:sp>
        <p:nvSpPr>
          <p:cNvPr id="10" name="AutoShape 10"/>
          <p:cNvSpPr/>
          <p:nvPr/>
        </p:nvSpPr>
        <p:spPr>
          <a:xfrm>
            <a:off x="9364980" y="20758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898380" y="2266315"/>
            <a:ext cx="13487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全局语义统一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55480" y="2673350"/>
            <a:ext cx="2349500" cy="8629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建立统一的“概念词典”，在一处定义、随处引用，消除“同物异名”带来的理解偏差和沟通成本。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70980" y="37903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04380" y="3980815"/>
            <a:ext cx="149733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概念与实现解耦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61480" y="4425315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领域定义只关注“是什么”，不涉及具体技术实现方式，这样更能够保持清晰，也更容易在长期迭代中维持稳定。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64980" y="3790315"/>
            <a:ext cx="266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898380" y="3980815"/>
            <a:ext cx="134937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快速扩展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55480" y="4425315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系统概念的扩展通过枚举追加字段就可以完成，不涉及既有逻辑的修改，便于在开发中快速响应需求变化能力较好。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t="12778"/>
          <a:stretch>
            <a:fillRect/>
          </a:stretch>
        </p:blipFill>
        <p:spPr>
          <a:xfrm>
            <a:off x="167640" y="2166620"/>
            <a:ext cx="2952750" cy="34893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107315" y="1706245"/>
            <a:ext cx="3436620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定义图谱节点类型 (实体本体)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57880" y="1714500"/>
            <a:ext cx="3345180" cy="58356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定义图谱关系类型 (语义连接)</a:t>
            </a:r>
            <a:br>
              <a:rPr lang="en-US" sz="1600" b="0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57880" y="2475865"/>
            <a:ext cx="2990850" cy="24193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 核心数据模型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48995" y="1238250"/>
          <a:ext cx="10759440" cy="21907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86480"/>
                <a:gridCol w="3586480"/>
                <a:gridCol w="3586480"/>
              </a:tblGrid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表名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作用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关键字段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96E6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ontology_classes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概念类型定义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name, description, schema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ontology_instances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具体节点/实例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class_id, title, status, properties, created_at, updated_at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65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ontology_relations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节点间关系边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id, source_id, target_id, type, properties, created_at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2720" y="3464560"/>
            <a:ext cx="5837555" cy="203136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90945" y="3424555"/>
            <a:ext cx="5600700" cy="34334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2720" y="5531485"/>
            <a:ext cx="5923915" cy="13265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906000" cy="9144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400000">
            <a:off x="9906000" y="0"/>
            <a:ext cx="762000" cy="914400"/>
          </a:xfrm>
          <a:prstGeom prst="triangle">
            <a:avLst/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0" y="0"/>
            <a:ext cx="1524000" cy="914400"/>
          </a:xfrm>
          <a:prstGeom prst="roundRect">
            <a:avLst>
              <a:gd name="adj" fmla="val 0"/>
            </a:avLst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03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系统概述——完整业务流程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117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本体实体关系全景图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48" b="48"/>
          <a:stretch>
            <a:fillRect/>
          </a:stretch>
        </p:blipFill>
        <p:spPr>
          <a:xfrm>
            <a:off x="254000" y="1473200"/>
            <a:ext cx="6604000" cy="515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112000" y="1117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核心业务链路（从需求到任务）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5748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112000" y="16256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45400" y="1574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项目容器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45400" y="1879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顶层容器，包含所有业务需求（CONTAINS）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09210">
            <a:off x="7200900" y="21401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7112000" y="23114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112000" y="2362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45400" y="2311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 业务需求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45400" y="26162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具体功能需求，AI 自动派生规格文档（DERIVES_TO）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209210">
            <a:off x="7200900" y="28767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7112000" y="30480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12000" y="30988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45400" y="304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SPEC 需求规格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45400" y="3352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包含用户故事（HAS_STORY）、验收标准（HAS_ACCEPTANCE）、澄清问题（CONTAINS）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>
            <a:off x="7311149" y="3524592"/>
            <a:ext cx="4051" cy="56516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7112000" y="4140200"/>
            <a:ext cx="406400" cy="406400"/>
          </a:xfrm>
          <a:prstGeom prst="ellipse">
            <a:avLst/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112000" y="41910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45400" y="41402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 实施方案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45400" y="4445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规格派生执行计划，拆分为具体开发任务（HAS_PLAN）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209210">
            <a:off x="7200900" y="4705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9" name="AutoShape 29"/>
          <p:cNvSpPr/>
          <p:nvPr/>
        </p:nvSpPr>
        <p:spPr>
          <a:xfrm>
            <a:off x="7112000" y="4876800"/>
            <a:ext cx="406400" cy="406400"/>
          </a:xfrm>
          <a:prstGeom prst="ellipse">
            <a:avLst/>
          </a:prstGeom>
          <a:solidFill>
            <a:srgbClr val="B89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112000" y="49276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45400" y="4876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开发任务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45400" y="5181600"/>
            <a:ext cx="431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按领域分类：frontend/backend/api/infrastructure/application/domain（HAS_TASK）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112000" y="58674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315200" y="5969000"/>
            <a:ext cx="4419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005BA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核心思想：</a:t>
            </a:r>
            <a:r>
              <a:rPr lang="en-US" sz="11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从项目到需求、规格、计划再到任务，形成完整的 AI 自动生成流水线；所有实体通过本体关系连接，支持语义推理与一致性校验。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554545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PART2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LLM—— Feature → Spec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0904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BD5E0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310005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本体工程业务函数，输入一个 Feature (功能需求) ID，调用大模型 AI，自动生成完整 Spec 需求规格本体，同时生成用户故事、验收标准、澄清问题，全部写入本体数据库，最后返回结构化 DTO 给 FastAPI 接口。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465" y="2042795"/>
            <a:ext cx="11862435" cy="11334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1945" y="3336925"/>
            <a:ext cx="5058410" cy="28848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r="25385"/>
          <a:stretch>
            <a:fillRect/>
          </a:stretch>
        </p:blipFill>
        <p:spPr>
          <a:xfrm>
            <a:off x="5554345" y="3392805"/>
            <a:ext cx="6410325" cy="28289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LLM—— Feature → Spec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29225" y="1184910"/>
            <a:ext cx="5314950" cy="26289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24475" y="3907790"/>
            <a:ext cx="5124450" cy="2228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330325"/>
            <a:ext cx="5208905" cy="46951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191135" y="6363335"/>
            <a:ext cx="590296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根据feature_id找出原始Feature，并让ai生成对应的用户故事，澄清问题，验收标准关联到spec。并且把feature spec挂上关系derives_to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448627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PART3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Reasoner推理与检查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</a:t>
            </a: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与检查--一致性检查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41415" y="1150620"/>
            <a:ext cx="5138420" cy="56635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4310" y="1595755"/>
            <a:ext cx="5963920" cy="39516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470525" y="5295900"/>
            <a:ext cx="687705" cy="25146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拓扑完整性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654175"/>
            <a:ext cx="12256135" cy="14014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1033780" y="3505200"/>
            <a:ext cx="10512425" cy="2699385"/>
          </a:xfrm>
          <a:prstGeom prst="rect">
            <a:avLst/>
          </a:prstGeom>
          <a:solidFill>
            <a:srgbClr val="F2F2F2">
              <a:alpha val="60000"/>
            </a:srgbClr>
          </a:solidFill>
          <a:ln w="12700" cmpd="sng">
            <a:solidFill>
              <a:srgbClr val="BFBFBF">
                <a:alpha val="100000"/>
              </a:srgbClr>
            </a:solidFill>
            <a:prstDash val="solid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run_checklist() 函数以传入的 root_id 查询到的本体实例为起点，一次性加载全部关系边到内存，然后根据根节点类型执行不同的检查逻辑：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若根节点为 FEATURE，则通过嵌套遍历关系表，逐层检查 Feature → Spec → Plan → Task 业务链路是否完整，并记录每层是否存在；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若根节点为其他类型，则只做标题和属性是否为空的通用检查。最后汇总所有检查项的通过/失败状态，在本体库中创建 CHECKLIST、REFLECTION 和 EXECUTION_LOG 三个报告节点，通过 HAS_CHECKLIST、HAS_REFLECTION、CONTAINS 关系挂载到根实例下，并返回 DTO 供前端展示。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endParaRPr sz="1800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74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拓扑完整性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650" y="1202690"/>
            <a:ext cx="5520055" cy="54324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628140"/>
            <a:ext cx="5769610" cy="45485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Reasoner推理与检查—— 语义推理</a:t>
            </a:r>
            <a:endParaRPr lang="en-US" sz="280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5715" y="1240155"/>
            <a:ext cx="5702300" cy="5473700"/>
          </a:xfrm>
          <a:prstGeom prst="roundRect">
            <a:avLst>
              <a:gd name="adj" fmla="val 0"/>
            </a:avLst>
          </a:prstGeom>
          <a:solidFill>
            <a:srgbClr val="F2F2F2">
              <a:alpha val="6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`asserted_pairs` 把 ABox 人工关系存一份快照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在独立沙箱把 TBox+ABox 一起喂给 Pellet 推理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Pellet 根据 TBox 里定义的传递属性，推导出新的 ABox 关系（隐式边）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过滤提取推理得到的实例关系：仅保留传递属性产生的推导边，过滤本体公理、自环关系与原始人工断言；完成 OWL 个体到业务数据库 ID 的双向映射，得到纯净的实例间推导关系集合。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物化推导边：`compute_inferred_edges`向外输出推导边列表；上层业务开启`persist_inferred`时，将推导关系持久化存储，并标记`inferred=True`，以此区分人工录入关系与推理生成关系。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统计信息，组装返回推理结果结构体：上层汇总推导关系集合；结合一致性校验得到的诊断信息统计错误、警告数量，封装推理摘要、推导边、诊断报告，构造结果对象对外提供服务。</a:t>
            </a:r>
            <a:endParaRPr lang="en-US" sz="14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1460" y="1133475"/>
            <a:ext cx="4920615" cy="57105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83655" y="4352290"/>
            <a:ext cx="2786380" cy="23615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" y="456565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Reasoner——推理机</a:t>
            </a:r>
            <a:r>
              <a:rPr lang="zh-CN" alt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推导</a:t>
            </a:r>
            <a:r>
              <a:rPr lang="zh-CN" alt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</a:t>
            </a:r>
            <a:endParaRPr lang="zh-CN" alt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168400"/>
            <a:ext cx="1092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Pellet 推理机</a:t>
            </a:r>
            <a:r>
              <a:rPr lang="zh-CN" alt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根据已经</a:t>
            </a:r>
            <a:r>
              <a:rPr lang="en-US" sz="1400" b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给它规则手册和已知线索，自动推导出隐藏的真相。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61110" y="1727200"/>
            <a:ext cx="2540000" cy="4318000"/>
          </a:xfrm>
          <a:prstGeom prst="roundRect">
            <a:avLst>
              <a:gd name="adj" fmla="val 400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61110" y="1879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输入：已知线索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15110" y="23876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5B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515110" y="2489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TBox 规则手册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16710" y="28194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BLOCKED_BY 是传递的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DERIVES_TO 只能一对一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15110" y="36068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515110" y="370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ABox 已知事实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16710" y="40386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 阻塞 B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 阻塞 C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1835">
            <a:off x="3902786" y="3879850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5B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4563110" y="2286000"/>
            <a:ext cx="2286000" cy="320040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005BAC">
                  <a:alpha val="100000"/>
                </a:srgbClr>
              </a:gs>
              <a:gs pos="100000">
                <a:srgbClr val="003C7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198110" y="2540000"/>
            <a:ext cx="1016000" cy="101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25400" cap="flat" cmpd="sng">
            <a:solidFill>
              <a:srgbClr val="FF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452110" y="2794000"/>
            <a:ext cx="508000" cy="508000"/>
          </a:xfrm>
          <a:prstGeom prst="ellipse">
            <a:avLst/>
          </a:prstGeom>
          <a:solidFill>
            <a:srgbClr val="B89A5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563110" y="37592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Pellet 推理机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90110" y="42164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逻辑侦探</a:t>
            </a:r>
            <a:b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C8DCF5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对照规则推导隐藏真相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63110" y="4978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C8E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在独立沙箱中运行，不污染原数据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1835">
            <a:off x="6950786" y="3879850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611110" y="1727200"/>
            <a:ext cx="2540000" cy="4318000"/>
          </a:xfrm>
          <a:prstGeom prst="roundRect">
            <a:avLst>
              <a:gd name="adj" fmla="val 4000"/>
            </a:avLst>
          </a:prstGeom>
          <a:solidFill>
            <a:srgbClr val="B89A5A">
              <a:alpha val="8000"/>
            </a:srgbClr>
          </a:solidFill>
          <a:ln w="12700" cap="flat" cmpd="sng">
            <a:solidFill>
              <a:srgbClr val="B89A5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11110" y="1879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输出：发现真相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865110" y="23876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B89A5A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865110" y="24892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新推导边（虚线）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66710" y="28194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 也阻塞 C！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（传递性自动推导）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865110" y="3606800"/>
            <a:ext cx="2032000" cy="1016000"/>
          </a:xfrm>
          <a:prstGeom prst="roundRect">
            <a:avLst>
              <a:gd name="adj" fmla="val 7500"/>
            </a:avLst>
          </a:prstGeom>
          <a:solidFill>
            <a:srgbClr val="C83C3C">
              <a:alpha val="8000"/>
            </a:srgbClr>
          </a:solidFill>
          <a:ln w="25400" cap="flat" cmpd="sng">
            <a:solidFill>
              <a:srgbClr val="C8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865110" y="370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冲突检测（报错）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966710" y="4038600"/>
            <a:ext cx="182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 Feature 派生了两个 Spec</a:t>
            </a:r>
            <a:b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违反 FunctionalProperty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8000" y="62484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005BA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11200" y="63500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BA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关键区别：</a:t>
            </a:r>
            <a:r>
              <a:rPr 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普通程序只知道写进去的关系；推理机能根据规则</a:t>
            </a:r>
            <a:r>
              <a:rPr lang="zh-CN" alt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推导演算</a:t>
            </a:r>
            <a:r>
              <a:rPr lang="en-US" sz="1300" b="0" i="0" u="none" strike="noStrike">
                <a:solidFill>
                  <a:srgbClr val="32323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，自动发现没写的隐藏关系和矛盾。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169" hasCustomPrompt="1"/>
          </p:nvPr>
        </p:nvSpPr>
        <p:spPr>
          <a:xfrm>
            <a:off x="6381750" y="1924050"/>
            <a:ext cx="4486275" cy="117157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1" i="0" u="none" strike="noStrike" spc="70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PART4</a:t>
            </a:r>
            <a:b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4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MCP</a:t>
            </a:r>
            <a:endParaRPr lang="en-US" sz="324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83515" y="1232535"/>
            <a:ext cx="11884660" cy="6451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▍MCP（Model Context Protocol）定义大模型与外部服务交互的标准化消息规范。大模型不直接访问、修改知识图谱，仅依靠收到现有的 MCP 规范指令；经由 MCP 代理层完成参数与权限校验后，代理访问本体图谱。通过强制模型查询权威数据源，抑制大模型事实幻觉，规避 LLM 随意篡改图谱数据的风险。</a:t>
            </a:r>
            <a:endParaRPr lang="en-US" sz="1100"/>
          </a:p>
          <a:p>
            <a:pPr algn="l">
              <a:lnSpc>
                <a:spcPct val="100000"/>
              </a:lnSpc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443480" y="2159000"/>
          <a:ext cx="7038340" cy="427672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a:tblPr>
              <a:tblGrid>
                <a:gridCol w="1341120"/>
                <a:gridCol w="2470150"/>
                <a:gridCol w="3227070"/>
              </a:tblGrid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传统方式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 方式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核心区别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只能"说"不能"做"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通过 MCP 下发受控指令，由代理服务执行操作，约束模型幻觉，防止随意篡改图谱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用户提问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"帮我检查一下这个功能有什么问题"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"帮我检查一下这个功能有什么问题"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7143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响应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建议你登录系统，点击XX按钮，查看YY页面...</a:t>
                      </a:r>
                      <a:endParaRPr lang="en-US" sz="1100"/>
                    </a:p>
                  </a:txBody>
                  <a:tcPr marL="152717" marR="152717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好的，发起图谱检查请求</a:t>
                      </a:r>
                      <a:endParaRPr lang="en-US" sz="1100"/>
                    </a:p>
                  </a:txBody>
                  <a:tcPr marL="152717" marR="0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9429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后续动作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无，对话结束</a:t>
                      </a:r>
                      <a:endParaRPr lang="en-US" sz="1100"/>
                    </a:p>
                  </a:txBody>
                  <a:tcPr marL="152717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 MCP 标准化调用报文 → MCP 代理校验参数后调用`query_graph('feature_123')` → 返回子图，发现 Plan 下缺少 Task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最终结果</a:t>
                      </a:r>
                      <a:endParaRPr lang="en-US" sz="1100"/>
                    </a:p>
                  </a:txBody>
                  <a:tcPr marL="0" marR="152717" marT="95567" marB="95567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️ 只能给出建议，无法直接操作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依托真实图谱数据完成检查，定位具体问题（如 Plan 下缺少 Task 拆解），避免模型凭空编造结论</a:t>
                      </a:r>
                      <a:endParaRPr lang="en-US" sz="1100"/>
                    </a:p>
                  </a:txBody>
                  <a:tcPr marL="152717" marR="0" marT="0" marB="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4286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用户体验</a:t>
                      </a:r>
                      <a:endParaRPr lang="en-US" sz="1100"/>
                    </a:p>
                  </a:txBody>
                  <a:tcPr marL="0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需手动执行，耗时长</a:t>
                      </a:r>
                      <a:endParaRPr lang="en-US" sz="1100"/>
                    </a:p>
                  </a:txBody>
                  <a:tcPr marL="152717" marR="152717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ts val="1875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F111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一键完成，即时反馈</a:t>
                      </a:r>
                      <a:endParaRPr lang="en-US" sz="1100"/>
                    </a:p>
                  </a:txBody>
                  <a:tcPr marL="152717" marR="0" marT="82550" marB="82550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72700" y="501650"/>
            <a:ext cx="1905000" cy="504825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25088" y="541338"/>
            <a:ext cx="1800225" cy="409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ph type="body" sz="quarter" idx="4294967295" hasCustomPrompt="1"/>
          </p:nvPr>
        </p:nvSpPr>
        <p:spPr>
          <a:xfrm>
            <a:off x="608330" y="384175"/>
            <a:ext cx="8873490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240" b="1" i="0" u="none" strike="noStrike" spc="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240" b="1" i="0" u="none" strike="noStrike" spc="3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MCP</a:t>
            </a:r>
            <a:endParaRPr lang="en-US" sz="3240" b="1" i="0" u="none" strike="noStrike" spc="3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01｜发起端：AI Agent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228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大模型推理 + Agent Host 运行环境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职责：基于用户意图拆解任务，自主决定调用何种工具完成目标。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8000" y="3937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89000" y="3911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输出“统一调用指令”，无需区分后端差异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4699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仅面向 MCP 协议编程，完全感知不到背后复杂的外部系统。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8540">
            <a:off x="2286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445000" y="152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02｜核心：MCP 协议层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2159000"/>
            <a:ext cx="3302000" cy="1651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572000" y="23495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· 模型上下文协议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被誉为</a:t>
            </a: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「AI 世界的 USB-C」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，建立跨平台工具调用标准。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45000" y="4191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4699000" y="4127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将语义请求转化为“标准化接口适配”，通过 list_tools() 查询可用工具，call_tool() 调用工具。发起 HTTP POST 请求，调用 Jenkins 真实构建 API，把 AI 通用标准语言，翻译成 Jenkins 能看懂的专属接口语言。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4953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向上提供统一调用入口，向下封装异构服务，实现“一次定义，随处可用”。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8540">
            <a:off x="6096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508000" y="5651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" y="57785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映射链路：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本体语义层 (Class/Instance 操作) ➔ MCP 协议标准工具调用 ➔ 适配并驱动外部异构系统 API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t="5000" b="5000"/>
          <a:stretch>
            <a:fillRect/>
          </a:stretch>
        </p:blipFill>
        <p:spPr>
          <a:xfrm>
            <a:off x="8099425" y="1143000"/>
            <a:ext cx="3909060" cy="219900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242300" y="4127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 Agent不会写 Jenkins 接口地址、不会拼 Jenkins 专属请求参数。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只操作本体里的JenkinsJob语义实例，告诉系统：「我要对这个 Job 执行构建」。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系统会把这个语义需求，封装成标准化参数，调用 MCP 统一函数 call_tool(tool_name="trigger_jenkins_build", args={本体实例ID、分支、环境})。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3C78">
                  <a:alpha val="100000"/>
                </a:srgbClr>
              </a:gs>
              <a:gs pos="100000">
                <a:srgbClr val="006DB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2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 spc="200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Architecture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22860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000" b="1" i="0" u="none" strike="noStrike" spc="3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000" b="1" i="0" u="none" strike="noStrike" spc="3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en-US" sz="4000" b="1" i="0" u="none" strike="noStrike" spc="300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731000" y="4445000"/>
            <a:ext cx="762000" cy="381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31000" y="4635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本体真相源 · 双存储 · 公理约束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统一校验 ·  Agent 安全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OWL本体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3335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项目核心理念：OWL 本体是定义系统语义规则的唯一真相源（Single Source of Truth），数据库只是本体实例的持久化载体。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905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19558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设计理念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540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避免业务逻辑中大量硬编码：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class_name == "Feature"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relation == "HAS_TASK"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if field_name == "priority"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规则集中管理，前后端和 MCP 都从同一套本体读取约束，规则变更只需修改一处定义。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75400" y="1905000"/>
            <a:ext cx="5207000" cy="381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75400" y="1905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78600" y="19558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实现方式（ontology.py）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78600" y="2540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统一描述系统语义：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OWL 类（Class）与层次结构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对象属性（ObjectProperty）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数据属性（DatatypeProperty）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公理（Functional / Transitive）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新增概念只需注册本体定义，无需到处改代码；所有入口共享同一套约束。</a:t>
            </a:r>
            <a:endParaRPr lang="en-US" sz="13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" y="5969000"/>
            <a:ext cx="109728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09600" y="6096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核心收益：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规则集中管理 · 多入口统一约束 · 新增类只需注册本体定义 · 消除硬编码分支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Reasoner 统一校验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桥接 OWL 开放世界假设与业务闭世界校验：所有写入入口统一走 reasoner.validate_instance，消除校验规则分散漏洞。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841500"/>
            <a:ext cx="1524000" cy="5588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9431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写入请求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/ MCP / 工作流</a:t>
            </a:r>
            <a:endParaRPr lang="en-US" sz="1000" b="1" i="0" u="none" strike="noStrike">
              <a:solidFill>
                <a:srgbClr val="C8DC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7393">
            <a:off x="21336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2540000" y="1841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540000" y="1968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validate_instance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07393">
            <a:off x="41910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45974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974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字段存在性检查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7393">
            <a:off x="59944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64008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008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必填 / 空值检查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393">
            <a:off x="77978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8204200" y="1841500"/>
            <a:ext cx="13970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04200" y="19939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 / 枚举检查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7393">
            <a:off x="9601299" y="2114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0" name="AutoShape 20"/>
          <p:cNvSpPr/>
          <p:nvPr/>
        </p:nvSpPr>
        <p:spPr>
          <a:xfrm>
            <a:off x="10007600" y="1841500"/>
            <a:ext cx="1574800" cy="5588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007600" y="1993900"/>
            <a:ext cx="1574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→ 入库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40000" y="2667000"/>
            <a:ext cx="71120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2540000" y="2768600"/>
            <a:ext cx="711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任一检查失败 → 抛出 HTTPException 422，拒绝写入，返回具体字段错误信息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" y="33020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2800" y="3454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为什么需要桥接层？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" y="3860800"/>
            <a:ext cx="4826000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OWL 开放世界假设：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未声明的信息 ≠ 信息不存在，推理机不会因字段缺失而报错。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业务闭世界需求：</a:t>
            </a:r>
            <a:endParaRPr lang="en-US" sz="1200" b="1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创建实例时 title 缺失必须直接拒绝，不能等推理后才发现。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reasoner.py 在写入前做闭世界校验，OWL 推理在写入后做开放世界推导。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75400" y="33020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578600" y="3454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统一校验入口的价值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78600" y="3860800"/>
            <a:ext cx="4826000" cy="185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REST API 写入 → 走 validate_instance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MCP Agent 调用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工作流自动生成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种子数据初始化 → 走 validate_instance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所有入口共享同一套本体约束，不存在"某个入口绕过规则"的漏洞。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09600" y="60960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关键文件：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backend/app/domain/reasoner.py · validate_instance(class_name, properties) → ValidationResult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OWL 公理增强与语义约束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项目为对象属性、数据属性和枚举值增加 OWL 公理，使本体具备可推理的语义约束，Pellet 推理机可自动推导隐含关系。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1778000"/>
          <a:ext cx="109728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032000"/>
                <a:gridCol w="66548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公理类型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应用对象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语义含义与业务价值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B8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FunctionalProperty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DERIVES_TO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一个 Feature 最多派生一个 Spec；推理时可检测重复派生冲突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TransitiveProperty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BLOCKED_BY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阻塞关系具备传递性；A 阻塞 B、B 阻塞 C → 推理出 A 间接阻塞 C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AllDifferent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枚举个体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low / medium / high / critical 作为 PriorityValue 个体，互斥约束保证枚举合法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3A5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DatatypeProperty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类字段约束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 _constrain_fields 挂载必填/可选/类型/枚举，如 Feature.required = [title]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4572000"/>
            <a:ext cx="109728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4724400"/>
            <a:ext cx="1056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公理设计的工程价值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5080000"/>
            <a:ext cx="10566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公理写入 ontology.py，Pellet 推理机可自动推导隐含关系（如传递阻塞），并检测违反约束的非法实例。枚举不再是字符串列表，而是 OWL 个体，用 AllDifferent 约束互斥，更符合语义学模型。字段约束通过 DatatypeProperty 挂载到类上，可从本体反推每个类的合法字段集合。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61976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关键文件：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backend/app/domain/ontology.py（本体定义）· backend/app/domain/reasoner.py（校验与推理）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SQL + Neo4j 双存储架构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项目采用 Neo4j 作为知识图谱持久存储，与 PostgreSQL 形成双存储互补，支持高效图查询与推理边持久化。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1778000"/>
            <a:ext cx="2540000" cy="7112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12700" cap="flat" cmpd="sng">
            <a:solidFill>
              <a:srgbClr val="00508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826000" y="18542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 Layer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000" b="1" i="0" u="none" strike="noStrike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ontology_service / workflows</a:t>
            </a:r>
            <a:endParaRPr lang="en-US" sz="1000" b="1" i="0" u="none" strike="noStrike">
              <a:solidFill>
                <a:srgbClr val="C8DC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10135514">
            <a:off x="2513502" y="2762253"/>
            <a:ext cx="297397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8" name="Connector 8"/>
          <p:cNvCxnSpPr/>
          <p:nvPr/>
        </p:nvCxnSpPr>
        <p:spPr>
          <a:xfrm rot="635124">
            <a:off x="6704528" y="2762253"/>
            <a:ext cx="297397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3048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17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PostgreSQL（事务主存）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19200" y="3581400"/>
            <a:ext cx="266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ontology_classes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ontology_instances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ontology_relations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approval_mappings（新增）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ACID 事务保证 · 结构化查询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3048000"/>
            <a:ext cx="3048000" cy="1651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317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Neo4j（图谱存储）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31200" y="3581400"/>
            <a:ext cx="2667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实例节点（Node）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关系边（Relationship）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推导边（inferred，虚线）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局部子图 BFS 扩展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Cypher 图查询 · 可视化拓扑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0742">
            <a:off x="4064010" y="3867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39B77">
                <a:alpha val="100000"/>
              </a:srgbClr>
            </a:solidFill>
            <a:prstDash val="dash"/>
            <a:round/>
            <a:headEnd type="arrow" w="med" len="med"/>
            <a:tailEnd type="arrow" w="med" len="med"/>
          </a:ln>
        </p:spPr>
      </p:cxnSp>
      <p:sp>
        <p:nvSpPr>
          <p:cNvPr id="16" name="AutoShape 16"/>
          <p:cNvSpPr/>
          <p:nvPr/>
        </p:nvSpPr>
        <p:spPr>
          <a:xfrm>
            <a:off x="4699000" y="3632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39B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双写同步（graph_db.py）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5080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127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683000" y="5181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查询路径：get_graph() 优先读 Neo4j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Neo4j 不可用时自动降级 → 从 SQL 加载关系并内存构建图谱</a:t>
            </a:r>
            <a:endParaRPr lang="en-US" sz="1100" b="0" i="0" u="none" strike="noStrike">
              <a:solidFill>
                <a:srgbClr val="78350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" y="60325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取舍：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保证事务一致性，Neo4j 提供高性能图查询与推导边持久化；代价是需维护双库同步一致性。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996378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MCP 安全增强：Agent 受控调用</a:t>
            </a:r>
            <a:endParaRPr lang="en-US" sz="28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项目明确 MCP 工具受本体校验保护：Agent 调用创建实例、建立关系等写操作时，必须经过 reasoner 校验，不能绕过本体规则。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778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12800" y="182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336800"/>
            <a:ext cx="48260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所有写操作走 reasoner.validate_instance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不可绕过规则创建非法实例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校验失败返回结构化错误信息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可根据错误修正后重试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endParaRPr sz="14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006D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核心思想：AI 生成内容，本体限制合法性</a:t>
            </a:r>
            <a:endParaRPr lang="en-US" sz="1200" b="1" i="0" u="none" strike="noStrike">
              <a:solidFill>
                <a:srgbClr val="006D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754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75400" y="1778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78600" y="182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工具清单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78600" y="2336800"/>
            <a:ext cx="48260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读操作：search_ontology · describe_class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query_graph · export_owl · search_logs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写操作（受校验保护）：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create_instance · relate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run_reasoning · run_semantic_check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E3A5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trigger_jenkins · send_feishu_message</a:t>
            </a:r>
            <a:endParaRPr lang="en-US" sz="1200" b="0" i="0" u="none" strike="noStrike">
              <a:solidFill>
                <a:srgbClr val="1E3A5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" y="4318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调用校验流程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4762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09600" y="488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Agent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393">
            <a:off x="22606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2667000" y="4762500"/>
            <a:ext cx="1778000" cy="5588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26670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create_instance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7393">
            <a:off x="44450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0" name="AutoShape 20"/>
          <p:cNvSpPr/>
          <p:nvPr/>
        </p:nvSpPr>
        <p:spPr>
          <a:xfrm>
            <a:off x="4851400" y="4762500"/>
            <a:ext cx="1778000" cy="5588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51400" y="4889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reasoner 校验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07393">
            <a:off x="6629499" y="50355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3" name="AutoShape 23"/>
          <p:cNvSpPr/>
          <p:nvPr/>
        </p:nvSpPr>
        <p:spPr>
          <a:xfrm>
            <a:off x="7035800" y="4762500"/>
            <a:ext cx="1651000" cy="558800"/>
          </a:xfrm>
          <a:prstGeom prst="roundRect">
            <a:avLst>
              <a:gd name="adj" fmla="val 0"/>
            </a:avLst>
          </a:prstGeom>
          <a:solidFill>
            <a:srgbClr val="DCFCE7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035800" y="488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→ 入库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04531">
            <a:off x="5511800" y="5543638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C2626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26" name="AutoShape 26"/>
          <p:cNvSpPr/>
          <p:nvPr/>
        </p:nvSpPr>
        <p:spPr>
          <a:xfrm>
            <a:off x="4699000" y="5778500"/>
            <a:ext cx="2082800" cy="457200"/>
          </a:xfrm>
          <a:prstGeom prst="roundRect">
            <a:avLst>
              <a:gd name="adj" fmla="val 0"/>
            </a:avLst>
          </a:prstGeom>
          <a:solidFill>
            <a:srgbClr val="FEE2E2">
              <a:alpha val="100000"/>
            </a:srgbClr>
          </a:solidFill>
          <a:ln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99000" y="5854700"/>
            <a:ext cx="208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 → 返回错误，Agent 修正重试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4762500"/>
            <a:ext cx="2438400" cy="14732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296400" y="4864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工程价值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96400" y="5168900"/>
            <a:ext cx="2159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解决"Agent 随意写脏数据"问题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生成内容受本体规则约束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系统能力可安全扩展到 Agent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校验入口统一，无规则绕过漏洞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4572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核心架构设计—— 项目技术总览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70000"/>
            <a:ext cx="1097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Ontology AI Coding MVP 围绕"本体驱动 AI 软件工程"构建，六大核心技术能力形成从需求到交付的完整闭环。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128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本体建模与语义约束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OWL 本体定义类、属性、公理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Functional / Transitive 公理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枚举个体 AllDifferent 约束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字段必填 / 类型 / 枚举校验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本体作为系统语义真相源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847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双存储与图谱查询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847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PostgreSQL 事务主存（ACID）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Neo4j 知识图谱持久存储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双写同步（graph_db.py）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推导边持久化（虚线）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Neo4j 故障自动降级回退 SQL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534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EF9C3">
              <a:alpha val="100000"/>
            </a:srgbClr>
          </a:solidFill>
          <a:ln w="25400" cap="flat" cmpd="sng">
            <a:solidFill>
              <a:srgbClr val="CA8A0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356600" y="1930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工作流编排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56600" y="2286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Feature → Spec → Plan → Task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AIProvider 抽象（规则 / LLM）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Pydantic 结构化输出校验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失败自动回退规则 Provider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生成结果全部本体化持久化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" y="393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" y="4089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OWL 推理与语义校验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" y="4445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Pellet 一致性推理（隔离 World）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reasoner.validate_instance 统一入口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开放世界 ↔ 闭世界桥接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拓扑完整性检查（Checklist）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语义诊断（error / warning）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94200" y="393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25400" cap="flat" cmpd="sng">
            <a:solidFill>
              <a:srgbClr val="0891B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97400" y="4089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E749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Agent 受控调用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97400" y="4445000"/>
            <a:ext cx="304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MCP 协议暴露本体工具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Agent 写操作必过本体校验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不可绕过规则创建非法实例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校验失败返回结构化错误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 生成内容，本体限制合法性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3412" y="276225"/>
            <a:ext cx="2376488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180138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335712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116388" y="6350000"/>
            <a:ext cx="3959225" cy="31591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81750" y="1924050"/>
            <a:ext cx="4486275" cy="11715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 spc="7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6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70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4400" b="1" i="0" u="none" strike="noStrike" spc="70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74650"/>
            <a:ext cx="12192000" cy="7588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406400"/>
            <a:ext cx="635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270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项目核心贡献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9107">
            <a:off x="635045" y="17208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635000" y="19812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92200" y="19812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本体驱动的系统架构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2200" y="2311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 OWL 本体作为系统语义唯一真相源，实现业务规则集中管理，消除硬编码与多入口校验不一致问题。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28956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92200" y="2895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双层语义校验机制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92200" y="32258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轻量字段预检 + Pellet 推理机深度语义校验，桥接 OWL 开放世界假设与业务闭世界必填约束。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38100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92200" y="3810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受控的 MCP 安全层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2200" y="41402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所有 Agent 写操作强制经过本体校验，AI 负责生成内容、本体限制合法性，从根本上抑制 AI 幻觉。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4724400"/>
            <a:ext cx="38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9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92200" y="4724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1E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+ Neo4j 双存储架构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" y="5054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PostgreSQL 保障事务一致性，Neo4j 承载图谱查询与推导边持久化，兼顾可靠性与图查询性能。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9889">
            <a:off x="3937000" y="3422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77000" y="1270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未来工作展望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9107">
            <a:off x="6477045" y="17208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89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" name="AutoShape 23"/>
          <p:cNvSpPr/>
          <p:nvPr/>
        </p:nvSpPr>
        <p:spPr>
          <a:xfrm>
            <a:off x="6477000" y="19812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80200" y="2082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推理引擎升级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80200" y="2387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支持增量推理与大规模本体，提升推理性能与实时性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9464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80200" y="3048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工具链扩展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80200" y="33528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丰富图谱操作工具，增强 Agent 对复杂工程场景的操作能力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9116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005BAC">
              <a:alpha val="6000"/>
            </a:srgbClr>
          </a:solidFill>
          <a:ln w="12700" cap="flat" cmpd="sng">
            <a:solidFill>
              <a:srgbClr val="005BA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80200" y="40132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B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 Agent 协作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80200" y="4318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引入需求分析、架构设计、测试等多角色 Agent 协同工作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4876800"/>
            <a:ext cx="5080000" cy="812800"/>
          </a:xfrm>
          <a:prstGeom prst="roundRect">
            <a:avLst>
              <a:gd name="adj" fmla="val 6250"/>
            </a:avLst>
          </a:prstGeom>
          <a:solidFill>
            <a:srgbClr val="B89A5A">
              <a:alpha val="8000"/>
            </a:srgbClr>
          </a:solidFill>
          <a:ln w="12700" cap="flat" cmpd="sng">
            <a:solidFill>
              <a:srgbClr val="B89A5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80200" y="49784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C6E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工程实践验证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80200" y="52832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在真实软件项目中验证系统有效性，持续优化本体模型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0" y="5969000"/>
            <a:ext cx="12192000" cy="889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BAC">
                  <a:alpha val="100000"/>
                </a:srgbClr>
              </a:gs>
              <a:gs pos="100000">
                <a:srgbClr val="0046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5000" y="6121400"/>
            <a:ext cx="1092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本项目验证了</a:t>
            </a:r>
            <a:r>
              <a:rPr lang="en-US" sz="1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本体驱动 + 知识图谱 + MCP Agent</a:t>
            </a: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架构在软件工程领域的可行性，为 AI 辅助软件工程提供了一套可扩展、可校验、可推理的原型方案。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3413" y="276225"/>
            <a:ext cx="2376487" cy="54768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 rot="5400000">
            <a:off x="10383480" y="5049028"/>
            <a:ext cx="1855521" cy="1761380"/>
          </a:xfrm>
          <a:custGeom>
            <a:avLst/>
            <a:gdLst/>
            <a:ahLst/>
            <a:cxnLst/>
            <a:rect l="l" t="t" r="r" b="b"/>
            <a:pathLst>
              <a:path w="1855521" h="1761380">
                <a:moveTo>
                  <a:pt x="0" y="0"/>
                </a:moveTo>
                <a:lnTo>
                  <a:pt x="1855521" y="0"/>
                </a:lnTo>
                <a:lnTo>
                  <a:pt x="1855521" y="1761380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 rot="5400000">
            <a:off x="8470050" y="3140812"/>
            <a:ext cx="3797170" cy="3649905"/>
          </a:xfrm>
          <a:custGeom>
            <a:avLst/>
            <a:gdLst/>
            <a:ahLst/>
            <a:cxnLst/>
            <a:rect l="l" t="t" r="r" b="b"/>
            <a:pathLst>
              <a:path w="3797170" h="3649905">
                <a:moveTo>
                  <a:pt x="0" y="0"/>
                </a:moveTo>
                <a:lnTo>
                  <a:pt x="1965038" y="0"/>
                </a:lnTo>
                <a:lnTo>
                  <a:pt x="3797170" y="1761079"/>
                </a:lnTo>
                <a:lnTo>
                  <a:pt x="3797170" y="3649905"/>
                </a:lnTo>
                <a:lnTo>
                  <a:pt x="0" y="0"/>
                </a:lnTo>
                <a:close/>
              </a:path>
            </a:pathLst>
          </a:custGeom>
          <a:solidFill>
            <a:srgbClr val="B89F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8585310" y="5163442"/>
            <a:ext cx="3606778" cy="1150703"/>
          </a:xfrm>
          <a:custGeom>
            <a:avLst/>
            <a:gdLst/>
            <a:ahLst/>
            <a:cxnLst/>
            <a:rect l="l" t="t" r="r" b="b"/>
            <a:pathLst>
              <a:path w="3606778" h="1150703">
                <a:moveTo>
                  <a:pt x="1111899" y="0"/>
                </a:moveTo>
                <a:lnTo>
                  <a:pt x="3606778" y="0"/>
                </a:lnTo>
                <a:lnTo>
                  <a:pt x="3606778" y="1150703"/>
                </a:lnTo>
                <a:lnTo>
                  <a:pt x="0" y="1150703"/>
                </a:lnTo>
                <a:lnTo>
                  <a:pt x="1111899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3728422" cy="3636256"/>
          </a:xfrm>
          <a:custGeom>
            <a:avLst/>
            <a:gdLst/>
            <a:ahLst/>
            <a:cxnLst/>
            <a:rect l="l" t="t" r="r" b="b"/>
            <a:pathLst>
              <a:path w="3728422" h="3636256">
                <a:moveTo>
                  <a:pt x="0" y="0"/>
                </a:moveTo>
                <a:lnTo>
                  <a:pt x="3728422" y="0"/>
                </a:lnTo>
                <a:lnTo>
                  <a:pt x="3728422" y="67224"/>
                </a:lnTo>
                <a:lnTo>
                  <a:pt x="159137" y="3636256"/>
                </a:lnTo>
                <a:lnTo>
                  <a:pt x="159137" y="3621422"/>
                </a:lnTo>
                <a:lnTo>
                  <a:pt x="0" y="3621422"/>
                </a:lnTo>
                <a:lnTo>
                  <a:pt x="0" y="0"/>
                </a:lnTo>
                <a:close/>
              </a:path>
            </a:pathLst>
          </a:custGeom>
          <a:solidFill>
            <a:srgbClr val="B39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1658" y="258312"/>
            <a:ext cx="4472915" cy="1150703"/>
          </a:xfrm>
          <a:custGeom>
            <a:avLst/>
            <a:gdLst/>
            <a:ahLst/>
            <a:cxnLst/>
            <a:rect l="l" t="t" r="r" b="b"/>
            <a:pathLst>
              <a:path w="4472915" h="1150703">
                <a:moveTo>
                  <a:pt x="0" y="0"/>
                </a:moveTo>
                <a:lnTo>
                  <a:pt x="4472915" y="0"/>
                </a:lnTo>
                <a:lnTo>
                  <a:pt x="3361016" y="1150703"/>
                </a:lnTo>
                <a:lnTo>
                  <a:pt x="0" y="1150703"/>
                </a:lnTo>
                <a:lnTo>
                  <a:pt x="0" y="0"/>
                </a:lnTo>
                <a:close/>
              </a:path>
            </a:pathLst>
          </a:custGeom>
          <a:solidFill>
            <a:srgbClr val="006D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>
            <a:off x="3106738" y="4746625"/>
            <a:ext cx="59785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3106738" y="2197100"/>
            <a:ext cx="59785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6DB8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ph type="body" sz="quarter" idx="4294967295" hasCustomPrompt="1"/>
          </p:nvPr>
        </p:nvSpPr>
        <p:spPr>
          <a:xfrm>
            <a:off x="3200400" y="2497138"/>
            <a:ext cx="5791200" cy="1398587"/>
          </a:xfrm>
          <a:prstGeom prst="rect">
            <a:avLst/>
          </a:prstGeom>
        </p:spPr>
        <p:txBody>
          <a:bodyPr wrap="square" lIns="91440" tIns="45720" rIns="91440" bIns="45720" anchor="b">
            <a:normAutofit/>
          </a:bodyPr>
          <a:lstStyle>
            <a:lvl1pPr algn="ctr">
              <a:lnSpc>
                <a:spcPct val="100000"/>
              </a:lnSpc>
              <a:defRPr sz="8000" b="1" i="0" u="none" strike="noStrike" spc="1000">
                <a:solidFill>
                  <a:srgbClr val="262626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8000" b="1" i="0" u="none" strike="noStrike" spc="100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THANKS</a:t>
            </a:r>
            <a:endParaRPr lang="en-US" sz="8000" b="1" i="0" u="none" strike="noStrike" spc="1000">
              <a:solidFill>
                <a:srgbClr val="26262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2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3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4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5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6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7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8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9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0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1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2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3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4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5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6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7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ags/tag18.xml><?xml version="1.0" encoding="utf-8"?>
<p:tagLst xmlns:p="http://schemas.openxmlformats.org/presentationml/2006/main">
  <p:tag name="KSO_WM_DIAGRAM_VIRTUALLY_FRAME" val="{&quot;height&quot;:320,&quot;left&quot;:520,&quot;top&quot;:160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9891</Words>
  <Application>WPS 演示</Application>
  <PresentationFormat/>
  <Paragraphs>703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宋体</vt:lpstr>
      <vt:lpstr>Wingdings</vt:lpstr>
      <vt:lpstr>Arial</vt:lpstr>
      <vt:lpstr>Noto Sans SC</vt:lpstr>
      <vt:lpstr>微软雅黑</vt:lpstr>
      <vt:lpstr>汉仪旗黑-85S</vt:lpstr>
      <vt:lpstr>黑体</vt:lpstr>
      <vt:lpstr>Calibri</vt:lpstr>
      <vt:lpstr>Songti SC</vt:lpstr>
      <vt:lpstr>Segoe Print</vt:lpstr>
      <vt:lpstr>Noto Serif SC</vt:lpstr>
      <vt:lpstr>Office 主题​​</vt:lpstr>
      <vt:lpstr>自定义主题</vt:lpstr>
      <vt:lpstr>Office 主题​​</vt:lpstr>
      <vt:lpstr>Office 主题​​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crsks</cp:lastModifiedBy>
  <cp:revision>3</cp:revision>
  <dcterms:created xsi:type="dcterms:W3CDTF">2026-09-16T15:31:00Z</dcterms:created>
  <dcterms:modified xsi:type="dcterms:W3CDTF">2026-09-21T03:42:11Z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{"Label":"1","ContentProducer":"001191110102MACQD9K64010000","ProduceID":"7686150019863596243","ReservedCode1":"","ContentPropagator":"","PropagateID":"","ReservedCode2":""}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66AE030526FB4F1F87AA7DFE7E51C9FF_13</vt:lpwstr>
  </property>
</Properties>
</file>