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  <p:sldMasterId id="2147483674" r:id="rId5"/>
    <p:sldMasterId id="2147483686" r:id="rId6"/>
    <p:sldMasterId id="2147483692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74" r:id="rId15"/>
    <p:sldId id="262" r:id="rId16"/>
    <p:sldId id="275" r:id="rId17"/>
    <p:sldId id="263" r:id="rId18"/>
    <p:sldId id="264" r:id="rId19"/>
    <p:sldId id="265" r:id="rId20"/>
    <p:sldId id="266" r:id="rId21"/>
    <p:sldId id="276" r:id="rId22"/>
    <p:sldId id="268" r:id="rId23"/>
    <p:sldId id="277" r:id="rId24"/>
    <p:sldId id="267" r:id="rId25"/>
    <p:sldId id="269" r:id="rId26"/>
    <p:sldId id="270" r:id="rId27"/>
    <p:sldId id="271" r:id="rId28"/>
    <p:sldId id="272" r:id="rId29"/>
    <p:sldId id="273" r:id="rId30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可用度下降（百分点）</a:t>
            </a:r>
            <a:endParaRPr sz="16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下降幅度（百分点）</c:v>
          </c:tx>
          <c:spPr>
            <a:solidFill>
              <a:srgbClr val="006DB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20 / GS-01</c:v>
                </c:pt>
                <c:pt idx="1">
                  <c:v>20 / GS-02</c:v>
                </c:pt>
                <c:pt idx="2">
                  <c:v>21 / GS-01</c:v>
                </c:pt>
                <c:pt idx="3">
                  <c:v>21 / GS-02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0.5</c:v>
                </c:pt>
                <c:pt idx="3">
                  <c:v>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8D9E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7620">
              <a:solidFill>
                <a:srgbClr val="C8D9EC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  <c:majorUnit val="2"/>
      </c:valAx>
    </c:plotArea>
    <c:plotVisOnly val="1"/>
    <c:dispBlanksAs val="gap"/>
    <c:showDLblsOverMax val="0"/>
    <c:extLst>
      <c:ext uri="{0b15fc19-7d7d-44ad-8c2d-2c3a37ce22c3}">
        <chartProps xmlns="https://web.wps.cn/et/2018/main" chartId="{e6602b2a-4e5b-4eeb-ae0d-5bd45f7fd65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汇报内容：已有的本体任务工作台、卫星网络异常排查的首版流程、所需数据与领域规则，以及两人分工。卫星场景仍是拟新增应用。封面沿用用户提供的校园照片与学校标识。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已有功能依据原Ontology-software.pptx第13、20、25—30页，并核对backend/app/application/workflows.py、report_workflow.py、domain/ontology.py、domain/reasoner.py、infrastructure/ai_provider.py、mcp/server.py。软件研发链默认RuleBasedProvider和Mock演示能力；LLMProvider需配置后使用。数据报表的任务选择目前是规则/意图关键词与任务目录匹配，不是OWL自动规划任意任务。卫星专用查询与RCA尚未实现。</a:t>
            </a:r>
          </a:p>
          <a:p>
            <a:pPr algn="l">
              <a:buNone/>
            </a:pPr>
          </a:p>
          <a:p>
            <a:pPr algn="l">
              <a:buNone/>
            </a:pPr>
            <a:r>
              <a:t>repo</a:t>
            </a:r>
          </a:p>
          <a:p>
            <a:pPr algn="l">
              <a:buNone/>
            </a:pPr>
            <a:r>
              <a:t>https://github.com/paulljlj/ontology</a:t>
            </a:r>
          </a:p>
          <a:p>
            <a:pPr algn="l">
              <a:buNone/>
            </a:pPr>
            <a:r>
              <a:t>owl</a:t>
            </a:r>
          </a:p>
          <a:p>
            <a:pPr algn="l">
              <a:buNone/>
            </a:pPr>
            <a:r>
              <a:t>https://www.w3.org/TR/owl2-primer/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这是依据现有软件PPT及代码整理的逻辑技术流程。上方六个框是两类工作流的共性，并非声称每次报表都执行研发Spec/Plan步骤。当前report_workflow.py通过结果合同及规则编译报表任务，执行器直接分派Python处理函数；MCP工具是外部Agent调用入口，不表示所有内部执行均经MCP。OWL与推理机负责模型约束与已有逻辑关系，不能代替数值统计。默认规则/Mock，配置后可用LLMProvider。</a:t>
            </a:r>
          </a:p>
          <a:p>
            <a:pPr algn="l">
              <a:buNone/>
            </a:pPr>
          </a:p>
          <a:p>
            <a:pPr algn="l">
              <a:buNone/>
            </a:pPr>
            <a:r>
              <a:t>repo</a:t>
            </a:r>
          </a:p>
          <a:p>
            <a:pPr algn="l">
              <a:buNone/>
            </a:pPr>
            <a:r>
              <a:t>https://github.com/paulljlj/ontology</a:t>
            </a:r>
          </a:p>
          <a:p>
            <a:pPr algn="l">
              <a:buNone/>
            </a:pPr>
            <a:r>
              <a:t>owl</a:t>
            </a:r>
          </a:p>
          <a:p>
            <a:pPr algn="l">
              <a:buNone/>
            </a:pPr>
            <a:r>
              <a:t>https://www.w3.org/TR/owl2-primer/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截图来源：用户提供的现有本体智能工作台。页面中使用销售与回款演示数据，说明已有任务执行与本体图谱展示能力，不表示卫星场景已经实现。原始截图与裁剪比例保持不变。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截图来源：用户提供的结果回答与报告前端图。当前是销售/回款分析的内置演示数据，不属于卫星遥测。保留原图及裁剪比例，不修改图中文字或数值。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场景截图由用户提供。数字和时间来自需求示意，不是已验证的真实卫星观测。已有系统可以复用任务与报告框架，本次拟新增卫星领域数据和排查能力。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卫星、地面设备及数据链路都可能发生异常。来源：ESA《ESOC》BR-265，印刷页28—29，Recovery from Unexpected Events，https://www.esa.int/esapub/br/br265/br265.pdf。本页只概括其适用的运维范围，不把该资料作为本项目具体星座的故障证据。首版建议限定为异常路由相关对象。只有卫星指标、没有地面站/链路观测时，无法据此排除地面侧或确认某星故障。矢量图为本演示原创的通用符号，不代表具体卫星型号或站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本页用假设案例概括卫星与地面站的对照思路。先按实际路由找共同依赖，再按同一时段、负载等可比条件核对路由指标。四个下降数值9、8、0.5、0.4的单位均为百分点，与后续对照页一致，不是真实遥测。仅凭四组汇总不能确认因果，仍需告警、变更、恢复记录和其他共同依赖等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本页说明拟新增卫星场景的一次排查如何进行，不以编号组织讲解。发现异常后，按故障时刻的实际路由找共同经过的对象。获得候选后，按对象编号和异常时段查询候选自身指标、相关与正常对照路由的指标，以及告警、变更和恢复时间。每条证据保留来源。AI/规则组织流程，本体检查对象关系和逻辑约束，查询与统计能力完成数值处理。随后比较候选，给出有依据的排查建议。证据缺失或冲突时保留多个候选，不主动遥控、测试或切换卫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根据用户场景绘制5颗异常卫星与共同节点SAT-20的可编辑示意。查询异常时刻的有序路由及有效时间，找共同经过的对象。SAT-20与相关地面站、链路先列为候选，不直接确认其故障。获得候选后，按编号与异常时间窗补查候选指标、相关/正常对照路由、告警及变更和恢复记录，再把这些证据带入后续数据对照。GS-01和GS-02仅展示关联地面站，不表示全部路径同时经过两个站，也不从流量箭头直接推定因果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本页所有数值都是教学假设，不是截图遥测或真实统计结果。SAT-21用于示意不经过SAT-20的相似路由。9、8、0.5、0.4的单位都是百分点。可用分层对照保持地面站相同后比较卫星，再保持卫星相同后比较地面站。本例支持优先排查SAT-20，不能由这4个聚合数直接宣布因果成立。实际统计还要检查样本量、基线一致性、采样相关性、共同变化和不确定性。如果所有路径始终共同经过两个候选，则数据无法区分它们。</a:t>
            </a:r>
          </a:p>
          <a:p>
            <a:pPr algn="l">
              <a:buNone/>
            </a:pPr>
          </a:p>
          <a:p>
            <a:pPr algn="l">
              <a:buNone/>
            </a:pPr>
            <a:r>
              <a:t>DoWhy, Refuting causal estimates</a:t>
            </a:r>
          </a:p>
          <a:p>
            <a:pPr algn="l">
              <a:buNone/>
            </a:pPr>
            <a:r>
              <a:t>https://www.pywhy.org/dowhy/v0.14/user_guide/refuting_causal_estimates/index.html</a:t>
            </a:r>
          </a:p>
          <a:p>
            <a:pPr algn="l">
              <a:buNone/>
            </a:pPr>
            <a:r>
              <a:t>比较的是同一时段已有的不同路由记录，不进行主动切换卫星或地面站的测试。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本页沿用假设案例，汇总共同路径、相关与正常路由的对照、提前告警和已有恢复记录，说明优先检查SAT-20。提前告警属于假设条件，并非当前已取得的真实卫星运行记录。建议仍需核对同时变更、共同上游及链路等其他原因，最终结合故障记录与人工复核。数据不足时保留多个候选并列出补查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NIST EWMA/CUSUM为过程监控方法，可用于研究小幅持续偏移，控制限需要代表性基线并考虑独立性、自相关、季节性等条件。PyRCA提供Bayesian等指标RCA方法，但排序分数不是天然校准的故障概率。PCMCI+研究自相关时序中的同时和滞后关系，因果充分性等假设未满足时结果不能直接解释为真实机制。DoWhy的反事实/根因解释依赖因果模型与假设，不能仅靠数据相关性获得确定原因。本页是后续候选方向，首版仍可先用规则、基础统计与证据判断，不要求重新主动测量卫星。</a:t>
            </a:r>
          </a:p>
          <a:p>
            <a:pPr algn="l">
              <a:buNone/>
            </a:pPr>
          </a:p>
          <a:p>
            <a:pPr algn="l">
              <a:buNone/>
            </a:pPr>
            <a:r>
              <a:t>ewma</a:t>
            </a:r>
          </a:p>
          <a:p>
            <a:pPr algn="l">
              <a:buNone/>
            </a:pPr>
            <a:r>
              <a:t>https://www.itl.nist.gov/div898/handbook/pmc/section3/pmc324.htm</a:t>
            </a:r>
          </a:p>
          <a:p>
            <a:pPr algn="l">
              <a:buNone/>
            </a:pPr>
            <a:r>
              <a:t>cusum</a:t>
            </a:r>
          </a:p>
          <a:p>
            <a:pPr algn="l">
              <a:buNone/>
            </a:pPr>
            <a:r>
              <a:t>https://www.itl.nist.gov/div898/handbook/pmc/section3/pmc323.htm</a:t>
            </a:r>
          </a:p>
          <a:p>
            <a:pPr algn="l">
              <a:buNone/>
            </a:pPr>
            <a:r>
              <a:t>pyrca</a:t>
            </a:r>
          </a:p>
          <a:p>
            <a:pPr algn="l">
              <a:buNone/>
            </a:pPr>
            <a:r>
              <a:t>https://github.com/salesforce/PyRCA</a:t>
            </a:r>
          </a:p>
          <a:p>
            <a:pPr algn="l">
              <a:buNone/>
            </a:pPr>
            <a:r>
              <a:t>pcmci</a:t>
            </a:r>
          </a:p>
          <a:p>
            <a:pPr algn="l">
              <a:buNone/>
            </a:pPr>
            <a:r>
              <a:t>https://proceedings.mlr.press/v124/runge20a.html</a:t>
            </a:r>
          </a:p>
          <a:p>
            <a:pPr algn="l">
              <a:buNone/>
            </a:pPr>
            <a:r>
              <a:t>dowhy</a:t>
            </a:r>
          </a:p>
          <a:p>
            <a:pPr algn="l">
              <a:buNone/>
            </a:pPr>
            <a:r>
              <a:t>https://www.pywhy.org/dowhy/v0.14/user_guide/refuting_causal_estimates/index.html</a:t>
            </a:r>
          </a:p>
          <a:p>
            <a:pPr algn="l">
              <a:buNone/>
            </a:pPr>
            <a:r>
              <a:t>counterfactual</a:t>
            </a:r>
          </a:p>
          <a:p>
            <a:pPr algn="l">
              <a:buNone/>
            </a:pPr>
            <a:r>
              <a:t>https://www.pywhy.org/dowhy/v0.13/user_guide/causal_tasks/root_causing_and_explaining/index.html</a:t>
            </a:r>
          </a:p>
          <a:p>
            <a:pPr algn="l">
              <a:buNone/>
            </a:pPr>
            <a:r>
              <a:t>本页属于方法补充。分组对照可用于首版，贝叶斯网络、PCMCI+及反事实分析是后续可选方向，不要求首版一次实现全部方法。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这是拟新增技术方案，不是已经实现的卫星诊断系统。OWL负责对象类型、合法关系和逻辑约束，查询/统计算法由可调用能力完成。现有Python处理器与MCP入口可作为适配方式，不要求首版重建全部技术栈。关系应保存有效时间，因为卫星路由随时间变化，来源：IETF RFC 9657（Informational，非标准轨规范），https://www.rfc-editor.org/rfc/rfc9657.html。OWL背景：https://www.w3.org/TR/owl2-primer/。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建议的数据申请最小范围是一个已知历史案例及必要的正常/对照路由，而不是全量实时遥测或设备控制权限。卫星、地面站、路由的数据使用一致编号与时间基准。保留指标定义、采样间隔和缺失值说明，方便正确理解可用度。告警、变更和恢复记录有多少先提供多少，缺失时在结果中注明。若只能提供仿真，应区分注入故障真值与真实业务验证，不能宣称已证明现场排查效果。本页是本项目拟议的数据需求，不是要求对方必须具备这些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不要求老师直接交付完整OWL文件。先获取对象定义、关系有效时间、指标口径/阈值、正常计划切换与典型排查经验。团队据此区分语义约束和数据处理规则：例如共同路径查询提出候选，指标阈值检测与组间比较由查询/统计能力执行。共享对象只说明存在共同依赖，不能单独证明该对象损坏。OWL语义背景：https://www.w3.org/TR/owl2-primer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这是建议分工，不承诺尚未讨论的人员能力或工期。A负责领域关系、规则与流程编排，B负责数据适配、比较处理器与展示。双方先约定对象编号、时间和输入输出字段，共同回放案例并复核结果。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首版先用规则和简单分组比较，减少实施和讲解负担。后续可研究变化检测、候选排序和因果分析，但是否启用取决于可用数据、可比样本和评估结果，不把高级算法作为本轮必须交付内容。慢变化监测的一个后续参考是NIST EWMA说明：https://www.itl.nist.gov/div898/handbook/pmc/section3/pmc324.htm。更长期方向是持续监测与可回放的故障案例库，不承诺无需数据即可确定真实原因。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12" name="Shape 30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18" name="Shape 54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24" name="Shape 59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30" name="Shape 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37" name="Shape 35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46" name="Shape 20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51" name="Shape 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"/>
        <p:cNvGrpSpPr/>
        <p:nvPr/>
      </p:nvGrpSpPr>
      <p:grpSpPr/>
      <p:sp>
        <p:nvSpPr>
          <p:cNvPr id="55" name="Shape 43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"/>
        <p:cNvGrpSpPr/>
        <p:nvPr/>
      </p:nvGrpSpPr>
      <p:grpSpPr/>
      <p:sp>
        <p:nvSpPr>
          <p:cNvPr id="62" name="Shape 24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"/>
        <p:cNvGrpSpPr/>
        <p:nvPr/>
      </p:nvGrpSpPr>
      <p:grpSpPr/>
      <p:sp>
        <p:nvSpPr>
          <p:cNvPr id="69" name="Shape 4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75" name="Shape 15"/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buNone/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algn="ctr">
              <a:buNone/>
            </a:pPr>
          </a:p>
        </p:txBody>
      </p:sp>
      <p:sp>
        <p:nvSpPr>
          <p:cNvPr id="4" name="AutoShape 4"/>
          <p:cNvSpPr>
            <a:spLocks noGrp="1"/>
          </p:cNvSpPr>
          <p:nvPr>
            <p:ph type="body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buNone/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algn="ctr">
              <a:buNone/>
            </a:pPr>
          </a:p>
        </p:txBody>
      </p:sp>
      <p:sp>
        <p:nvSpPr>
          <p:cNvPr id="4" name="AutoShape 4"/>
          <p:cNvSpPr>
            <a:spLocks noGrp="1"/>
          </p:cNvSpPr>
          <p:nvPr>
            <p:ph type="body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3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3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3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>
            <a:spLocks noGrp="1"/>
          </p:cNvSpPr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35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36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37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38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39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40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buNone/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141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buNone/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142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utoShape 10"/>
          <p:cNvSpPr>
            <a:spLocks noGrp="1"/>
          </p:cNvSpPr>
          <p:nvPr>
            <p:ph type="body" idx="143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AutoShape 11"/>
          <p:cNvSpPr>
            <a:spLocks noGrp="1"/>
          </p:cNvSpPr>
          <p:nvPr>
            <p:ph type="body" idx="144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45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46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单击此处编辑母版标题样式</a:t>
            </a:r>
            <a:endParaRPr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4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14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14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>
            <a:spLocks noGrp="1"/>
          </p:cNvSpPr>
          <p:nvPr/>
        </p:nvSpPr>
        <p:spPr>
          <a:xfrm rot="5400000">
            <a:off x="10383480" y="5049028"/>
            <a:ext cx="1855521" cy="1761380"/>
          </a:xfrm>
          <a:custGeom>
            <a:avLst/>
            <a:gdLst/>
            <a:ahLst/>
            <a:cxnLst/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75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5400000">
            <a:off x="8470050" y="3140812"/>
            <a:ext cx="3797170" cy="3649905"/>
          </a:xfrm>
          <a:custGeom>
            <a:avLst/>
            <a:gdLst/>
            <a:ahLst/>
            <a:cxnLst/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>
            <a:srgbClr val="B89F7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6" name="Freeform 6"/>
          <p:cNvSpPr>
            <a:spLocks noGrp="1"/>
          </p:cNvSpPr>
          <p:nvPr/>
        </p:nvSpPr>
        <p:spPr>
          <a:xfrm>
            <a:off x="8585310" y="5163442"/>
            <a:ext cx="3606778" cy="1150703"/>
          </a:xfrm>
          <a:custGeom>
            <a:avLst/>
            <a:gdLst/>
            <a:ahLst/>
            <a:cxnLst/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7" name="Freeform 7"/>
          <p:cNvSpPr>
            <a:spLocks noGrp="1"/>
          </p:cNvSpPr>
          <p:nvPr/>
        </p:nvSpPr>
        <p:spPr>
          <a:xfrm>
            <a:off x="0" y="0"/>
            <a:ext cx="3728422" cy="3636256"/>
          </a:xfrm>
          <a:custGeom>
            <a:avLst/>
            <a:gdLst/>
            <a:ahLst/>
            <a:cxnLst/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8" name="Freeform 8"/>
          <p:cNvSpPr>
            <a:spLocks noGrp="1"/>
          </p:cNvSpPr>
          <p:nvPr/>
        </p:nvSpPr>
        <p:spPr>
          <a:xfrm>
            <a:off x="1658" y="258312"/>
            <a:ext cx="4472915" cy="1150703"/>
          </a:xfrm>
          <a:custGeom>
            <a:avLst/>
            <a:gdLst/>
            <a:ahLst/>
            <a:cxnLst/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9" name="Connector 9"/>
          <p:cNvSpPr>
            <a:spLocks noGrp="1"/>
          </p:cNvSpPr>
          <p:nvPr/>
        </p:nvSpPr>
        <p:spPr>
          <a:xfrm>
            <a:off x="3106738" y="4746625"/>
            <a:ext cx="5978525" cy="0"/>
          </a:xfrm>
          <a:prstGeom prst="line">
            <a:avLst/>
          </a:prstGeom>
          <a:noFill/>
          <a:ln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Connector 10"/>
          <p:cNvSpPr>
            <a:spLocks noGrp="1"/>
          </p:cNvSpPr>
          <p:nvPr/>
        </p:nvSpPr>
        <p:spPr>
          <a:xfrm>
            <a:off x="3106738" y="2197100"/>
            <a:ext cx="5978525" cy="0"/>
          </a:xfrm>
          <a:prstGeom prst="line">
            <a:avLst/>
          </a:prstGeom>
          <a:noFill/>
          <a:ln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AutoShape 11"/>
          <p:cNvSpPr>
            <a:spLocks noGrp="1"/>
          </p:cNvSpPr>
          <p:nvPr>
            <p:ph type="body" idx="150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>
              <a:lnSpc>
                <a:spcPct val="100000"/>
              </a:lnSpc>
              <a:buNone/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12" name="AutoShape 12"/>
          <p:cNvSpPr>
            <a:spLocks noGrp="1"/>
          </p:cNvSpPr>
          <p:nvPr>
            <p:ph type="body" idx="151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buNone/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单击此处编辑文本</a:t>
            </a:r>
            <a:endParaRPr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>
            <a:spLocks noGrp="1"/>
          </p:cNvSpPr>
          <p:nvPr>
            <p:ph type="body" idx="15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utoShape 14"/>
          <p:cNvSpPr>
            <a:spLocks noGrp="1"/>
          </p:cNvSpPr>
          <p:nvPr>
            <p:ph type="body" idx="15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AutoShape 15"/>
          <p:cNvSpPr>
            <a:spLocks noGrp="1"/>
          </p:cNvSpPr>
          <p:nvPr>
            <p:ph type="body" idx="15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>
            <p:ph type="body" idx="16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6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6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>
            <a:spLocks noGrp="1"/>
          </p:cNvSpPr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63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64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65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66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67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68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buNone/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单击此处编辑副标题</a:t>
            </a:r>
            <a:endParaRPr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169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buNone/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170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utoShape 10"/>
          <p:cNvSpPr>
            <a:spLocks noGrp="1"/>
          </p:cNvSpPr>
          <p:nvPr>
            <p:ph type="body" idx="171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AutoShape 11"/>
          <p:cNvSpPr>
            <a:spLocks noGrp="1"/>
          </p:cNvSpPr>
          <p:nvPr>
            <p:ph type="body" idx="172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>
            <a:spLocks noGrp="1"/>
          </p:cNvSpPr>
          <p:nvPr>
            <p:ph type="body" idx="173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74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单击此处编辑母版标题样式</a:t>
            </a:r>
            <a:endParaRPr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idx="175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idx="176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idx="177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>
            <a:spLocks noGrp="1"/>
          </p:cNvSpPr>
          <p:nvPr/>
        </p:nvSpPr>
        <p:spPr>
          <a:xfrm rot="5400000">
            <a:off x="10383480" y="5049028"/>
            <a:ext cx="1855521" cy="1761380"/>
          </a:xfrm>
          <a:custGeom>
            <a:avLst/>
            <a:gdLst/>
            <a:ahLst/>
            <a:cxnLst/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75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5" name="Freeform 5"/>
          <p:cNvSpPr>
            <a:spLocks noGrp="1"/>
          </p:cNvSpPr>
          <p:nvPr/>
        </p:nvSpPr>
        <p:spPr>
          <a:xfrm rot="5400000">
            <a:off x="8470050" y="3140812"/>
            <a:ext cx="3797170" cy="3649905"/>
          </a:xfrm>
          <a:custGeom>
            <a:avLst/>
            <a:gdLst/>
            <a:ahLst/>
            <a:cxnLst/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>
            <a:srgbClr val="B89F7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6" name="Freeform 6"/>
          <p:cNvSpPr>
            <a:spLocks noGrp="1"/>
          </p:cNvSpPr>
          <p:nvPr/>
        </p:nvSpPr>
        <p:spPr>
          <a:xfrm>
            <a:off x="8585310" y="5163442"/>
            <a:ext cx="3606778" cy="1150703"/>
          </a:xfrm>
          <a:custGeom>
            <a:avLst/>
            <a:gdLst/>
            <a:ahLst/>
            <a:cxnLst/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7" name="Freeform 7"/>
          <p:cNvSpPr>
            <a:spLocks noGrp="1"/>
          </p:cNvSpPr>
          <p:nvPr/>
        </p:nvSpPr>
        <p:spPr>
          <a:xfrm>
            <a:off x="0" y="0"/>
            <a:ext cx="3728422" cy="3636256"/>
          </a:xfrm>
          <a:custGeom>
            <a:avLst/>
            <a:gdLst/>
            <a:ahLst/>
            <a:cxnLst/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8" name="Freeform 8"/>
          <p:cNvSpPr>
            <a:spLocks noGrp="1"/>
          </p:cNvSpPr>
          <p:nvPr/>
        </p:nvSpPr>
        <p:spPr>
          <a:xfrm>
            <a:off x="1658" y="258312"/>
            <a:ext cx="4472915" cy="1150703"/>
          </a:xfrm>
          <a:custGeom>
            <a:avLst/>
            <a:gdLst/>
            <a:ahLst/>
            <a:cxnLst/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sz="1100"/>
          </a:p>
        </p:txBody>
      </p:sp>
      <p:sp>
        <p:nvSpPr>
          <p:cNvPr id="9" name="Connector 9"/>
          <p:cNvSpPr>
            <a:spLocks noGrp="1"/>
          </p:cNvSpPr>
          <p:nvPr/>
        </p:nvSpPr>
        <p:spPr>
          <a:xfrm>
            <a:off x="3106738" y="4746625"/>
            <a:ext cx="5978525" cy="0"/>
          </a:xfrm>
          <a:prstGeom prst="line">
            <a:avLst/>
          </a:prstGeom>
          <a:noFill/>
          <a:ln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Connector 10"/>
          <p:cNvSpPr>
            <a:spLocks noGrp="1"/>
          </p:cNvSpPr>
          <p:nvPr/>
        </p:nvSpPr>
        <p:spPr>
          <a:xfrm>
            <a:off x="3106738" y="2197100"/>
            <a:ext cx="5978525" cy="0"/>
          </a:xfrm>
          <a:prstGeom prst="line">
            <a:avLst/>
          </a:prstGeom>
          <a:noFill/>
          <a:ln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AutoShape 11"/>
          <p:cNvSpPr>
            <a:spLocks noGrp="1"/>
          </p:cNvSpPr>
          <p:nvPr>
            <p:ph type="body" idx="178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>
              <a:lnSpc>
                <a:spcPct val="100000"/>
              </a:lnSpc>
              <a:buNone/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12" name="AutoShape 12"/>
          <p:cNvSpPr>
            <a:spLocks noGrp="1"/>
          </p:cNvSpPr>
          <p:nvPr>
            <p:ph type="body" idx="179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buNone/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单击此处编辑文本</a:t>
            </a:r>
            <a:endParaRPr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>
            <a:spLocks noGrp="1"/>
          </p:cNvSpPr>
          <p:nvPr>
            <p:ph type="body" idx="18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utoShape 14"/>
          <p:cNvSpPr>
            <a:spLocks noGrp="1"/>
          </p:cNvSpPr>
          <p:nvPr>
            <p:ph type="body" idx="18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AutoShape 15"/>
          <p:cNvSpPr>
            <a:spLocks noGrp="1"/>
          </p:cNvSpPr>
          <p:nvPr>
            <p:ph type="body" idx="18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hap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8" name="Shape 3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9" name="Shape 4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10" name="Shape 5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AutoShape 1"/>
          <p:cNvSpPr>
            <a:spLocks noGrp="1"/>
          </p:cNvSpPr>
          <p:nvPr>
            <p:ph type="body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AutoShape 1"/>
          <p:cNvSpPr>
            <a:spLocks noGrp="1"/>
          </p:cNvSpPr>
          <p:nvPr>
            <p:ph type="body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AutoShape 1"/>
          <p:cNvSpPr>
            <a:spLocks noGrp="1"/>
          </p:cNvSpPr>
          <p:nvPr>
            <p:ph type="body" idx="127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单击此处编辑母版标题样式</a:t>
            </a:r>
            <a:endParaRPr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idx="128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29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30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31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AutoShape 1"/>
          <p:cNvSpPr>
            <a:spLocks noGrp="1"/>
          </p:cNvSpPr>
          <p:nvPr>
            <p:ph type="body" idx="155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单击此处编辑母版标题样式</a:t>
            </a:r>
            <a:endParaRPr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idx="156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idx="15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idx="15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idx="15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64675" y="185738"/>
            <a:ext cx="2374900" cy="547687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908685"/>
            <a:ext cx="12193588" cy="4694238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177800" y="1283970"/>
            <a:ext cx="8180705" cy="2049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0170" tIns="46990" rIns="90170" bIns="4699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4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基于本体的卫星网络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4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异常关联与根因分析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595630" y="5070158"/>
            <a:ext cx="2560638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b">
            <a:noAutofit/>
          </a:bodyPr>
          <a:lstStyle>
            <a:defPPr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92000"/>
              </a:lnSpc>
              <a:buNone/>
              <a:defRPr sz="1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2026年10月17日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544513" y="4625975"/>
            <a:ext cx="542925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b">
            <a:noAutofit/>
          </a:bodyPr>
          <a:lstStyle>
            <a:defPPr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已有系统与卫星场景应用</a:t>
            </a:r>
            <a:endParaRPr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5283" r="20867"/>
          <a:stretch>
            <a:fillRect/>
          </a:stretch>
        </p:blipFill>
        <p:spPr>
          <a:xfrm>
            <a:off x="595313" y="3587750"/>
            <a:ext cx="1063625" cy="477838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0713" y="6008688"/>
            <a:ext cx="3600450" cy="385762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已有系统：功能与定位</a:t>
            </a:r>
            <a:endParaRPr sz="1100"/>
          </a:p>
        </p:txBody>
      </p:sp>
      <p:sp>
        <p:nvSpPr>
          <p:cNvPr id="16" name="现有 MVP 是“目标 → 任务 → 能力 → 结果”的工作台，已具备本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现有 MVP 支持需求拆解、任务执行与结果交付，并保留本体校验和执行记录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软件研发任务链"/>
          <p:cNvSpPr>
            <a:spLocks noGrp="1"/>
          </p:cNvSpPr>
          <p:nvPr/>
        </p:nvSpPr>
        <p:spPr>
          <a:xfrm>
            <a:off x="609600" y="1971675"/>
            <a:ext cx="5200650" cy="514350"/>
          </a:xfrm>
          <a:prstGeom prst="rect">
            <a:avLst/>
          </a:prstGeom>
          <a:solidFill>
            <a:srgbClr val="006DB8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软件研发任务链</a:t>
            </a:r>
            <a:endParaRPr sz="19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数据报表任务链"/>
          <p:cNvSpPr>
            <a:spLocks noGrp="1"/>
          </p:cNvSpPr>
          <p:nvPr/>
        </p:nvSpPr>
        <p:spPr>
          <a:xfrm>
            <a:off x="6381750" y="1971675"/>
            <a:ext cx="5200650" cy="514350"/>
          </a:xfrm>
          <a:prstGeom prst="rect">
            <a:avLst/>
          </a:prstGeom>
          <a:solidFill>
            <a:srgbClr val="006DB8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数据报表任务链</a:t>
            </a:r>
            <a:endParaRPr sz="19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创建 Feature，描述需求目标"/>
          <p:cNvSpPr>
            <a:spLocks noGrp="1"/>
          </p:cNvSpPr>
          <p:nvPr/>
        </p:nvSpPr>
        <p:spPr>
          <a:xfrm>
            <a:off x="781050" y="2705100"/>
            <a:ext cx="4857750" cy="2590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创建 Feature，描述需求目标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生成 Spec、Plan、Task 与检查清单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调用构建、日志查询等演示能力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保留任务状态和检查结果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输入数据分析目标和结果要求"/>
          <p:cNvSpPr>
            <a:spLocks noGrp="1"/>
          </p:cNvSpPr>
          <p:nvPr/>
        </p:nvSpPr>
        <p:spPr>
          <a:xfrm>
            <a:off x="6553200" y="2705100"/>
            <a:ext cx="4857750" cy="2590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输入数据分析目标和结果要求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匹配清洗、聚合、导出等任务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执行数据处理，产出报表与摘要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展示任务、证据与下载文件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共用底座：OWL 语义校验  ·  SQL / Neo4j 存储与图谱  ·  MCP 工具入口"/>
          <p:cNvSpPr>
            <a:spLocks noGrp="1"/>
          </p:cNvSpPr>
          <p:nvPr/>
        </p:nvSpPr>
        <p:spPr>
          <a:xfrm>
            <a:off x="609600" y="5591175"/>
            <a:ext cx="10972800" cy="542925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相同底座</a:t>
            </a: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：OWL 语义校验  ·  SQL / Neo4j 存储与图谱  ·  MCP 工具入口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23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02 / 22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7" name="直接箭头连接符 26"/>
          <p:cNvCxnSpPr>
            <a:stCxn id="21" idx="3"/>
            <a:endCxn id="22" idx="1"/>
          </p:cNvCxnSpPr>
          <p:nvPr/>
        </p:nvCxnSpPr>
        <p:spPr>
          <a:xfrm>
            <a:off x="9715500" y="2619375"/>
            <a:ext cx="22860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6" name="直接箭头连接符 25"/>
          <p:cNvCxnSpPr>
            <a:stCxn id="20" idx="3"/>
            <a:endCxn id="21" idx="1"/>
          </p:cNvCxnSpPr>
          <p:nvPr/>
        </p:nvCxnSpPr>
        <p:spPr>
          <a:xfrm>
            <a:off x="7848600" y="2619375"/>
            <a:ext cx="22860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5" name="直接箭头连接符 24"/>
          <p:cNvCxnSpPr>
            <a:stCxn id="19" idx="3"/>
            <a:endCxn id="20" idx="1"/>
          </p:cNvCxnSpPr>
          <p:nvPr/>
        </p:nvCxnSpPr>
        <p:spPr>
          <a:xfrm>
            <a:off x="5981700" y="2619375"/>
            <a:ext cx="22860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4" name="直接箭头连接符 23"/>
          <p:cNvCxnSpPr>
            <a:stCxn id="18" idx="3"/>
            <a:endCxn id="19" idx="1"/>
          </p:cNvCxnSpPr>
          <p:nvPr/>
        </p:nvCxnSpPr>
        <p:spPr>
          <a:xfrm>
            <a:off x="4114800" y="2619375"/>
            <a:ext cx="22860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3" name="直接箭头连接符 22"/>
          <p:cNvCxnSpPr>
            <a:stCxn id="17" idx="3"/>
            <a:endCxn id="18" idx="1"/>
          </p:cNvCxnSpPr>
          <p:nvPr/>
        </p:nvCxnSpPr>
        <p:spPr>
          <a:xfrm>
            <a:off x="2247900" y="2619375"/>
            <a:ext cx="22860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已有系统：技术流程</a:t>
            </a:r>
            <a:endParaRPr sz="1100"/>
          </a:p>
        </p:txBody>
      </p:sp>
      <p:sp>
        <p:nvSpPr>
          <p:cNvPr id="16" name="把用户目标转成可执行任务，并记录每一步做了什么、用了什么能力、生成什么结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把用户目标转成可执行任务，并记录每一步做了什么、用了什么能力、生成什么结果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用户目标"/>
          <p:cNvSpPr>
            <a:spLocks noGrp="1"/>
          </p:cNvSpPr>
          <p:nvPr/>
        </p:nvSpPr>
        <p:spPr>
          <a:xfrm>
            <a:off x="609600" y="2085975"/>
            <a:ext cx="1638300" cy="1066800"/>
          </a:xfrm>
          <a:prstGeom prst="rect">
            <a:avLst/>
          </a:prstGeom>
          <a:solidFill>
            <a:srgbClr val="006DB8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用户目标</a:t>
            </a:r>
            <a:endParaRPr sz="17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输入需求</a:t>
            </a:r>
            <a:endParaRPr sz="17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I / 规则"/>
          <p:cNvSpPr>
            <a:spLocks noGrp="1"/>
          </p:cNvSpPr>
          <p:nvPr/>
        </p:nvSpPr>
        <p:spPr>
          <a:xfrm>
            <a:off x="2476500" y="2085975"/>
            <a:ext cx="163830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/ 规则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解析目标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规范与计划"/>
          <p:cNvSpPr>
            <a:spLocks noGrp="1"/>
          </p:cNvSpPr>
          <p:nvPr/>
        </p:nvSpPr>
        <p:spPr>
          <a:xfrm>
            <a:off x="4343400" y="2085975"/>
            <a:ext cx="163830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规范与计划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定义结果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任务 / Skill"/>
          <p:cNvSpPr>
            <a:spLocks noGrp="1"/>
          </p:cNvSpPr>
          <p:nvPr/>
        </p:nvSpPr>
        <p:spPr>
          <a:xfrm>
            <a:off x="6210300" y="2085975"/>
            <a:ext cx="163830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任务 / Skill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匹配能力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执行与检查"/>
          <p:cNvSpPr>
            <a:spLocks noGrp="1"/>
          </p:cNvSpPr>
          <p:nvPr/>
        </p:nvSpPr>
        <p:spPr>
          <a:xfrm>
            <a:off x="8077200" y="2085975"/>
            <a:ext cx="163830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执行与检查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调用处理器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产物与证据"/>
          <p:cNvSpPr>
            <a:spLocks noGrp="1"/>
          </p:cNvSpPr>
          <p:nvPr/>
        </p:nvSpPr>
        <p:spPr>
          <a:xfrm>
            <a:off x="9944100" y="2085975"/>
            <a:ext cx="1638300" cy="1066800"/>
          </a:xfrm>
          <a:prstGeom prst="rect">
            <a:avLst/>
          </a:prstGeom>
          <a:solidFill>
            <a:srgbClr val="F0FDF4"/>
          </a:solidFill>
          <a:ln w="14288">
            <a:solidFill>
              <a:srgbClr val="15803D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产物与证据</a:t>
            </a:r>
            <a:endParaRPr sz="17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记录结果</a:t>
            </a:r>
            <a:endParaRPr sz="17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OWL 本体 / 推理校验：对象类型、字段、合法关系和逻辑约束"/>
          <p:cNvSpPr>
            <a:spLocks noGrp="1"/>
          </p:cNvSpPr>
          <p:nvPr/>
        </p:nvSpPr>
        <p:spPr>
          <a:xfrm>
            <a:off x="609600" y="3705225"/>
            <a:ext cx="10972800" cy="62865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OWL 本体 / 推理校验：对象类型、字段、合法关系和逻辑约束</a:t>
            </a:r>
            <a:endParaRPr sz="180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SQL / Neo4j：需求、任务状态、对象关系、运行记录、Evidence 与 Artifact"/>
          <p:cNvSpPr>
            <a:spLocks noGrp="1"/>
          </p:cNvSpPr>
          <p:nvPr/>
        </p:nvSpPr>
        <p:spPr>
          <a:xfrm>
            <a:off x="609600" y="4600575"/>
            <a:ext cx="10972800" cy="628650"/>
          </a:xfrm>
          <a:prstGeom prst="rect">
            <a:avLst/>
          </a:prstGeom>
          <a:solidFill>
            <a:srgbClr val="F8FAFC"/>
          </a:solidFill>
          <a:ln w="14288">
            <a:solidFill>
              <a:srgbClr val="64748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SQL / Neo4j：需求、任务状态、对象关系、运行记录、Evidence 与 Artifact</a:t>
            </a:r>
            <a:endParaRPr sz="1725" b="1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当前实现：报表按规则目录选任务，由 Python 处理器执行；MCP 对"/>
          <p:cNvSpPr>
            <a:spLocks noGrp="1"/>
          </p:cNvSpPr>
          <p:nvPr/>
        </p:nvSpPr>
        <p:spPr>
          <a:xfrm>
            <a:off x="609600" y="55054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当前实现：报表按规则目录选任务，由 Python 处理器执行，MCP 提供工具入口。</a:t>
            </a:r>
            <a:endParaRPr sz="1575" b="0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软件研发链为 Feature → Spec → Plan → Task，AI 可通过配置接入。</a:t>
            </a:r>
            <a:endParaRPr sz="1575" b="0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32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03 / 22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已有演示：输入与执行</a:t>
            </a:r>
            <a:endParaRPr sz="11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l="13275" r="16213"/>
          <a:stretch>
            <a:fillRect/>
          </a:stretch>
        </p:blipFill>
        <p:spPr>
          <a:xfrm>
            <a:off x="609600" y="1809750"/>
            <a:ext cx="6381750" cy="4429125"/>
          </a:xfrm>
          <a:prstGeom prst="rect">
            <a:avLst/>
          </a:prstGeom>
        </p:spPr>
      </p:pic>
      <p:sp>
        <p:nvSpPr>
          <p:cNvPr id="18" name="输入一句需求，可以看到执行步骤和对象关系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输入一句需求，可以看到执行步骤和对象关系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输入分析需求"/>
          <p:cNvSpPr>
            <a:spLocks noGrp="1"/>
          </p:cNvSpPr>
          <p:nvPr/>
        </p:nvSpPr>
        <p:spPr>
          <a:xfrm>
            <a:off x="7505700" y="21050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输入分析需求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例如：分析销售额和回款情况"/>
          <p:cNvSpPr>
            <a:spLocks noGrp="1"/>
          </p:cNvSpPr>
          <p:nvPr/>
        </p:nvSpPr>
        <p:spPr>
          <a:xfrm>
            <a:off x="7505700" y="26098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例如：分析销售额和回款情况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逐步查看执行"/>
          <p:cNvSpPr>
            <a:spLocks noGrp="1"/>
          </p:cNvSpPr>
          <p:nvPr/>
        </p:nvSpPr>
        <p:spPr>
          <a:xfrm>
            <a:off x="7505700" y="35528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逐步查看执行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左侧显示正在执行哪一步"/>
          <p:cNvSpPr>
            <a:spLocks noGrp="1"/>
          </p:cNvSpPr>
          <p:nvPr/>
        </p:nvSpPr>
        <p:spPr>
          <a:xfrm>
            <a:off x="7505700" y="40576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左侧显示正在执行哪一步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查看关系与检查结果"/>
          <p:cNvSpPr>
            <a:spLocks noGrp="1"/>
          </p:cNvSpPr>
          <p:nvPr/>
        </p:nvSpPr>
        <p:spPr>
          <a:xfrm>
            <a:off x="7505700" y="50006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查看关系与检查结果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右侧展示本体图谱和规则判断"/>
          <p:cNvSpPr>
            <a:spLocks noGrp="1"/>
          </p:cNvSpPr>
          <p:nvPr/>
        </p:nvSpPr>
        <p:spPr>
          <a:xfrm>
            <a:off x="7505700" y="55054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右侧展示本体图谱和规则判断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6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03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已有演示：结果与报告</a:t>
            </a:r>
            <a:endParaRPr sz="11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l="16867" t="1559" r="16566" b="668"/>
          <a:stretch>
            <a:fillRect/>
          </a:stretch>
        </p:blipFill>
        <p:spPr>
          <a:xfrm>
            <a:off x="609600" y="1809750"/>
            <a:ext cx="4667250" cy="4429125"/>
          </a:xfrm>
          <a:prstGeom prst="rect">
            <a:avLst/>
          </a:prstGeom>
        </p:spPr>
      </p:pic>
      <p:sp>
        <p:nvSpPr>
          <p:cNvPr id="18" name="系统输出结论和图表，也保留数据来源与执行记录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系统输出结论和图表，也保留数据来源与执行记录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回答用户的问题"/>
          <p:cNvSpPr>
            <a:spLocks noGrp="1"/>
          </p:cNvSpPr>
          <p:nvPr/>
        </p:nvSpPr>
        <p:spPr>
          <a:xfrm>
            <a:off x="5943600" y="210502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回答用户的问题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把数据结果整理成可读结论"/>
          <p:cNvSpPr>
            <a:spLocks noGrp="1"/>
          </p:cNvSpPr>
          <p:nvPr/>
        </p:nvSpPr>
        <p:spPr>
          <a:xfrm>
            <a:off x="5943600" y="2609850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把数据结果整理成可读结论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说明依据"/>
          <p:cNvSpPr>
            <a:spLocks noGrp="1"/>
          </p:cNvSpPr>
          <p:nvPr/>
        </p:nvSpPr>
        <p:spPr>
          <a:xfrm>
            <a:off x="5943600" y="355282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说明依据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可以回看用了哪些数据、做了哪些步骤"/>
          <p:cNvSpPr>
            <a:spLocks noGrp="1"/>
          </p:cNvSpPr>
          <p:nvPr/>
        </p:nvSpPr>
        <p:spPr>
          <a:xfrm>
            <a:off x="5943600" y="4057650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可以回看用了哪些数据、做了哪些步骤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交付报告文件"/>
          <p:cNvSpPr>
            <a:spLocks noGrp="1"/>
          </p:cNvSpPr>
          <p:nvPr/>
        </p:nvSpPr>
        <p:spPr>
          <a:xfrm>
            <a:off x="5943600" y="500062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交付报告文件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支持图表、Excel 和报告下载"/>
          <p:cNvSpPr>
            <a:spLocks noGrp="1"/>
          </p:cNvSpPr>
          <p:nvPr/>
        </p:nvSpPr>
        <p:spPr>
          <a:xfrm>
            <a:off x="5943600" y="5505450"/>
            <a:ext cx="5429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支持图表、Excel 和报告下载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当前截图使用内置演示数据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6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04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场景目标：多颗卫星指标同时下降</a:t>
            </a:r>
            <a:endParaRPr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90" y="1952625"/>
            <a:ext cx="6250869" cy="4133850"/>
          </a:xfrm>
          <a:prstGeom prst="rect">
            <a:avLst/>
          </a:prstGeom>
        </p:spPr>
      </p:pic>
      <p:sp>
        <p:nvSpPr>
          <p:cNvPr id="21" name="目标是缩小排查范围，说明应该先检查谁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目标是缩小排查范围，说明应该先检查谁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观察到的异常"/>
          <p:cNvSpPr>
            <a:spLocks noGrp="1"/>
          </p:cNvSpPr>
          <p:nvPr/>
        </p:nvSpPr>
        <p:spPr>
          <a:xfrm>
            <a:off x="7600950" y="2009775"/>
            <a:ext cx="3981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观察到的异常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10:00—10:15"/>
          <p:cNvSpPr>
            <a:spLocks noGrp="1"/>
          </p:cNvSpPr>
          <p:nvPr/>
        </p:nvSpPr>
        <p:spPr>
          <a:xfrm>
            <a:off x="7600950" y="2533650"/>
            <a:ext cx="39814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10:00—10:15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颗卫星的可用度同时下降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希望系统回答"/>
          <p:cNvSpPr>
            <a:spLocks noGrp="1"/>
          </p:cNvSpPr>
          <p:nvPr/>
        </p:nvSpPr>
        <p:spPr>
          <a:xfrm>
            <a:off x="7600950" y="3724275"/>
            <a:ext cx="3981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希望系统回答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它们共同经过哪里？"/>
          <p:cNvSpPr>
            <a:spLocks noGrp="1"/>
          </p:cNvSpPr>
          <p:nvPr/>
        </p:nvSpPr>
        <p:spPr>
          <a:xfrm>
            <a:off x="7600950" y="4248150"/>
            <a:ext cx="39814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它们共同经过哪里？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哪些对象更值得先检查？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判断依据是什么？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图为需求示意，尚未接入真实卫星数据"/>
          <p:cNvSpPr>
            <a:spLocks noGrp="1"/>
          </p:cNvSpPr>
          <p:nvPr/>
        </p:nvSpPr>
        <p:spPr>
          <a:xfrm>
            <a:off x="7600950" y="5781675"/>
            <a:ext cx="3981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图为需求示意，尚未接入真实卫星数据</a:t>
            </a:r>
            <a:endParaRPr sz="14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8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05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排查依据：对象关系与运行数据</a:t>
            </a:r>
            <a:endParaRPr sz="1100"/>
          </a:p>
        </p:txBody>
      </p:sp>
      <p:sp>
        <p:nvSpPr>
          <p:cNvPr id="16" name="继续使用现有任务工作台，新增卫星领域的关系、数据和比较能力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连接关系会随时间变化，排查要使用异常发生时的路由和记录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流程节点"/>
          <p:cNvSpPr>
            <a:spLocks noGrp="1"/>
          </p:cNvSpPr>
          <p:nvPr/>
        </p:nvSpPr>
        <p:spPr>
          <a:xfrm>
            <a:off x="609600" y="2000250"/>
            <a:ext cx="10972800" cy="742950"/>
          </a:xfrm>
          <a:prstGeom prst="rect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18" name="复用：需求输入、任务执行、结果报告和过程记录"/>
          <p:cNvSpPr>
            <a:spLocks noGrp="1"/>
          </p:cNvSpPr>
          <p:nvPr/>
        </p:nvSpPr>
        <p:spPr>
          <a:xfrm>
            <a:off x="809625" y="2190750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结合当时的路由、指标和告警，判断应该先检查谁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领域关系与规则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查哪些对象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关系连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1" name="定义卫星、地面站和路由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卫星、地面站和通信链路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查看异常时段的连接关系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卫星数据查询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3865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查哪些数据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关系连线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3865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4" name="接入指标、路由和告警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3865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可用度、告警、路由和变更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按对象编号和时间对齐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比较与结果整理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26770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得到什么结果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6770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7" name="比较相关路由的变化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6770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给出优先排查对象及依据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列出仍不能排除的可能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首版采用关系规则和简单比较，先验证能否帮助排查。"/>
          <p:cNvSpPr>
            <a:spLocks noGrp="1"/>
          </p:cNvSpPr>
          <p:nvPr/>
        </p:nvSpPr>
        <p:spPr>
          <a:xfrm>
            <a:off x="609600" y="57816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先确定范围，再对照数据。证据不足时，说明还需要查什么。</a:t>
            </a:r>
            <a:endParaRPr lang="zh-CN" sz="20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30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10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排查范围：卫星、地面站与链路</a:t>
            </a:r>
            <a:endParaRPr sz="1100"/>
          </a:p>
        </p:txBody>
      </p:sp>
      <p:sp>
        <p:nvSpPr>
          <p:cNvPr id="16" name="卫星和地面站都可能出问题，链路也需要核查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卫星和地面站都可能出问题，链路也需要核查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关系连线"/>
          <p:cNvSpPr>
            <a:spLocks noGrp="1"/>
          </p:cNvSpPr>
          <p:nvPr/>
        </p:nvSpPr>
        <p:spPr>
          <a:xfrm>
            <a:off x="2015728" y="2986088"/>
            <a:ext cx="1464469" cy="0"/>
          </a:xfrm>
          <a:prstGeom prst="line">
            <a:avLst/>
          </a:prstGeom>
          <a:noFill/>
          <a:ln w="36612">
            <a:solidFill>
              <a:srgbClr val="006DB8"/>
            </a:solidFill>
            <a:prstDash val="solid"/>
          </a:ln>
        </p:spPr>
      </p:sp>
      <p:sp>
        <p:nvSpPr>
          <p:cNvPr id="18" name="卫星矢量太阳翼"/>
          <p:cNvSpPr>
            <a:spLocks noGrp="1"/>
          </p:cNvSpPr>
          <p:nvPr/>
        </p:nvSpPr>
        <p:spPr>
          <a:xfrm>
            <a:off x="1771650" y="2693194"/>
            <a:ext cx="622399" cy="597991"/>
          </a:xfrm>
          <a:prstGeom prst="rect">
            <a:avLst/>
          </a:prstGeom>
          <a:solidFill>
            <a:srgbClr val="EFF6FF"/>
          </a:solidFill>
          <a:ln w="24408">
            <a:solidFill>
              <a:srgbClr val="006DB8"/>
            </a:solidFill>
          </a:ln>
        </p:spPr>
      </p:sp>
      <p:sp>
        <p:nvSpPr>
          <p:cNvPr id="19" name="关系连线"/>
          <p:cNvSpPr>
            <a:spLocks noGrp="1"/>
          </p:cNvSpPr>
          <p:nvPr/>
        </p:nvSpPr>
        <p:spPr>
          <a:xfrm>
            <a:off x="1979116" y="2693194"/>
            <a:ext cx="0" cy="597991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0" name="关系连线"/>
          <p:cNvSpPr>
            <a:spLocks noGrp="1"/>
          </p:cNvSpPr>
          <p:nvPr/>
        </p:nvSpPr>
        <p:spPr>
          <a:xfrm>
            <a:off x="2186583" y="2693194"/>
            <a:ext cx="0" cy="597991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1" name="关系连线"/>
          <p:cNvSpPr>
            <a:spLocks noGrp="1"/>
          </p:cNvSpPr>
          <p:nvPr/>
        </p:nvSpPr>
        <p:spPr>
          <a:xfrm>
            <a:off x="1771650" y="2992189"/>
            <a:ext cx="622399" cy="0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2" name="卫星矢量太阳翼"/>
          <p:cNvSpPr>
            <a:spLocks noGrp="1"/>
          </p:cNvSpPr>
          <p:nvPr/>
        </p:nvSpPr>
        <p:spPr>
          <a:xfrm>
            <a:off x="3101876" y="2693194"/>
            <a:ext cx="622399" cy="597991"/>
          </a:xfrm>
          <a:prstGeom prst="rect">
            <a:avLst/>
          </a:prstGeom>
          <a:solidFill>
            <a:srgbClr val="EFF6FF"/>
          </a:solidFill>
          <a:ln w="24408">
            <a:solidFill>
              <a:srgbClr val="006DB8"/>
            </a:solidFill>
          </a:ln>
        </p:spPr>
      </p:sp>
      <p:sp>
        <p:nvSpPr>
          <p:cNvPr id="23" name="关系连线"/>
          <p:cNvSpPr>
            <a:spLocks noGrp="1"/>
          </p:cNvSpPr>
          <p:nvPr/>
        </p:nvSpPr>
        <p:spPr>
          <a:xfrm>
            <a:off x="3309342" y="2693194"/>
            <a:ext cx="0" cy="597991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4" name="关系连线"/>
          <p:cNvSpPr>
            <a:spLocks noGrp="1"/>
          </p:cNvSpPr>
          <p:nvPr/>
        </p:nvSpPr>
        <p:spPr>
          <a:xfrm>
            <a:off x="3516809" y="2693194"/>
            <a:ext cx="0" cy="597991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5" name="关系连线"/>
          <p:cNvSpPr>
            <a:spLocks noGrp="1"/>
          </p:cNvSpPr>
          <p:nvPr/>
        </p:nvSpPr>
        <p:spPr>
          <a:xfrm>
            <a:off x="3101876" y="2992189"/>
            <a:ext cx="622399" cy="0"/>
          </a:xfrm>
          <a:prstGeom prst="line">
            <a:avLst/>
          </a:prstGeom>
          <a:noFill/>
          <a:ln w="12204">
            <a:solidFill>
              <a:srgbClr val="006DB8"/>
            </a:solidFill>
            <a:prstDash val="solid"/>
          </a:ln>
        </p:spPr>
      </p:sp>
      <p:sp>
        <p:nvSpPr>
          <p:cNvPr id="26" name="卫星矢量主体"/>
          <p:cNvSpPr>
            <a:spLocks noGrp="1"/>
          </p:cNvSpPr>
          <p:nvPr/>
        </p:nvSpPr>
        <p:spPr>
          <a:xfrm>
            <a:off x="2491680" y="2595563"/>
            <a:ext cx="512564" cy="793254"/>
          </a:xfrm>
          <a:prstGeom prst="rect">
            <a:avLst/>
          </a:prstGeom>
          <a:solidFill>
            <a:srgbClr val="B39B77"/>
          </a:solidFill>
          <a:ln w="29289">
            <a:solidFill>
              <a:srgbClr val="006DB8"/>
            </a:solidFill>
          </a:ln>
        </p:spPr>
      </p:sp>
      <p:sp>
        <p:nvSpPr>
          <p:cNvPr id="27" name="卫星矢量载荷"/>
          <p:cNvSpPr>
            <a:spLocks noGrp="1"/>
          </p:cNvSpPr>
          <p:nvPr/>
        </p:nvSpPr>
        <p:spPr>
          <a:xfrm>
            <a:off x="2564904" y="2729805"/>
            <a:ext cx="366117" cy="21967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8" name="关系连线"/>
          <p:cNvSpPr>
            <a:spLocks noGrp="1"/>
          </p:cNvSpPr>
          <p:nvPr/>
        </p:nvSpPr>
        <p:spPr>
          <a:xfrm>
            <a:off x="2747963" y="2388096"/>
            <a:ext cx="0" cy="207466"/>
          </a:xfrm>
          <a:prstGeom prst="line">
            <a:avLst/>
          </a:prstGeom>
          <a:noFill/>
          <a:ln w="24408">
            <a:solidFill>
              <a:srgbClr val="006DB8"/>
            </a:solidFill>
            <a:prstDash val="solid"/>
          </a:ln>
        </p:spPr>
      </p:sp>
      <p:sp>
        <p:nvSpPr>
          <p:cNvPr id="29" name="流程编号"/>
          <p:cNvSpPr>
            <a:spLocks noGrp="1"/>
          </p:cNvSpPr>
          <p:nvPr/>
        </p:nvSpPr>
        <p:spPr>
          <a:xfrm>
            <a:off x="2699147" y="2302669"/>
            <a:ext cx="97631" cy="97631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30" name="矢量图形"/>
          <p:cNvSpPr>
            <a:spLocks noGrp="1"/>
          </p:cNvSpPr>
          <p:nvPr/>
        </p:nvSpPr>
        <p:spPr>
          <a:xfrm>
            <a:off x="2552700" y="2144018"/>
            <a:ext cx="390525" cy="244078"/>
          </a:xfrm>
          <a:custGeom>
            <a:avLst/>
            <a:gdLst/>
            <a:ahLst/>
            <a:cxnLst/>
            <a:pathLst>
              <a:path w="390525" h="244078">
                <a:moveTo>
                  <a:pt x="0" y="244078"/>
                </a:moveTo>
                <a:quadBezTo>
                  <a:pt x="195263" y="0"/>
                  <a:pt x="390525" y="244078"/>
                </a:quadBezTo>
              </a:path>
            </a:pathLst>
          </a:custGeom>
          <a:noFill/>
          <a:ln w="24408">
            <a:solidFill>
              <a:srgbClr val="006DB8"/>
            </a:solidFill>
          </a:ln>
        </p:spPr>
      </p:sp>
      <p:sp>
        <p:nvSpPr>
          <p:cNvPr id="31" name="关系连线"/>
          <p:cNvSpPr>
            <a:spLocks noGrp="1"/>
          </p:cNvSpPr>
          <p:nvPr/>
        </p:nvSpPr>
        <p:spPr>
          <a:xfrm>
            <a:off x="2747963" y="3388816"/>
            <a:ext cx="0" cy="195263"/>
          </a:xfrm>
          <a:prstGeom prst="line">
            <a:avLst/>
          </a:prstGeom>
          <a:noFill/>
          <a:ln w="24408">
            <a:solidFill>
              <a:srgbClr val="006DB8"/>
            </a:solidFill>
            <a:prstDash val="solid"/>
          </a:ln>
        </p:spPr>
      </p:sp>
      <p:sp>
        <p:nvSpPr>
          <p:cNvPr id="32" name="地面站矢量天线"/>
          <p:cNvSpPr>
            <a:spLocks noGrp="1"/>
          </p:cNvSpPr>
          <p:nvPr/>
        </p:nvSpPr>
        <p:spPr>
          <a:xfrm>
            <a:off x="8643736" y="2383396"/>
            <a:ext cx="1110937" cy="830151"/>
          </a:xfrm>
          <a:custGeom>
            <a:avLst/>
            <a:gdLst/>
            <a:ahLst/>
            <a:cxnLst/>
            <a:pathLst>
              <a:path w="1110937" h="830151">
                <a:moveTo>
                  <a:pt x="0" y="0"/>
                </a:moveTo>
                <a:quadBezTo>
                  <a:pt x="0" y="805735"/>
                  <a:pt x="830151" y="830151"/>
                </a:quadBezTo>
                <a:lnTo>
                  <a:pt x="1110937" y="549364"/>
                </a:lnTo>
                <a:close/>
              </a:path>
            </a:pathLst>
          </a:custGeom>
          <a:solidFill>
            <a:srgbClr val="EFF6FF"/>
          </a:solidFill>
          <a:ln w="36624">
            <a:solidFill>
              <a:srgbClr val="006DB8"/>
            </a:solidFill>
          </a:ln>
        </p:spPr>
      </p:sp>
      <p:sp>
        <p:nvSpPr>
          <p:cNvPr id="33" name="关系连线"/>
          <p:cNvSpPr>
            <a:spLocks noGrp="1"/>
          </p:cNvSpPr>
          <p:nvPr/>
        </p:nvSpPr>
        <p:spPr>
          <a:xfrm flipV="1">
            <a:off x="8948939" y="2444437"/>
            <a:ext cx="622613" cy="512740"/>
          </a:xfrm>
          <a:prstGeom prst="line">
            <a:avLst/>
          </a:prstGeom>
          <a:noFill/>
          <a:ln w="36624">
            <a:solidFill>
              <a:srgbClr val="006DB8"/>
            </a:solidFill>
            <a:prstDash val="solid"/>
          </a:ln>
        </p:spPr>
      </p:sp>
      <p:sp>
        <p:nvSpPr>
          <p:cNvPr id="34" name="流程编号"/>
          <p:cNvSpPr>
            <a:spLocks noGrp="1"/>
          </p:cNvSpPr>
          <p:nvPr/>
        </p:nvSpPr>
        <p:spPr>
          <a:xfrm>
            <a:off x="9522719" y="2383396"/>
            <a:ext cx="109873" cy="109873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35" name="关系连线"/>
          <p:cNvSpPr>
            <a:spLocks noGrp="1"/>
          </p:cNvSpPr>
          <p:nvPr/>
        </p:nvSpPr>
        <p:spPr>
          <a:xfrm flipH="1">
            <a:off x="8948939" y="3213547"/>
            <a:ext cx="244162" cy="488324"/>
          </a:xfrm>
          <a:prstGeom prst="line">
            <a:avLst/>
          </a:prstGeom>
          <a:noFill/>
          <a:ln w="48832">
            <a:solidFill>
              <a:srgbClr val="006DB8"/>
            </a:solidFill>
            <a:prstDash val="solid"/>
          </a:ln>
        </p:spPr>
      </p:sp>
      <p:sp>
        <p:nvSpPr>
          <p:cNvPr id="36" name="关系连线"/>
          <p:cNvSpPr>
            <a:spLocks noGrp="1"/>
          </p:cNvSpPr>
          <p:nvPr/>
        </p:nvSpPr>
        <p:spPr>
          <a:xfrm>
            <a:off x="9217517" y="3225755"/>
            <a:ext cx="280786" cy="476116"/>
          </a:xfrm>
          <a:prstGeom prst="line">
            <a:avLst/>
          </a:prstGeom>
          <a:noFill/>
          <a:ln w="48832">
            <a:solidFill>
              <a:srgbClr val="006DB8"/>
            </a:solidFill>
            <a:prstDash val="solid"/>
          </a:ln>
        </p:spPr>
      </p:sp>
      <p:sp>
        <p:nvSpPr>
          <p:cNvPr id="37" name="关系连线"/>
          <p:cNvSpPr>
            <a:spLocks noGrp="1"/>
          </p:cNvSpPr>
          <p:nvPr/>
        </p:nvSpPr>
        <p:spPr>
          <a:xfrm>
            <a:off x="8716985" y="3738495"/>
            <a:ext cx="1074313" cy="0"/>
          </a:xfrm>
          <a:prstGeom prst="line">
            <a:avLst/>
          </a:prstGeom>
          <a:noFill/>
          <a:ln w="48832">
            <a:solidFill>
              <a:srgbClr val="006DB8"/>
            </a:solidFill>
            <a:prstDash val="solid"/>
          </a:ln>
        </p:spPr>
      </p:sp>
      <p:sp>
        <p:nvSpPr>
          <p:cNvPr id="38" name="关系连线"/>
          <p:cNvSpPr>
            <a:spLocks noGrp="1"/>
          </p:cNvSpPr>
          <p:nvPr/>
        </p:nvSpPr>
        <p:spPr>
          <a:xfrm>
            <a:off x="4000500" y="3095625"/>
            <a:ext cx="3876675" cy="0"/>
          </a:xfrm>
          <a:prstGeom prst="line">
            <a:avLst/>
          </a:prstGeom>
          <a:noFill/>
          <a:ln w="28575">
            <a:solidFill>
              <a:srgbClr val="B39B77"/>
            </a:solidFill>
            <a:prstDash val="dash"/>
          </a:ln>
        </p:spPr>
      </p:sp>
      <p:sp>
        <p:nvSpPr>
          <p:cNvPr id="39" name="通信链路"/>
          <p:cNvSpPr>
            <a:spLocks noGrp="1"/>
          </p:cNvSpPr>
          <p:nvPr/>
        </p:nvSpPr>
        <p:spPr>
          <a:xfrm>
            <a:off x="5162550" y="26193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通信链路</a:t>
            </a:r>
            <a:endParaRPr sz="1950" b="1">
              <a:solidFill>
                <a:srgbClr val="9967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0" name="卫星"/>
          <p:cNvSpPr>
            <a:spLocks noGrp="1"/>
          </p:cNvSpPr>
          <p:nvPr/>
        </p:nvSpPr>
        <p:spPr>
          <a:xfrm>
            <a:off x="1495425" y="38576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</a:t>
            </a:r>
            <a:endParaRPr sz="225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查相关指标和告警"/>
          <p:cNvSpPr>
            <a:spLocks noGrp="1"/>
          </p:cNvSpPr>
          <p:nvPr/>
        </p:nvSpPr>
        <p:spPr>
          <a:xfrm>
            <a:off x="1133475" y="4410075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查相关指标和告警</a:t>
            </a:r>
            <a:endParaRPr sz="1875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2" name="地面站"/>
          <p:cNvSpPr>
            <a:spLocks noGrp="1"/>
          </p:cNvSpPr>
          <p:nvPr/>
        </p:nvSpPr>
        <p:spPr>
          <a:xfrm>
            <a:off x="7943850" y="40481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地面站</a:t>
            </a:r>
            <a:endParaRPr sz="225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查站点状态和告警"/>
          <p:cNvSpPr>
            <a:spLocks noGrp="1"/>
          </p:cNvSpPr>
          <p:nvPr/>
        </p:nvSpPr>
        <p:spPr>
          <a:xfrm>
            <a:off x="7581900" y="4600575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查站点状态和告警</a:t>
            </a:r>
            <a:endParaRPr sz="1875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4" name="关系连线"/>
          <p:cNvSpPr>
            <a:spLocks noGrp="1"/>
          </p:cNvSpPr>
          <p:nvPr/>
        </p:nvSpPr>
        <p:spPr>
          <a:xfrm>
            <a:off x="609600" y="5181600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45" name="排查范围"/>
          <p:cNvSpPr>
            <a:spLocks noGrp="1"/>
          </p:cNvSpPr>
          <p:nvPr/>
        </p:nvSpPr>
        <p:spPr>
          <a:xfrm>
            <a:off x="609600" y="55054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排查范围</a:t>
            </a:r>
            <a:endParaRPr sz="20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6" name="首版只查异常路由上的相关对象"/>
          <p:cNvSpPr>
            <a:spLocks noGrp="1"/>
          </p:cNvSpPr>
          <p:nvPr/>
        </p:nvSpPr>
        <p:spPr>
          <a:xfrm>
            <a:off x="2628900" y="5486400"/>
            <a:ext cx="8953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首版只查异常路由上的相关对象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缺少某一侧的数据，就保留该侧的可能性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7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48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9" name="06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卫星场景本体：对象、关系</a:t>
            </a:r>
            <a:endParaRPr sz="1100"/>
          </a:p>
        </p:txBody>
      </p:sp>
      <p:sp>
        <p:nvSpPr>
          <p:cNvPr id="16" name="一个人负责关系和流程，一个人负责数据与页面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以“对象—关系—事件—证据”组织可追溯的时序知识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成员 A：关系和流程"/>
          <p:cNvSpPr>
            <a:spLocks noGrp="1"/>
          </p:cNvSpPr>
          <p:nvPr/>
        </p:nvSpPr>
        <p:spPr>
          <a:xfrm>
            <a:off x="609600" y="2228850"/>
            <a:ext cx="5086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本体对象与关系</a:t>
            </a:r>
            <a:endParaRPr sz="23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关系连线"/>
          <p:cNvSpPr>
            <a:spLocks noGrp="1"/>
          </p:cNvSpPr>
          <p:nvPr/>
        </p:nvSpPr>
        <p:spPr>
          <a:xfrm>
            <a:off x="609600" y="2847975"/>
            <a:ext cx="5086350" cy="0"/>
          </a:xfrm>
          <a:prstGeom prst="line">
            <a:avLst/>
          </a:prstGeom>
          <a:noFill/>
          <a:ln w="28575">
            <a:solidFill>
              <a:srgbClr val="B39B77"/>
            </a:solidFill>
            <a:prstDash val="solid"/>
          </a:ln>
        </p:spPr>
      </p:sp>
      <p:sp>
        <p:nvSpPr>
          <p:cNvPr id="19" name="整理卫星与地面站的关系"/>
          <p:cNvSpPr>
            <a:spLocks noGrp="1"/>
          </p:cNvSpPr>
          <p:nvPr/>
        </p:nvSpPr>
        <p:spPr>
          <a:xfrm>
            <a:off x="609600" y="3190875"/>
            <a:ext cx="5086350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 SAT-20、SAT-21；地面站 GS-01、GS-02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路由/业务由卫星与链路承载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关系记录有效起止时间与来源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成员 B：数据和页面"/>
          <p:cNvSpPr>
            <a:spLocks noGrp="1"/>
          </p:cNvSpPr>
          <p:nvPr/>
        </p:nvSpPr>
        <p:spPr>
          <a:xfrm>
            <a:off x="6496050" y="2228850"/>
            <a:ext cx="5086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</a:t>
            </a:r>
            <a:endParaRPr sz="23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关系连线"/>
          <p:cNvSpPr>
            <a:spLocks noGrp="1"/>
          </p:cNvSpPr>
          <p:nvPr/>
        </p:nvSpPr>
        <p:spPr>
          <a:xfrm>
            <a:off x="6496050" y="2847975"/>
            <a:ext cx="5086350" cy="0"/>
          </a:xfrm>
          <a:prstGeom prst="line">
            <a:avLst/>
          </a:prstGeom>
          <a:noFill/>
          <a:ln w="28575">
            <a:solidFill>
              <a:srgbClr val="B39B77"/>
            </a:solidFill>
            <a:prstDash val="solid"/>
          </a:ln>
        </p:spPr>
      </p:sp>
      <p:sp>
        <p:nvSpPr>
          <p:cNvPr id="22" name="整理指标、路由和告警"/>
          <p:cNvSpPr>
            <a:spLocks noGrp="1"/>
          </p:cNvSpPr>
          <p:nvPr/>
        </p:nvSpPr>
        <p:spPr>
          <a:xfrm>
            <a:off x="6496050" y="3190875"/>
            <a:ext cx="5086350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指标异常：可用度、时延、丢包等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告警、路由切换、配置/资源变更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按对象ID与时间窗对齐，记录证据出处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一起完成：用同一个已知故障案例跑通流程，核对结果。"/>
          <p:cNvSpPr>
            <a:spLocks noGrp="1"/>
          </p:cNvSpPr>
          <p:nvPr/>
        </p:nvSpPr>
        <p:spPr>
          <a:xfrm>
            <a:off x="609600" y="57912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示例对象名沿用项目演示设定；本体关系应按真实拓扑、任务和数据字典校准。</a:t>
            </a:r>
            <a:endParaRPr sz="20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5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13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分析思路：如何区分卫星与地面站</a:t>
            </a:r>
            <a:endParaRPr sz="1100"/>
          </a:p>
        </p:txBody>
      </p:sp>
      <p:sp>
        <p:nvSpPr>
          <p:cNvPr id="16" name="假设示例：比较同一时段、条件相近的已有路由记录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假设示例：先看共同经过哪里，再比较同一时段、条件相近的路由记录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关系连线"/>
          <p:cNvSpPr>
            <a:spLocks noGrp="1"/>
          </p:cNvSpPr>
          <p:nvPr/>
        </p:nvSpPr>
        <p:spPr>
          <a:xfrm>
            <a:off x="1557338" y="3028950"/>
            <a:ext cx="1285875" cy="0"/>
          </a:xfrm>
          <a:prstGeom prst="line">
            <a:avLst/>
          </a:prstGeom>
          <a:noFill/>
          <a:ln w="32147">
            <a:solidFill>
              <a:srgbClr val="006DB8"/>
            </a:solidFill>
            <a:prstDash val="solid"/>
          </a:ln>
        </p:spPr>
      </p:sp>
      <p:sp>
        <p:nvSpPr>
          <p:cNvPr id="18" name="卫星矢量太阳翼"/>
          <p:cNvSpPr>
            <a:spLocks noGrp="1"/>
          </p:cNvSpPr>
          <p:nvPr/>
        </p:nvSpPr>
        <p:spPr>
          <a:xfrm>
            <a:off x="1343025" y="2771775"/>
            <a:ext cx="546497" cy="525066"/>
          </a:xfrm>
          <a:prstGeom prst="rect">
            <a:avLst/>
          </a:prstGeom>
          <a:solidFill>
            <a:srgbClr val="EFF6FF"/>
          </a:solidFill>
          <a:ln w="21431">
            <a:solidFill>
              <a:srgbClr val="006DB8"/>
            </a:solidFill>
          </a:ln>
        </p:spPr>
      </p:sp>
      <p:sp>
        <p:nvSpPr>
          <p:cNvPr id="19" name="关系连线"/>
          <p:cNvSpPr>
            <a:spLocks noGrp="1"/>
          </p:cNvSpPr>
          <p:nvPr/>
        </p:nvSpPr>
        <p:spPr>
          <a:xfrm>
            <a:off x="1525191" y="2771775"/>
            <a:ext cx="0" cy="525066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0" name="关系连线"/>
          <p:cNvSpPr>
            <a:spLocks noGrp="1"/>
          </p:cNvSpPr>
          <p:nvPr/>
        </p:nvSpPr>
        <p:spPr>
          <a:xfrm>
            <a:off x="1707356" y="2771775"/>
            <a:ext cx="0" cy="525066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1" name="关系连线"/>
          <p:cNvSpPr>
            <a:spLocks noGrp="1"/>
          </p:cNvSpPr>
          <p:nvPr/>
        </p:nvSpPr>
        <p:spPr>
          <a:xfrm>
            <a:off x="1343025" y="3034308"/>
            <a:ext cx="546497" cy="0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2" name="卫星矢量太阳翼"/>
          <p:cNvSpPr>
            <a:spLocks noGrp="1"/>
          </p:cNvSpPr>
          <p:nvPr/>
        </p:nvSpPr>
        <p:spPr>
          <a:xfrm>
            <a:off x="2511028" y="2771775"/>
            <a:ext cx="546497" cy="525066"/>
          </a:xfrm>
          <a:prstGeom prst="rect">
            <a:avLst/>
          </a:prstGeom>
          <a:solidFill>
            <a:srgbClr val="EFF6FF"/>
          </a:solidFill>
          <a:ln w="21431">
            <a:solidFill>
              <a:srgbClr val="006DB8"/>
            </a:solidFill>
          </a:ln>
        </p:spPr>
      </p:sp>
      <p:sp>
        <p:nvSpPr>
          <p:cNvPr id="23" name="关系连线"/>
          <p:cNvSpPr>
            <a:spLocks noGrp="1"/>
          </p:cNvSpPr>
          <p:nvPr/>
        </p:nvSpPr>
        <p:spPr>
          <a:xfrm>
            <a:off x="2693194" y="2771775"/>
            <a:ext cx="0" cy="525066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4" name="关系连线"/>
          <p:cNvSpPr>
            <a:spLocks noGrp="1"/>
          </p:cNvSpPr>
          <p:nvPr/>
        </p:nvSpPr>
        <p:spPr>
          <a:xfrm>
            <a:off x="2875359" y="2771775"/>
            <a:ext cx="0" cy="525066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5" name="关系连线"/>
          <p:cNvSpPr>
            <a:spLocks noGrp="1"/>
          </p:cNvSpPr>
          <p:nvPr/>
        </p:nvSpPr>
        <p:spPr>
          <a:xfrm>
            <a:off x="2511028" y="3034308"/>
            <a:ext cx="546497" cy="0"/>
          </a:xfrm>
          <a:prstGeom prst="line">
            <a:avLst/>
          </a:prstGeom>
          <a:noFill/>
          <a:ln w="10716">
            <a:solidFill>
              <a:srgbClr val="006DB8"/>
            </a:solidFill>
            <a:prstDash val="solid"/>
          </a:ln>
        </p:spPr>
      </p:sp>
      <p:sp>
        <p:nvSpPr>
          <p:cNvPr id="26" name="卫星矢量主体"/>
          <p:cNvSpPr>
            <a:spLocks noGrp="1"/>
          </p:cNvSpPr>
          <p:nvPr/>
        </p:nvSpPr>
        <p:spPr>
          <a:xfrm>
            <a:off x="1975247" y="2686050"/>
            <a:ext cx="450056" cy="696516"/>
          </a:xfrm>
          <a:prstGeom prst="rect">
            <a:avLst/>
          </a:prstGeom>
          <a:solidFill>
            <a:srgbClr val="B39B77"/>
          </a:solidFill>
          <a:ln w="25717">
            <a:solidFill>
              <a:srgbClr val="006DB8"/>
            </a:solidFill>
          </a:ln>
        </p:spPr>
      </p:sp>
      <p:sp>
        <p:nvSpPr>
          <p:cNvPr id="27" name="卫星矢量载荷"/>
          <p:cNvSpPr>
            <a:spLocks noGrp="1"/>
          </p:cNvSpPr>
          <p:nvPr/>
        </p:nvSpPr>
        <p:spPr>
          <a:xfrm>
            <a:off x="2039541" y="2803922"/>
            <a:ext cx="321469" cy="192881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8" name="关系连线"/>
          <p:cNvSpPr>
            <a:spLocks noGrp="1"/>
          </p:cNvSpPr>
          <p:nvPr/>
        </p:nvSpPr>
        <p:spPr>
          <a:xfrm>
            <a:off x="2200275" y="2503884"/>
            <a:ext cx="0" cy="182166"/>
          </a:xfrm>
          <a:prstGeom prst="line">
            <a:avLst/>
          </a:prstGeom>
          <a:noFill/>
          <a:ln w="21431">
            <a:solidFill>
              <a:srgbClr val="006DB8"/>
            </a:solidFill>
            <a:prstDash val="solid"/>
          </a:ln>
        </p:spPr>
      </p:sp>
      <p:sp>
        <p:nvSpPr>
          <p:cNvPr id="29" name="流程编号"/>
          <p:cNvSpPr>
            <a:spLocks noGrp="1"/>
          </p:cNvSpPr>
          <p:nvPr/>
        </p:nvSpPr>
        <p:spPr>
          <a:xfrm>
            <a:off x="2157413" y="2428875"/>
            <a:ext cx="85725" cy="85725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30" name="矢量图形"/>
          <p:cNvSpPr>
            <a:spLocks noGrp="1"/>
          </p:cNvSpPr>
          <p:nvPr/>
        </p:nvSpPr>
        <p:spPr>
          <a:xfrm>
            <a:off x="2028825" y="2289572"/>
            <a:ext cx="342900" cy="214313"/>
          </a:xfrm>
          <a:custGeom>
            <a:avLst/>
            <a:gdLst/>
            <a:ahLst/>
            <a:cxnLst/>
            <a:pathLst>
              <a:path w="342900" h="214313">
                <a:moveTo>
                  <a:pt x="0" y="214313"/>
                </a:moveTo>
                <a:quadBezTo>
                  <a:pt x="171450" y="0"/>
                  <a:pt x="342900" y="214313"/>
                </a:quadBezTo>
              </a:path>
            </a:pathLst>
          </a:custGeom>
          <a:noFill/>
          <a:ln w="21431">
            <a:solidFill>
              <a:srgbClr val="006DB8"/>
            </a:solidFill>
          </a:ln>
        </p:spPr>
      </p:sp>
      <p:sp>
        <p:nvSpPr>
          <p:cNvPr id="31" name="关系连线"/>
          <p:cNvSpPr>
            <a:spLocks noGrp="1"/>
          </p:cNvSpPr>
          <p:nvPr/>
        </p:nvSpPr>
        <p:spPr>
          <a:xfrm>
            <a:off x="2200275" y="3382566"/>
            <a:ext cx="0" cy="171450"/>
          </a:xfrm>
          <a:prstGeom prst="line">
            <a:avLst/>
          </a:prstGeom>
          <a:noFill/>
          <a:ln w="21431">
            <a:solidFill>
              <a:srgbClr val="006DB8"/>
            </a:solidFill>
            <a:prstDash val="solid"/>
          </a:ln>
        </p:spPr>
      </p:sp>
      <p:sp>
        <p:nvSpPr>
          <p:cNvPr id="32" name="共同经过 SAT-20"/>
          <p:cNvSpPr>
            <a:spLocks noGrp="1"/>
          </p:cNvSpPr>
          <p:nvPr/>
        </p:nvSpPr>
        <p:spPr>
          <a:xfrm>
            <a:off x="819150" y="3743325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共同经过 SAT-20</a:t>
            </a:r>
            <a:endParaRPr sz="2025" b="1">
              <a:solidFill>
                <a:srgbClr val="9967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33" name="执行方向"/>
          <p:cNvCxnSpPr/>
          <p:nvPr/>
        </p:nvCxnSpPr>
        <p:spPr>
          <a:xfrm flipV="1">
            <a:off x="3257550" y="2466975"/>
            <a:ext cx="1295400" cy="647700"/>
          </a:xfrm>
          <a:prstGeom prst="straightConnector1">
            <a:avLst/>
          </a:prstGeom>
          <a:ln w="23813">
            <a:solidFill>
              <a:srgbClr val="B39B77"/>
            </a:solidFill>
            <a:tailEnd type="triangle" w="med" len="med"/>
          </a:ln>
        </p:spPr>
      </p:cxnSp>
      <p:cxnSp>
        <p:nvCxnSpPr>
          <p:cNvPr id="34" name="执行方向"/>
          <p:cNvCxnSpPr/>
          <p:nvPr/>
        </p:nvCxnSpPr>
        <p:spPr>
          <a:xfrm>
            <a:off x="3257550" y="3114675"/>
            <a:ext cx="1295400" cy="781050"/>
          </a:xfrm>
          <a:prstGeom prst="straightConnector1">
            <a:avLst/>
          </a:prstGeom>
          <a:ln w="23813">
            <a:solidFill>
              <a:srgbClr val="B39B77"/>
            </a:solidFill>
            <a:tailEnd type="triangle" w="med" len="med"/>
          </a:ln>
        </p:spPr>
      </p:cxnSp>
      <p:sp>
        <p:nvSpPr>
          <p:cNvPr id="35" name="地面站矢量天线"/>
          <p:cNvSpPr>
            <a:spLocks noGrp="1"/>
          </p:cNvSpPr>
          <p:nvPr/>
        </p:nvSpPr>
        <p:spPr>
          <a:xfrm>
            <a:off x="4693611" y="2066724"/>
            <a:ext cx="518844" cy="387708"/>
          </a:xfrm>
          <a:custGeom>
            <a:avLst/>
            <a:gdLst/>
            <a:ahLst/>
            <a:cxnLst/>
            <a:pathLst>
              <a:path w="518844" h="387708">
                <a:moveTo>
                  <a:pt x="0" y="0"/>
                </a:moveTo>
                <a:quadBezTo>
                  <a:pt x="0" y="376305"/>
                  <a:pt x="387708" y="387708"/>
                </a:quadBezTo>
                <a:lnTo>
                  <a:pt x="518844" y="256571"/>
                </a:lnTo>
                <a:close/>
              </a:path>
            </a:pathLst>
          </a:custGeom>
          <a:solidFill>
            <a:srgbClr val="EFF6FF"/>
          </a:solidFill>
          <a:ln w="17105">
            <a:solidFill>
              <a:srgbClr val="006DB8"/>
            </a:solidFill>
          </a:ln>
        </p:spPr>
      </p:sp>
      <p:sp>
        <p:nvSpPr>
          <p:cNvPr id="36" name="关系连线"/>
          <p:cNvSpPr>
            <a:spLocks noGrp="1"/>
          </p:cNvSpPr>
          <p:nvPr/>
        </p:nvSpPr>
        <p:spPr>
          <a:xfrm flipV="1">
            <a:off x="4836151" y="2095232"/>
            <a:ext cx="290781" cy="239467"/>
          </a:xfrm>
          <a:prstGeom prst="line">
            <a:avLst/>
          </a:prstGeom>
          <a:noFill/>
          <a:ln w="17105">
            <a:solidFill>
              <a:srgbClr val="006DB8"/>
            </a:solidFill>
            <a:prstDash val="solid"/>
          </a:ln>
        </p:spPr>
      </p:sp>
      <p:sp>
        <p:nvSpPr>
          <p:cNvPr id="37" name="流程编号"/>
          <p:cNvSpPr>
            <a:spLocks noGrp="1"/>
          </p:cNvSpPr>
          <p:nvPr/>
        </p:nvSpPr>
        <p:spPr>
          <a:xfrm>
            <a:off x="5104126" y="2066724"/>
            <a:ext cx="51314" cy="51314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38" name="关系连线"/>
          <p:cNvSpPr>
            <a:spLocks noGrp="1"/>
          </p:cNvSpPr>
          <p:nvPr/>
        </p:nvSpPr>
        <p:spPr>
          <a:xfrm flipH="1">
            <a:off x="4836151" y="2454432"/>
            <a:ext cx="114032" cy="228063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39" name="关系连线"/>
          <p:cNvSpPr>
            <a:spLocks noGrp="1"/>
          </p:cNvSpPr>
          <p:nvPr/>
        </p:nvSpPr>
        <p:spPr>
          <a:xfrm>
            <a:off x="4961586" y="2460133"/>
            <a:ext cx="131136" cy="222362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40" name="关系连线"/>
          <p:cNvSpPr>
            <a:spLocks noGrp="1"/>
          </p:cNvSpPr>
          <p:nvPr/>
        </p:nvSpPr>
        <p:spPr>
          <a:xfrm>
            <a:off x="4727821" y="2699600"/>
            <a:ext cx="501739" cy="0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41" name="地面站矢量天线"/>
          <p:cNvSpPr>
            <a:spLocks noGrp="1"/>
          </p:cNvSpPr>
          <p:nvPr/>
        </p:nvSpPr>
        <p:spPr>
          <a:xfrm>
            <a:off x="4693611" y="3495474"/>
            <a:ext cx="518844" cy="387708"/>
          </a:xfrm>
          <a:custGeom>
            <a:avLst/>
            <a:gdLst/>
            <a:ahLst/>
            <a:cxnLst/>
            <a:pathLst>
              <a:path w="518844" h="387708">
                <a:moveTo>
                  <a:pt x="0" y="0"/>
                </a:moveTo>
                <a:quadBezTo>
                  <a:pt x="0" y="376305"/>
                  <a:pt x="387708" y="387708"/>
                </a:quadBezTo>
                <a:lnTo>
                  <a:pt x="518844" y="256571"/>
                </a:lnTo>
                <a:close/>
              </a:path>
            </a:pathLst>
          </a:custGeom>
          <a:solidFill>
            <a:srgbClr val="EFF6FF"/>
          </a:solidFill>
          <a:ln w="17105">
            <a:solidFill>
              <a:srgbClr val="006DB8"/>
            </a:solidFill>
          </a:ln>
        </p:spPr>
      </p:sp>
      <p:sp>
        <p:nvSpPr>
          <p:cNvPr id="42" name="关系连线"/>
          <p:cNvSpPr>
            <a:spLocks noGrp="1"/>
          </p:cNvSpPr>
          <p:nvPr/>
        </p:nvSpPr>
        <p:spPr>
          <a:xfrm flipV="1">
            <a:off x="4836151" y="3523982"/>
            <a:ext cx="290781" cy="239467"/>
          </a:xfrm>
          <a:prstGeom prst="line">
            <a:avLst/>
          </a:prstGeom>
          <a:noFill/>
          <a:ln w="17105">
            <a:solidFill>
              <a:srgbClr val="006DB8"/>
            </a:solidFill>
            <a:prstDash val="solid"/>
          </a:ln>
        </p:spPr>
      </p:sp>
      <p:sp>
        <p:nvSpPr>
          <p:cNvPr id="43" name="流程编号"/>
          <p:cNvSpPr>
            <a:spLocks noGrp="1"/>
          </p:cNvSpPr>
          <p:nvPr/>
        </p:nvSpPr>
        <p:spPr>
          <a:xfrm>
            <a:off x="5104126" y="3495474"/>
            <a:ext cx="51314" cy="51314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44" name="关系连线"/>
          <p:cNvSpPr>
            <a:spLocks noGrp="1"/>
          </p:cNvSpPr>
          <p:nvPr/>
        </p:nvSpPr>
        <p:spPr>
          <a:xfrm flipH="1">
            <a:off x="4836151" y="3883182"/>
            <a:ext cx="114032" cy="228063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45" name="关系连线"/>
          <p:cNvSpPr>
            <a:spLocks noGrp="1"/>
          </p:cNvSpPr>
          <p:nvPr/>
        </p:nvSpPr>
        <p:spPr>
          <a:xfrm>
            <a:off x="4961586" y="3888883"/>
            <a:ext cx="131136" cy="222362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46" name="关系连线"/>
          <p:cNvSpPr>
            <a:spLocks noGrp="1"/>
          </p:cNvSpPr>
          <p:nvPr/>
        </p:nvSpPr>
        <p:spPr>
          <a:xfrm>
            <a:off x="4727821" y="4128350"/>
            <a:ext cx="501739" cy="0"/>
          </a:xfrm>
          <a:prstGeom prst="line">
            <a:avLst/>
          </a:prstGeom>
          <a:noFill/>
          <a:ln w="22806">
            <a:solidFill>
              <a:srgbClr val="006DB8"/>
            </a:solidFill>
            <a:prstDash val="solid"/>
          </a:ln>
        </p:spPr>
      </p:sp>
      <p:sp>
        <p:nvSpPr>
          <p:cNvPr id="47" name="GS-01"/>
          <p:cNvSpPr>
            <a:spLocks noGrp="1"/>
          </p:cNvSpPr>
          <p:nvPr/>
        </p:nvSpPr>
        <p:spPr>
          <a:xfrm>
            <a:off x="4457700" y="28765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GS-01</a:t>
            </a:r>
            <a:endParaRPr sz="16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8" name="GS-02"/>
          <p:cNvSpPr>
            <a:spLocks noGrp="1"/>
          </p:cNvSpPr>
          <p:nvPr/>
        </p:nvSpPr>
        <p:spPr>
          <a:xfrm>
            <a:off x="4457700" y="430530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GS-02</a:t>
            </a:r>
            <a:endParaRPr sz="16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9" name="多条异常路由共同经过这里"/>
          <p:cNvSpPr>
            <a:spLocks noGrp="1"/>
          </p:cNvSpPr>
          <p:nvPr/>
        </p:nvSpPr>
        <p:spPr>
          <a:xfrm>
            <a:off x="609600" y="4562475"/>
            <a:ext cx="4857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多条异常路由共同经过这里</a:t>
            </a:r>
            <a:endParaRPr sz="18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先把它列入候选</a:t>
            </a:r>
            <a:endParaRPr sz="18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50" name="表格 49"/>
          <p:cNvGraphicFramePr/>
          <p:nvPr/>
        </p:nvGraphicFramePr>
        <p:xfrm>
          <a:off x="5924550" y="2114550"/>
          <a:ext cx="5657850" cy="2438400"/>
        </p:xfrm>
        <a:graphic>
          <a:graphicData uri="http://schemas.openxmlformats.org/drawingml/2006/table">
            <a:tbl>
              <a:tblPr firstRow="1"/>
              <a:tblGrid>
                <a:gridCol w="2133600"/>
                <a:gridCol w="1762125"/>
                <a:gridCol w="1762125"/>
              </a:tblGrid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经过的卫星</a:t>
                      </a:r>
                      <a:endParaRPr sz="18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GS-01</a:t>
                      </a:r>
                      <a:endParaRPr sz="18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GS-02</a:t>
                      </a:r>
                      <a:endParaRPr sz="18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SAT-20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下降 9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下降 8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SAT-21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下降 0.5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下降 0.4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单位：可用度下降的百分点"/>
          <p:cNvSpPr>
            <a:spLocks noGrp="1"/>
          </p:cNvSpPr>
          <p:nvPr/>
        </p:nvSpPr>
        <p:spPr>
          <a:xfrm>
            <a:off x="5924550" y="4705350"/>
            <a:ext cx="5657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单位：可用度下降的百分点</a:t>
            </a:r>
            <a:endParaRPr sz="150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2" name="经过 SAT-20、连接不同站都变差"/>
          <p:cNvSpPr>
            <a:spLocks noGrp="1"/>
          </p:cNvSpPr>
          <p:nvPr/>
        </p:nvSpPr>
        <p:spPr>
          <a:xfrm>
            <a:off x="5924550" y="5219700"/>
            <a:ext cx="56578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经过 SAT-20、连接不同站都变差</a:t>
            </a:r>
            <a:endParaRPr sz="180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同一地面站上，经 SAT-21 的路由基本正常</a:t>
            </a:r>
            <a:endParaRPr sz="180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54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5" name="08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0" name="直接箭头连接符 29"/>
          <p:cNvCxnSpPr>
            <a:stCxn id="24" idx="3"/>
            <a:endCxn id="25" idx="1"/>
          </p:cNvCxnSpPr>
          <p:nvPr/>
        </p:nvCxnSpPr>
        <p:spPr>
          <a:xfrm>
            <a:off x="9696450" y="2686050"/>
            <a:ext cx="24765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9" name="直接箭头连接符 28"/>
          <p:cNvCxnSpPr>
            <a:stCxn id="23" idx="3"/>
            <a:endCxn id="24" idx="1"/>
          </p:cNvCxnSpPr>
          <p:nvPr/>
        </p:nvCxnSpPr>
        <p:spPr>
          <a:xfrm>
            <a:off x="7829550" y="2686050"/>
            <a:ext cx="24765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8" name="直接箭头连接符 27"/>
          <p:cNvCxnSpPr>
            <a:stCxn id="22" idx="3"/>
            <a:endCxn id="23" idx="1"/>
          </p:cNvCxnSpPr>
          <p:nvPr/>
        </p:nvCxnSpPr>
        <p:spPr>
          <a:xfrm>
            <a:off x="5962650" y="2686050"/>
            <a:ext cx="24765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7" name="直接箭头连接符 26"/>
          <p:cNvCxnSpPr>
            <a:stCxn id="21" idx="3"/>
            <a:endCxn id="22" idx="1"/>
          </p:cNvCxnSpPr>
          <p:nvPr/>
        </p:nvCxnSpPr>
        <p:spPr>
          <a:xfrm>
            <a:off x="4095750" y="2686050"/>
            <a:ext cx="24765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6" name="直接箭头连接符 25"/>
          <p:cNvCxnSpPr>
            <a:stCxn id="20" idx="3"/>
            <a:endCxn id="21" idx="1"/>
          </p:cNvCxnSpPr>
          <p:nvPr/>
        </p:nvCxnSpPr>
        <p:spPr>
          <a:xfrm>
            <a:off x="2228850" y="2686050"/>
            <a:ext cx="247650" cy="0"/>
          </a:xfrm>
          <a:prstGeom prst="straightConnector1">
            <a:avLst/>
          </a:prstGeom>
          <a:ln w="20955">
            <a:solidFill>
              <a:srgbClr val="006DB8"/>
            </a:solidFill>
            <a:prstDash val="solid"/>
            <a:tailEnd type="triangle" w="sm" len="sm"/>
          </a:ln>
        </p:spPr>
      </p:cxnSp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一次排查的处理过程</a:t>
            </a:r>
            <a:endParaRPr sz="1100"/>
          </a:p>
        </p:txBody>
      </p:sp>
      <p:sp>
        <p:nvSpPr>
          <p:cNvPr id="16" name="先生成任务骨架，执行中用候选对象填充后续查询参数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拟实现：先确定异常和候选，再补查证据、比较数据并给出排查建议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18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06 / 15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1 找异常"/>
          <p:cNvSpPr>
            <a:spLocks noGrp="1"/>
          </p:cNvSpPr>
          <p:nvPr/>
        </p:nvSpPr>
        <p:spPr>
          <a:xfrm>
            <a:off x="609600" y="2152650"/>
            <a:ext cx="1619250" cy="1066800"/>
          </a:xfrm>
          <a:prstGeom prst="rect">
            <a:avLst/>
          </a:prstGeom>
          <a:solidFill>
            <a:srgbClr val="006DB8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找异常</a:t>
            </a:r>
            <a:endParaRPr sz="17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哪些卫星下降</a:t>
            </a:r>
            <a:endParaRPr sz="17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2 找候选"/>
          <p:cNvSpPr>
            <a:spLocks noGrp="1"/>
          </p:cNvSpPr>
          <p:nvPr/>
        </p:nvSpPr>
        <p:spPr>
          <a:xfrm>
            <a:off x="2476500" y="2152650"/>
            <a:ext cx="161925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找候选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共同经过哪里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3 查证据"/>
          <p:cNvSpPr>
            <a:spLocks noGrp="1"/>
          </p:cNvSpPr>
          <p:nvPr/>
        </p:nvSpPr>
        <p:spPr>
          <a:xfrm>
            <a:off x="4343400" y="2152650"/>
            <a:ext cx="161925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查证据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指标与告警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4 做比较"/>
          <p:cNvSpPr>
            <a:spLocks noGrp="1"/>
          </p:cNvSpPr>
          <p:nvPr/>
        </p:nvSpPr>
        <p:spPr>
          <a:xfrm>
            <a:off x="6210300" y="2152650"/>
            <a:ext cx="161925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做比较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谁更值得先查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5 作判断"/>
          <p:cNvSpPr>
            <a:spLocks noGrp="1"/>
          </p:cNvSpPr>
          <p:nvPr/>
        </p:nvSpPr>
        <p:spPr>
          <a:xfrm>
            <a:off x="8077200" y="2152650"/>
            <a:ext cx="1619250" cy="106680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作判断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依据是否充分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6 出报告"/>
          <p:cNvSpPr>
            <a:spLocks noGrp="1"/>
          </p:cNvSpPr>
          <p:nvPr/>
        </p:nvSpPr>
        <p:spPr>
          <a:xfrm>
            <a:off x="9944100" y="2152650"/>
            <a:ext cx="1619250" cy="1066800"/>
          </a:xfrm>
          <a:prstGeom prst="rect">
            <a:avLst/>
          </a:prstGeom>
          <a:solidFill>
            <a:srgbClr val="F0FDF4"/>
          </a:solidFill>
          <a:ln w="14288">
            <a:solidFill>
              <a:srgbClr val="15803D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出报告</a:t>
            </a:r>
            <a:endParaRPr sz="17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建议与待查项</a:t>
            </a:r>
            <a:endParaRPr sz="17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规划阶段"/>
          <p:cNvSpPr>
            <a:spLocks noGrp="1"/>
          </p:cNvSpPr>
          <p:nvPr/>
        </p:nvSpPr>
        <p:spPr>
          <a:xfrm>
            <a:off x="609600" y="3819525"/>
            <a:ext cx="2667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流程准备</a:t>
            </a:r>
            <a:endParaRPr sz="20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目标与本体规则确定任务顺序。"/>
          <p:cNvSpPr>
            <a:spLocks noGrp="1"/>
          </p:cNvSpPr>
          <p:nvPr/>
        </p:nvSpPr>
        <p:spPr>
          <a:xfrm>
            <a:off x="609600" y="4333875"/>
            <a:ext cx="491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/ 规则确定排查步骤。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本体检查关系，系统匹配可用能力。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执行阶段"/>
          <p:cNvSpPr>
            <a:spLocks noGrp="1"/>
          </p:cNvSpPr>
          <p:nvPr/>
        </p:nvSpPr>
        <p:spPr>
          <a:xfrm>
            <a:off x="6381750" y="3819525"/>
            <a:ext cx="2667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补查哪些证据</a:t>
            </a:r>
            <a:endParaRPr sz="20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任务 2 返回 SAT-20 等候选。"/>
          <p:cNvSpPr>
            <a:spLocks noGrp="1"/>
          </p:cNvSpPr>
          <p:nvPr/>
        </p:nvSpPr>
        <p:spPr>
          <a:xfrm>
            <a:off x="6381750" y="4333875"/>
            <a:ext cx="52006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指标：候选何时变差、下降多少。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对照：相关与正常路由的指标变化。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记录：告警、变更和恢复的时间。</a:t>
            </a:r>
            <a:endParaRPr sz="180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任务流程保持固定，分析对象和查询参数随数据变化"/>
          <p:cNvSpPr>
            <a:spLocks noGrp="1"/>
          </p:cNvSpPr>
          <p:nvPr/>
        </p:nvSpPr>
        <p:spPr>
          <a:xfrm>
            <a:off x="609600" y="57721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各环节按顺序衔接，候选对象和查询条件随数据变化</a:t>
            </a:r>
            <a:endParaRPr sz="16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4" name="肘形连接符 33"/>
          <p:cNvCxnSpPr>
            <a:stCxn id="25" idx="3"/>
            <a:endCxn id="32" idx="1"/>
          </p:cNvCxnSpPr>
          <p:nvPr/>
        </p:nvCxnSpPr>
        <p:spPr>
          <a:xfrm>
            <a:off x="6334125" y="3843338"/>
            <a:ext cx="1514475" cy="966788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3" name="肘形连接符 32"/>
          <p:cNvCxnSpPr>
            <a:stCxn id="25" idx="3"/>
            <a:endCxn id="31" idx="1"/>
          </p:cNvCxnSpPr>
          <p:nvPr/>
        </p:nvCxnSpPr>
        <p:spPr>
          <a:xfrm flipV="1">
            <a:off x="6334125" y="2943225"/>
            <a:ext cx="1514475" cy="900113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24" idx="3"/>
            <a:endCxn id="25" idx="1"/>
          </p:cNvCxnSpPr>
          <p:nvPr/>
        </p:nvCxnSpPr>
        <p:spPr>
          <a:xfrm flipV="1">
            <a:off x="2371725" y="3843338"/>
            <a:ext cx="1638300" cy="1423988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23" idx="3"/>
            <a:endCxn id="25" idx="1"/>
          </p:cNvCxnSpPr>
          <p:nvPr/>
        </p:nvCxnSpPr>
        <p:spPr>
          <a:xfrm flipV="1">
            <a:off x="2371725" y="3843338"/>
            <a:ext cx="1638300" cy="690563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8" name="肘形连接符 27"/>
          <p:cNvCxnSpPr>
            <a:stCxn id="22" idx="3"/>
            <a:endCxn id="25" idx="1"/>
          </p:cNvCxnSpPr>
          <p:nvPr/>
        </p:nvCxnSpPr>
        <p:spPr>
          <a:xfrm>
            <a:off x="2371725" y="3800475"/>
            <a:ext cx="1638300" cy="42863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7" name="肘形连接符 26"/>
          <p:cNvCxnSpPr>
            <a:stCxn id="21" idx="3"/>
            <a:endCxn id="25" idx="1"/>
          </p:cNvCxnSpPr>
          <p:nvPr/>
        </p:nvCxnSpPr>
        <p:spPr>
          <a:xfrm>
            <a:off x="2371725" y="3067050"/>
            <a:ext cx="1638300" cy="776288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6" name="肘形连接符 25"/>
          <p:cNvCxnSpPr>
            <a:stCxn id="20" idx="3"/>
            <a:endCxn id="25" idx="1"/>
          </p:cNvCxnSpPr>
          <p:nvPr/>
        </p:nvCxnSpPr>
        <p:spPr>
          <a:xfrm>
            <a:off x="2371725" y="2333625"/>
            <a:ext cx="1638300" cy="1509713"/>
          </a:xfrm>
          <a:prstGeom prst="bentConnector3">
            <a:avLst>
              <a:gd name="adj1" fmla="val 50000"/>
            </a:avLst>
          </a:prstGeom>
          <a:ln w="20955">
            <a:solidFill>
              <a:srgbClr val="64748B"/>
            </a:solidFill>
            <a:prstDash val="solid"/>
            <a:tailEnd type="triangle" w="sm" len="sm"/>
          </a:ln>
        </p:spPr>
      </p:cxnSp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发现异常与共同经过的对象</a:t>
            </a:r>
            <a:endParaRPr sz="1100"/>
          </a:p>
        </p:txBody>
      </p:sp>
      <p:sp>
        <p:nvSpPr>
          <p:cNvPr id="16" name="共同路径提供排查入口，候选对象需要后续数据核查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假设示例：查询异常时刻的实际路由，把共同经过的对象列为候选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18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09 / 15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SAT-03"/>
          <p:cNvSpPr>
            <a:spLocks noGrp="1"/>
          </p:cNvSpPr>
          <p:nvPr/>
        </p:nvSpPr>
        <p:spPr>
          <a:xfrm>
            <a:off x="704850" y="2076450"/>
            <a:ext cx="1666875" cy="514350"/>
          </a:xfrm>
          <a:prstGeom prst="rect">
            <a:avLst/>
          </a:prstGeom>
          <a:solidFill>
            <a:srgbClr val="FEF2F2"/>
          </a:solidFill>
          <a:ln w="14288">
            <a:solidFill>
              <a:srgbClr val="FCA5A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SAT-03</a:t>
            </a:r>
            <a:endParaRPr sz="1650" b="1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SAT-07"/>
          <p:cNvSpPr>
            <a:spLocks noGrp="1"/>
          </p:cNvSpPr>
          <p:nvPr/>
        </p:nvSpPr>
        <p:spPr>
          <a:xfrm>
            <a:off x="704850" y="2809875"/>
            <a:ext cx="1666875" cy="514350"/>
          </a:xfrm>
          <a:prstGeom prst="rect">
            <a:avLst/>
          </a:prstGeom>
          <a:solidFill>
            <a:srgbClr val="FEF2F2"/>
          </a:solidFill>
          <a:ln w="14288">
            <a:solidFill>
              <a:srgbClr val="FCA5A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SAT-07</a:t>
            </a:r>
            <a:endParaRPr sz="1650" b="1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SAT-10"/>
          <p:cNvSpPr>
            <a:spLocks noGrp="1"/>
          </p:cNvSpPr>
          <p:nvPr/>
        </p:nvSpPr>
        <p:spPr>
          <a:xfrm>
            <a:off x="704850" y="3543300"/>
            <a:ext cx="1666875" cy="514350"/>
          </a:xfrm>
          <a:prstGeom prst="rect">
            <a:avLst/>
          </a:prstGeom>
          <a:solidFill>
            <a:srgbClr val="FEF2F2"/>
          </a:solidFill>
          <a:ln w="14288">
            <a:solidFill>
              <a:srgbClr val="FCA5A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SAT-10</a:t>
            </a:r>
            <a:endParaRPr sz="1650" b="1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SAT-12"/>
          <p:cNvSpPr>
            <a:spLocks noGrp="1"/>
          </p:cNvSpPr>
          <p:nvPr/>
        </p:nvSpPr>
        <p:spPr>
          <a:xfrm>
            <a:off x="704850" y="4276725"/>
            <a:ext cx="1666875" cy="514350"/>
          </a:xfrm>
          <a:prstGeom prst="rect">
            <a:avLst/>
          </a:prstGeom>
          <a:solidFill>
            <a:srgbClr val="FEF2F2"/>
          </a:solidFill>
          <a:ln w="14288">
            <a:solidFill>
              <a:srgbClr val="FCA5A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SAT-12</a:t>
            </a:r>
            <a:endParaRPr sz="1650" b="1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SAT-16"/>
          <p:cNvSpPr>
            <a:spLocks noGrp="1"/>
          </p:cNvSpPr>
          <p:nvPr/>
        </p:nvSpPr>
        <p:spPr>
          <a:xfrm>
            <a:off x="704850" y="5010150"/>
            <a:ext cx="1666875" cy="514350"/>
          </a:xfrm>
          <a:prstGeom prst="rect">
            <a:avLst/>
          </a:prstGeom>
          <a:solidFill>
            <a:srgbClr val="FEF2F2"/>
          </a:solidFill>
          <a:ln w="14288">
            <a:solidFill>
              <a:srgbClr val="FCA5A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SAT-16</a:t>
            </a:r>
            <a:endParaRPr sz="1650" b="1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SAT-20"/>
          <p:cNvSpPr>
            <a:spLocks noGrp="1"/>
          </p:cNvSpPr>
          <p:nvPr/>
        </p:nvSpPr>
        <p:spPr>
          <a:xfrm>
            <a:off x="4010025" y="3352800"/>
            <a:ext cx="2324100" cy="981075"/>
          </a:xfrm>
          <a:prstGeom prst="rect">
            <a:avLst/>
          </a:prstGeom>
          <a:solidFill>
            <a:srgbClr val="FFFBEB"/>
          </a:solidFill>
          <a:ln w="14288">
            <a:solidFill>
              <a:srgbClr val="B39B77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SAT-20</a:t>
            </a:r>
            <a:endParaRPr sz="1950" b="1">
              <a:solidFill>
                <a:srgbClr val="A1620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None/>
              <a:def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A162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共同经过节点</a:t>
            </a:r>
            <a:endParaRPr sz="1950" b="1">
              <a:solidFill>
                <a:srgbClr val="A1620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GS-01"/>
          <p:cNvSpPr>
            <a:spLocks noGrp="1"/>
          </p:cNvSpPr>
          <p:nvPr/>
        </p:nvSpPr>
        <p:spPr>
          <a:xfrm>
            <a:off x="7848600" y="2628900"/>
            <a:ext cx="1714500" cy="62865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GS-01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GS-02"/>
          <p:cNvSpPr>
            <a:spLocks noGrp="1"/>
          </p:cNvSpPr>
          <p:nvPr/>
        </p:nvSpPr>
        <p:spPr>
          <a:xfrm>
            <a:off x="7848600" y="4495800"/>
            <a:ext cx="1714500" cy="628650"/>
          </a:xfrm>
          <a:prstGeom prst="rect">
            <a:avLst/>
          </a:prstGeom>
          <a:solidFill>
            <a:srgbClr val="EFF6FF"/>
          </a:solidFill>
          <a:ln w="14288">
            <a:solidFill>
              <a:srgbClr val="006DB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GS-02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异常卫星"/>
          <p:cNvSpPr>
            <a:spLocks noGrp="1"/>
          </p:cNvSpPr>
          <p:nvPr/>
        </p:nvSpPr>
        <p:spPr>
          <a:xfrm>
            <a:off x="704850" y="17526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异常卫星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查询故障时刻的实际路径"/>
          <p:cNvSpPr>
            <a:spLocks noGrp="1"/>
          </p:cNvSpPr>
          <p:nvPr/>
        </p:nvSpPr>
        <p:spPr>
          <a:xfrm>
            <a:off x="3495675" y="223837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查询故障时刻的实际路径</a:t>
            </a:r>
            <a:endParaRPr sz="1650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关联地面站示意"/>
          <p:cNvSpPr>
            <a:spLocks noGrp="1"/>
          </p:cNvSpPr>
          <p:nvPr/>
        </p:nvSpPr>
        <p:spPr>
          <a:xfrm>
            <a:off x="7600950" y="20764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关联地面站示意</a:t>
            </a:r>
            <a:endParaRPr sz="17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候选：SAT-20，以及相关地面站或链路。"/>
          <p:cNvSpPr>
            <a:spLocks noGrp="1"/>
          </p:cNvSpPr>
          <p:nvPr/>
        </p:nvSpPr>
        <p:spPr>
          <a:xfrm>
            <a:off x="7172325" y="5381625"/>
            <a:ext cx="43434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候选：SAT-20、相关地面站或链路。</a:t>
            </a:r>
            <a:endParaRPr sz="16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补查指标、对照路由、告警和恢复记录。</a:t>
            </a:r>
            <a:endParaRPr sz="16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候选对象的数据对照</a:t>
            </a:r>
            <a:endParaRPr sz="1100"/>
          </a:p>
        </p:txBody>
      </p:sp>
      <p:sp>
        <p:nvSpPr>
          <p:cNvPr id="16" name="假设数据：在时间、负载等条件相近的路由中，比较可用度下降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假设数据：用补查的路由与指标，比较同一时段、条件相近的路由变化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18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11 / 15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609600" y="2076450"/>
          <a:ext cx="5086350" cy="2819400"/>
        </p:xfrm>
        <a:graphic>
          <a:graphicData uri="http://schemas.openxmlformats.org/drawingml/2006/table">
            <a:tbl>
              <a:tblPr firstRow="1"/>
              <a:tblGrid>
                <a:gridCol w="1638300"/>
                <a:gridCol w="1714500"/>
                <a:gridCol w="1733550"/>
              </a:tblGrid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经过卫星</a:t>
                      </a:r>
                      <a:endParaRPr sz="15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使用地面站</a:t>
                      </a:r>
                      <a:endParaRPr sz="15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下降幅度</a:t>
                      </a:r>
                      <a:endParaRPr sz="1575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SAT-20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GS-01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9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SAT-20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GS-02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8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SAT-21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GS-01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0.5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SAT-21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GS-02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0.4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经过 SAT-20，换地面站仍明显下降。"/>
          <p:cNvSpPr>
            <a:spLocks noGrp="1"/>
          </p:cNvSpPr>
          <p:nvPr/>
        </p:nvSpPr>
        <p:spPr>
          <a:xfrm>
            <a:off x="609600" y="5219700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 SAT-20 的路由，连接不同地面站都明显下降。</a:t>
            </a:r>
            <a:endParaRPr sz="180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同一地面站上，经 SAT-21 的路由基本正常。</a:t>
            </a:r>
            <a:endParaRPr sz="180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="6115050" y="1981200"/>
          <a:ext cx="5467350" cy="3067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案例推演：多星可用度同时下降</a:t>
            </a:r>
            <a:endParaRPr sz="1100"/>
          </a:p>
        </p:txBody>
      </p:sp>
      <p:sp>
        <p:nvSpPr>
          <p:cNvPr id="16" name="可以先提供关系说明和排查经验，我们负责整理成本体与系统规则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候选原因由本体关系生成，再用时序与对照证据排序（示例推演，非真实遥测）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关系是什么"/>
          <p:cNvSpPr>
            <a:spLocks noGrp="1"/>
          </p:cNvSpPr>
          <p:nvPr/>
        </p:nvSpPr>
        <p:spPr>
          <a:xfrm>
            <a:off x="609600" y="2162175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观测现象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路由经过哪些卫星？连接哪个地面站？"/>
          <p:cNvSpPr>
            <a:spLocks noGrp="1"/>
          </p:cNvSpPr>
          <p:nvPr/>
        </p:nvSpPr>
        <p:spPr>
          <a:xfrm>
            <a:off x="3409950" y="2124075"/>
            <a:ext cx="8172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SAT-20 相关多条路由可用度下降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SAT-20、GS-01/GS-02 为示例对象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关系连线"/>
          <p:cNvSpPr>
            <a:spLocks noGrp="1"/>
          </p:cNvSpPr>
          <p:nvPr/>
        </p:nvSpPr>
        <p:spPr>
          <a:xfrm>
            <a:off x="609600" y="3257550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20" name="怎样算异常"/>
          <p:cNvSpPr>
            <a:spLocks noGrp="1"/>
          </p:cNvSpPr>
          <p:nvPr/>
        </p:nvSpPr>
        <p:spPr>
          <a:xfrm>
            <a:off x="609600" y="3600450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候选对照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指标下降多少、持续多久需要关注？"/>
          <p:cNvSpPr>
            <a:spLocks noGrp="1"/>
          </p:cNvSpPr>
          <p:nvPr/>
        </p:nvSpPr>
        <p:spPr>
          <a:xfrm>
            <a:off x="3409950" y="3562350"/>
            <a:ext cx="8172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共同经过 SAT-20：共享依赖候选；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不同地面站：检验站点单点影响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SAT-21 正常路由：对照组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关系连线"/>
          <p:cNvSpPr>
            <a:spLocks noGrp="1"/>
          </p:cNvSpPr>
          <p:nvPr/>
        </p:nvSpPr>
        <p:spPr>
          <a:xfrm>
            <a:off x="609600" y="4695825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23" name="通常怎么排查"/>
          <p:cNvSpPr>
            <a:spLocks noGrp="1"/>
          </p:cNvSpPr>
          <p:nvPr/>
        </p:nvSpPr>
        <p:spPr>
          <a:xfrm>
            <a:off x="609600" y="5038725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下一步证据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哪些告警值得先看？有哪些已知故障案例？"/>
          <p:cNvSpPr>
            <a:spLocks noGrp="1"/>
          </p:cNvSpPr>
          <p:nvPr/>
        </p:nvSpPr>
        <p:spPr>
          <a:xfrm>
            <a:off x="3409950" y="5038725"/>
            <a:ext cx="8172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核对同期告警与拓扑/路由/资源变更；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证据不足则保留并列候选，不定因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有现成 OWL 本体可以复用，没有也可以从业务说明开始。"/>
          <p:cNvSpPr>
            <a:spLocks noGrp="1"/>
          </p:cNvSpPr>
          <p:nvPr/>
        </p:nvSpPr>
        <p:spPr>
          <a:xfrm>
            <a:off x="609600" y="58674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共同路径提示“共享依赖”，只形成关联候选；需结合告警、变更及对照验证。</a:t>
            </a:r>
            <a:endParaRPr sz="187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7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12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14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综合判断与排查报告</a:t>
            </a:r>
            <a:endParaRPr sz="1100"/>
          </a:p>
        </p:txBody>
      </p:sp>
      <p:sp>
        <p:nvSpPr>
          <p:cNvPr id="16" name="假设示例：路由比较和提前告警支持 SAT-20，仍需核查其他原因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假设示例：汇总路由比较与告警证据，说明优先检查谁、依据和待查事项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关系连线"/>
          <p:cNvSpPr>
            <a:spLocks noGrp="1"/>
          </p:cNvSpPr>
          <p:nvPr/>
        </p:nvSpPr>
        <p:spPr>
          <a:xfrm>
            <a:off x="879872" y="2814638"/>
            <a:ext cx="1164431" cy="0"/>
          </a:xfrm>
          <a:prstGeom prst="line">
            <a:avLst/>
          </a:prstGeom>
          <a:noFill/>
          <a:ln w="29111">
            <a:solidFill>
              <a:srgbClr val="006DB8"/>
            </a:solidFill>
            <a:prstDash val="solid"/>
          </a:ln>
        </p:spPr>
      </p:sp>
      <p:sp>
        <p:nvSpPr>
          <p:cNvPr id="18" name="卫星矢量太阳翼"/>
          <p:cNvSpPr>
            <a:spLocks noGrp="1"/>
          </p:cNvSpPr>
          <p:nvPr/>
        </p:nvSpPr>
        <p:spPr>
          <a:xfrm>
            <a:off x="685800" y="2581751"/>
            <a:ext cx="494883" cy="475476"/>
          </a:xfrm>
          <a:prstGeom prst="rect">
            <a:avLst/>
          </a:prstGeom>
          <a:solidFill>
            <a:srgbClr val="EFF6FF"/>
          </a:solidFill>
          <a:ln w="19407">
            <a:solidFill>
              <a:srgbClr val="006DB8"/>
            </a:solidFill>
          </a:ln>
        </p:spPr>
      </p:sp>
      <p:sp>
        <p:nvSpPr>
          <p:cNvPr id="19" name="关系连线"/>
          <p:cNvSpPr>
            <a:spLocks noGrp="1"/>
          </p:cNvSpPr>
          <p:nvPr/>
        </p:nvSpPr>
        <p:spPr>
          <a:xfrm>
            <a:off x="850761" y="2581751"/>
            <a:ext cx="0" cy="475476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0" name="关系连线"/>
          <p:cNvSpPr>
            <a:spLocks noGrp="1"/>
          </p:cNvSpPr>
          <p:nvPr/>
        </p:nvSpPr>
        <p:spPr>
          <a:xfrm>
            <a:off x="1015722" y="2581751"/>
            <a:ext cx="0" cy="475476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1" name="关系连线"/>
          <p:cNvSpPr>
            <a:spLocks noGrp="1"/>
          </p:cNvSpPr>
          <p:nvPr/>
        </p:nvSpPr>
        <p:spPr>
          <a:xfrm>
            <a:off x="685800" y="2819489"/>
            <a:ext cx="494883" cy="0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2" name="卫星矢量太阳翼"/>
          <p:cNvSpPr>
            <a:spLocks noGrp="1"/>
          </p:cNvSpPr>
          <p:nvPr/>
        </p:nvSpPr>
        <p:spPr>
          <a:xfrm>
            <a:off x="1743492" y="2581751"/>
            <a:ext cx="494883" cy="475476"/>
          </a:xfrm>
          <a:prstGeom prst="rect">
            <a:avLst/>
          </a:prstGeom>
          <a:solidFill>
            <a:srgbClr val="EFF6FF"/>
          </a:solidFill>
          <a:ln w="19407">
            <a:solidFill>
              <a:srgbClr val="006DB8"/>
            </a:solidFill>
          </a:ln>
        </p:spPr>
      </p:sp>
      <p:sp>
        <p:nvSpPr>
          <p:cNvPr id="23" name="关系连线"/>
          <p:cNvSpPr>
            <a:spLocks noGrp="1"/>
          </p:cNvSpPr>
          <p:nvPr/>
        </p:nvSpPr>
        <p:spPr>
          <a:xfrm>
            <a:off x="1908453" y="2581751"/>
            <a:ext cx="0" cy="475476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4" name="关系连线"/>
          <p:cNvSpPr>
            <a:spLocks noGrp="1"/>
          </p:cNvSpPr>
          <p:nvPr/>
        </p:nvSpPr>
        <p:spPr>
          <a:xfrm>
            <a:off x="2073414" y="2581751"/>
            <a:ext cx="0" cy="475476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5" name="关系连线"/>
          <p:cNvSpPr>
            <a:spLocks noGrp="1"/>
          </p:cNvSpPr>
          <p:nvPr/>
        </p:nvSpPr>
        <p:spPr>
          <a:xfrm>
            <a:off x="1743492" y="2819489"/>
            <a:ext cx="494883" cy="0"/>
          </a:xfrm>
          <a:prstGeom prst="line">
            <a:avLst/>
          </a:prstGeom>
          <a:noFill/>
          <a:ln w="9704">
            <a:solidFill>
              <a:srgbClr val="006DB8"/>
            </a:solidFill>
            <a:prstDash val="solid"/>
          </a:ln>
        </p:spPr>
      </p:sp>
      <p:sp>
        <p:nvSpPr>
          <p:cNvPr id="26" name="卫星矢量主体"/>
          <p:cNvSpPr>
            <a:spLocks noGrp="1"/>
          </p:cNvSpPr>
          <p:nvPr/>
        </p:nvSpPr>
        <p:spPr>
          <a:xfrm>
            <a:off x="1258312" y="2504123"/>
            <a:ext cx="407551" cy="630734"/>
          </a:xfrm>
          <a:prstGeom prst="rect">
            <a:avLst/>
          </a:prstGeom>
          <a:solidFill>
            <a:srgbClr val="B39B77"/>
          </a:solidFill>
          <a:ln w="23289">
            <a:solidFill>
              <a:srgbClr val="006DB8"/>
            </a:solidFill>
          </a:ln>
        </p:spPr>
      </p:sp>
      <p:sp>
        <p:nvSpPr>
          <p:cNvPr id="27" name="卫星矢量载荷"/>
          <p:cNvSpPr>
            <a:spLocks noGrp="1"/>
          </p:cNvSpPr>
          <p:nvPr/>
        </p:nvSpPr>
        <p:spPr>
          <a:xfrm>
            <a:off x="1316534" y="2610862"/>
            <a:ext cx="291108" cy="17466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8" name="关系连线"/>
          <p:cNvSpPr>
            <a:spLocks noGrp="1"/>
          </p:cNvSpPr>
          <p:nvPr/>
        </p:nvSpPr>
        <p:spPr>
          <a:xfrm>
            <a:off x="1462088" y="2339161"/>
            <a:ext cx="0" cy="164961"/>
          </a:xfrm>
          <a:prstGeom prst="line">
            <a:avLst/>
          </a:prstGeom>
          <a:noFill/>
          <a:ln w="19407">
            <a:solidFill>
              <a:srgbClr val="006DB8"/>
            </a:solidFill>
            <a:prstDash val="solid"/>
          </a:ln>
        </p:spPr>
      </p:sp>
      <p:sp>
        <p:nvSpPr>
          <p:cNvPr id="29" name="流程编号"/>
          <p:cNvSpPr>
            <a:spLocks noGrp="1"/>
          </p:cNvSpPr>
          <p:nvPr/>
        </p:nvSpPr>
        <p:spPr>
          <a:xfrm>
            <a:off x="1423273" y="2271236"/>
            <a:ext cx="77629" cy="77629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30" name="矢量图形"/>
          <p:cNvSpPr>
            <a:spLocks noGrp="1"/>
          </p:cNvSpPr>
          <p:nvPr/>
        </p:nvSpPr>
        <p:spPr>
          <a:xfrm>
            <a:off x="1306830" y="2145090"/>
            <a:ext cx="310515" cy="194072"/>
          </a:xfrm>
          <a:custGeom>
            <a:avLst/>
            <a:gdLst/>
            <a:ahLst/>
            <a:cxnLst/>
            <a:pathLst>
              <a:path w="310515" h="194072">
                <a:moveTo>
                  <a:pt x="0" y="194072"/>
                </a:moveTo>
                <a:quadBezTo>
                  <a:pt x="155258" y="0"/>
                  <a:pt x="310515" y="194072"/>
                </a:quadBezTo>
              </a:path>
            </a:pathLst>
          </a:custGeom>
          <a:noFill/>
          <a:ln w="19407">
            <a:solidFill>
              <a:srgbClr val="006DB8"/>
            </a:solidFill>
          </a:ln>
        </p:spPr>
      </p:sp>
      <p:sp>
        <p:nvSpPr>
          <p:cNvPr id="31" name="关系连线"/>
          <p:cNvSpPr>
            <a:spLocks noGrp="1"/>
          </p:cNvSpPr>
          <p:nvPr/>
        </p:nvSpPr>
        <p:spPr>
          <a:xfrm>
            <a:off x="1462088" y="3134856"/>
            <a:ext cx="0" cy="155258"/>
          </a:xfrm>
          <a:prstGeom prst="line">
            <a:avLst/>
          </a:prstGeom>
          <a:noFill/>
          <a:ln w="19407">
            <a:solidFill>
              <a:srgbClr val="006DB8"/>
            </a:solidFill>
            <a:prstDash val="solid"/>
          </a:ln>
        </p:spPr>
      </p:sp>
      <p:sp>
        <p:nvSpPr>
          <p:cNvPr id="32" name="优先检查 SAT-20"/>
          <p:cNvSpPr>
            <a:spLocks noGrp="1"/>
          </p:cNvSpPr>
          <p:nvPr/>
        </p:nvSpPr>
        <p:spPr>
          <a:xfrm>
            <a:off x="2571750" y="2238375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优先检查 SAT-20</a:t>
            </a:r>
            <a:endParaRPr sz="28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这是排查建议，最终原因仍需记录和人工核实"/>
          <p:cNvSpPr>
            <a:spLocks noGrp="1"/>
          </p:cNvSpPr>
          <p:nvPr/>
        </p:nvSpPr>
        <p:spPr>
          <a:xfrm>
            <a:off x="2571750" y="2962275"/>
            <a:ext cx="866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这是排查建议，最终原因仍需记录和人工核实</a:t>
            </a:r>
            <a:endParaRPr sz="1875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关系连线"/>
          <p:cNvSpPr>
            <a:spLocks noGrp="1"/>
          </p:cNvSpPr>
          <p:nvPr/>
        </p:nvSpPr>
        <p:spPr>
          <a:xfrm>
            <a:off x="609600" y="3657600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35" name="为什么先查"/>
          <p:cNvSpPr>
            <a:spLocks noGrp="1"/>
          </p:cNvSpPr>
          <p:nvPr/>
        </p:nvSpPr>
        <p:spPr>
          <a:xfrm>
            <a:off x="609600" y="39909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为什么先查</a:t>
            </a:r>
            <a:endParaRPr sz="195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共同路径和路由比较支持它，且有提前告警"/>
          <p:cNvSpPr>
            <a:spLocks noGrp="1"/>
          </p:cNvSpPr>
          <p:nvPr/>
        </p:nvSpPr>
        <p:spPr>
          <a:xfrm>
            <a:off x="2876550" y="3990975"/>
            <a:ext cx="8705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共同路径和路由比较支持它，且有提前告警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还要查什么"/>
          <p:cNvSpPr>
            <a:spLocks noGrp="1"/>
          </p:cNvSpPr>
          <p:nvPr/>
        </p:nvSpPr>
        <p:spPr>
          <a:xfrm>
            <a:off x="609600" y="46386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还要查什么</a:t>
            </a:r>
            <a:endParaRPr sz="195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相关链路是否异常，是否存在同时变更"/>
          <p:cNvSpPr>
            <a:spLocks noGrp="1"/>
          </p:cNvSpPr>
          <p:nvPr/>
        </p:nvSpPr>
        <p:spPr>
          <a:xfrm>
            <a:off x="2876550" y="4638675"/>
            <a:ext cx="8705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相关链路是否异常，是否存在同时变更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证据不够时"/>
          <p:cNvSpPr>
            <a:spLocks noGrp="1"/>
          </p:cNvSpPr>
          <p:nvPr/>
        </p:nvSpPr>
        <p:spPr>
          <a:xfrm>
            <a:off x="609600" y="52863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证据不够时</a:t>
            </a:r>
            <a:endParaRPr sz="195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0" name="保留多个候选，说明还缺哪些数据"/>
          <p:cNvSpPr>
            <a:spLocks noGrp="1"/>
          </p:cNvSpPr>
          <p:nvPr/>
        </p:nvSpPr>
        <p:spPr>
          <a:xfrm>
            <a:off x="2876550" y="5286375"/>
            <a:ext cx="87058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保留多个候选，说明还缺哪些数据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42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09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15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本体智能体闭环：从关联走向因果验证</a:t>
            </a:r>
            <a:endParaRPr sz="1100"/>
          </a:p>
        </p:txBody>
      </p:sp>
      <p:sp>
        <p:nvSpPr>
          <p:cNvPr id="16" name="先把一个案例讲清、跑通，再根据实际问题增加算法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智能体负责组织证据与排查步骤，输出可复核的候选而非直接宣判根因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流程编号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085975"/>
            <a:ext cx="514350" cy="514350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18" name="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21621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先准备案例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09700" y="214312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发现异常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确认数据能否提供，和老师对齐关系与排查经验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267200" y="214312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识别指标偏离基线，确定对象、指标及异常时间窗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关系连线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57250" y="2686050"/>
            <a:ext cx="0" cy="51435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2" name="流程编号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3324225"/>
            <a:ext cx="514350" cy="514350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23" name="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95325" y="340042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再完成首版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409700" y="338137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生成候选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接入样例，跑通四步流程，输出有依据的报告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267200" y="338137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沿本体关系扩展到卫星、链路、站点、路由及业务依赖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7250" y="3924300"/>
            <a:ext cx="0" cy="51435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7" name="流程编号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4562475"/>
            <a:ext cx="514350" cy="514350"/>
          </a:xfrm>
          <a:prstGeom prst="ellipse">
            <a:avLst/>
          </a:prstGeom>
          <a:solidFill>
            <a:srgbClr val="B39B77"/>
          </a:solidFill>
          <a:ln w="0">
            <a:noFill/>
          </a:ln>
        </p:spPr>
      </p:sp>
      <p:sp>
        <p:nvSpPr>
          <p:cNvPr id="28" name="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95325" y="46386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之后再提升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409700" y="461962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验证与回写</a:t>
            </a:r>
            <a:endParaRPr sz="2100" b="1">
              <a:solidFill>
                <a:srgbClr val="9967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用算法识别更慢的异常、比较更多候选，积累故障案例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267200" y="461962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查询告警/变更并做时间先后与正常对照；人工核验后沉淀案例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算法帮助比较证据，最终判断仍要用已知案例检验。"/>
          <p:cNvSpPr>
            <a:spLocks noGrp="1"/>
          </p:cNvSpPr>
          <p:nvPr/>
        </p:nvSpPr>
        <p:spPr>
          <a:xfrm>
            <a:off x="609600" y="58293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相关性不等于因果：报告展示候选排序、支持/反证及缺失证据；因果结论需运行机理、对照或干预验证。</a:t>
            </a:r>
            <a:endParaRPr sz="19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33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14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16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后续增强：算法如何辅助排查</a:t>
            </a:r>
            <a:endParaRPr sz="1100"/>
          </a:p>
        </p:txBody>
      </p:sp>
      <p:sp>
        <p:nvSpPr>
          <p:cNvPr id="16" name="算法帮助发现和比较证据，是否能确认原因仍取决于数据、假设与验证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首版先用简单对照，复杂算法后续验证，不能单凭相关性确认原因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609600" y="1924050"/>
          <a:ext cx="10972800" cy="3495675"/>
        </p:xfrm>
        <a:graphic>
          <a:graphicData uri="http://schemas.openxmlformats.org/drawingml/2006/table">
            <a:tbl>
              <a:tblPr firstRow="1"/>
              <a:tblGrid>
                <a:gridCol w="1724025"/>
                <a:gridCol w="2305050"/>
                <a:gridCol w="3600450"/>
                <a:gridCol w="3343275"/>
              </a:tblGrid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提升方向</a:t>
                      </a:r>
                      <a:endParaRPr sz="15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候选方法</a:t>
                      </a:r>
                      <a:endParaRPr sz="15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在流程中的作用</a:t>
                      </a:r>
                      <a:endParaRPr sz="15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启用条件</a:t>
                      </a:r>
                      <a:endParaRPr sz="15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异常发现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EWMA / CUSUM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发现缓慢变差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与变化起点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稳定基线与采样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检查自相关等条件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候选排序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分组对照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贝叶斯网络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比较不同候选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汇总多条证据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可比对照、足够样本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领域关系与校准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传播关系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本体约束的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PCMCI+ 等方法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研究同时与滞后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关系及传播线索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较长多变量时序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检验方法假设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原因贡献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因果模型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反事实分析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估计改变候选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可能带来的指标影响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可识别因果结构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验证与反驳测试</a:t>
                      </a:r>
                      <a:endParaRPr sz="15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接入方式：把算法封装成可替换 Skill / 处理器，用已知故障回放验证"/>
          <p:cNvSpPr>
            <a:spLocks noGrp="1"/>
          </p:cNvSpPr>
          <p:nvPr/>
        </p:nvSpPr>
        <p:spPr>
          <a:xfrm>
            <a:off x="609600" y="58197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后续接入：将算法做成可调用能力，用已知故障案例回放检验效果。</a:t>
            </a:r>
            <a:endParaRPr sz="157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</a:ln>
        </p:spPr>
      </p:sp>
      <p:sp>
        <p:nvSpPr>
          <p:cNvPr id="20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20 / 22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17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技术方案：卫星场景的新增能力</a:t>
            </a:r>
            <a:endParaRPr sz="1100"/>
          </a:p>
        </p:txBody>
      </p:sp>
      <p:sp>
        <p:nvSpPr>
          <p:cNvPr id="16" name="继续使用现有任务工作台，新增卫星领域的关系、数据和比较能力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拟新增：复用现有任务工作台，补齐卫星领域的关系、数据和比较能力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流程节点"/>
          <p:cNvSpPr>
            <a:spLocks noGrp="1"/>
          </p:cNvSpPr>
          <p:nvPr/>
        </p:nvSpPr>
        <p:spPr>
          <a:xfrm>
            <a:off x="609600" y="2000250"/>
            <a:ext cx="10972800" cy="742950"/>
          </a:xfrm>
          <a:prstGeom prst="rect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18" name="复用：需求输入、任务执行、结果报告和过程记录"/>
          <p:cNvSpPr>
            <a:spLocks noGrp="1"/>
          </p:cNvSpPr>
          <p:nvPr/>
        </p:nvSpPr>
        <p:spPr>
          <a:xfrm>
            <a:off x="809625" y="2190750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复用：需求输入、任务执行、结果报告和过程记录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领域关系与规则"/>
          <p:cNvSpPr>
            <a:spLocks noGrp="1"/>
          </p:cNvSpPr>
          <p:nvPr/>
        </p:nvSpPr>
        <p:spPr>
          <a:xfrm>
            <a:off x="60960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领域关系与规则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关系连线"/>
          <p:cNvSpPr>
            <a:spLocks noGrp="1"/>
          </p:cNvSpPr>
          <p:nvPr/>
        </p:nvSpPr>
        <p:spPr>
          <a:xfrm>
            <a:off x="60960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1" name="定义卫星、地面站和路由"/>
          <p:cNvSpPr>
            <a:spLocks noGrp="1"/>
          </p:cNvSpPr>
          <p:nvPr/>
        </p:nvSpPr>
        <p:spPr>
          <a:xfrm>
            <a:off x="60960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定义卫星、地面站和路由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本体规则找出共同依赖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卫星数据查询"/>
          <p:cNvSpPr>
            <a:spLocks noGrp="1"/>
          </p:cNvSpPr>
          <p:nvPr/>
        </p:nvSpPr>
        <p:spPr>
          <a:xfrm>
            <a:off x="443865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卫星数据查询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关系连线"/>
          <p:cNvSpPr>
            <a:spLocks noGrp="1"/>
          </p:cNvSpPr>
          <p:nvPr/>
        </p:nvSpPr>
        <p:spPr>
          <a:xfrm>
            <a:off x="443865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4" name="接入指标、路由和告警"/>
          <p:cNvSpPr>
            <a:spLocks noGrp="1"/>
          </p:cNvSpPr>
          <p:nvPr/>
        </p:nvSpPr>
        <p:spPr>
          <a:xfrm>
            <a:off x="443865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接入指标、路由和告警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按对象编号与时间查询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比较与结果整理"/>
          <p:cNvSpPr>
            <a:spLocks noGrp="1"/>
          </p:cNvSpPr>
          <p:nvPr/>
        </p:nvSpPr>
        <p:spPr>
          <a:xfrm>
            <a:off x="8267700" y="3371850"/>
            <a:ext cx="3314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比较与结果整理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/>
        </p:nvSpPr>
        <p:spPr>
          <a:xfrm>
            <a:off x="8267700" y="3924300"/>
            <a:ext cx="3314700" cy="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7" name="比较相关路由的变化"/>
          <p:cNvSpPr>
            <a:spLocks noGrp="1"/>
          </p:cNvSpPr>
          <p:nvPr/>
        </p:nvSpPr>
        <p:spPr>
          <a:xfrm>
            <a:off x="8267700" y="42767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比较相关路由的变化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给出优先级和判断依据</a:t>
            </a:r>
            <a:endParaRPr sz="187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首版采用关系规则和简单比较，先验证能否帮助排查。"/>
          <p:cNvSpPr>
            <a:spLocks noGrp="1"/>
          </p:cNvSpPr>
          <p:nvPr/>
        </p:nvSpPr>
        <p:spPr>
          <a:xfrm>
            <a:off x="609600" y="57816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首版采用关系规则和简单比较，先验证能否帮助排查。</a:t>
            </a:r>
            <a:endParaRPr sz="202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30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10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18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数据准备：历史案例与对照记录</a:t>
            </a:r>
            <a:endParaRPr sz="1100"/>
          </a:p>
        </p:txBody>
      </p:sp>
      <p:sp>
        <p:nvSpPr>
          <p:cNvPr id="16" name="先要一份可脱敏的历史故障案例，覆盖异常前、异常中和恢复后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先要一份可脱敏的历史故障案例，覆盖异常前、异常中和恢复后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609600" y="2000250"/>
          <a:ext cx="10972800" cy="33909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8210550"/>
              </a:tblGrid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需要的内容</a:t>
                      </a:r>
                      <a:endParaRPr sz="18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最少要包含什么</a:t>
                      </a:r>
                      <a:endParaRPr sz="18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指标记录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异常与正常对象的编号、时间、指标值和指标含义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当时的路由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经过哪些卫星、接哪个地面站、关系有效时间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告警与处理记录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何时告警、是否变更、何时恢复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已知故障说明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如已确认原因，请附人工排查结论</a:t>
                      </a:r>
                      <a:endParaRPr sz="1800" b="0">
                        <a:solidFill>
                          <a:srgbClr val="1E3A5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同一时段需保留正常路由作比较。仿真可演示，真实数据用于验证。"/>
          <p:cNvSpPr>
            <a:spLocks noGrp="1"/>
          </p:cNvSpPr>
          <p:nvPr/>
        </p:nvSpPr>
        <p:spPr>
          <a:xfrm>
            <a:off x="609600" y="57435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同一时段需保留正常路由作比较。仿真可演示，真实数据用于验证。</a:t>
            </a:r>
            <a:endParaRPr sz="187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0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11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19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规则准备：关系定义与排查经验</a:t>
            </a:r>
            <a:endParaRPr sz="1100"/>
          </a:p>
        </p:txBody>
      </p:sp>
      <p:sp>
        <p:nvSpPr>
          <p:cNvPr id="16" name="可以先提供关系说明和排查经验，我们负责整理成本体与系统规则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可以先提供关系说明和排查经验，我们负责整理成本体与系统规则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关系是什么"/>
          <p:cNvSpPr>
            <a:spLocks noGrp="1"/>
          </p:cNvSpPr>
          <p:nvPr/>
        </p:nvSpPr>
        <p:spPr>
          <a:xfrm>
            <a:off x="609600" y="2162175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关系是什么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路由经过哪些卫星？连接哪个地面站？"/>
          <p:cNvSpPr>
            <a:spLocks noGrp="1"/>
          </p:cNvSpPr>
          <p:nvPr/>
        </p:nvSpPr>
        <p:spPr>
          <a:xfrm>
            <a:off x="3409950" y="2124075"/>
            <a:ext cx="8172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路由经过哪些卫星？连接哪个地面站？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这些关系在什么时候有效？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关系连线"/>
          <p:cNvSpPr>
            <a:spLocks noGrp="1"/>
          </p:cNvSpPr>
          <p:nvPr/>
        </p:nvSpPr>
        <p:spPr>
          <a:xfrm>
            <a:off x="609600" y="3257550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20" name="怎样算异常"/>
          <p:cNvSpPr>
            <a:spLocks noGrp="1"/>
          </p:cNvSpPr>
          <p:nvPr/>
        </p:nvSpPr>
        <p:spPr>
          <a:xfrm>
            <a:off x="609600" y="3600450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怎样算异常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指标下降多少、持续多久需要关注？"/>
          <p:cNvSpPr>
            <a:spLocks noGrp="1"/>
          </p:cNvSpPr>
          <p:nvPr/>
        </p:nvSpPr>
        <p:spPr>
          <a:xfrm>
            <a:off x="3409950" y="3562350"/>
            <a:ext cx="8172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指标下降多少、持续多久需要关注？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哪些情况属于正常切换？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关系连线"/>
          <p:cNvSpPr>
            <a:spLocks noGrp="1"/>
          </p:cNvSpPr>
          <p:nvPr/>
        </p:nvSpPr>
        <p:spPr>
          <a:xfrm>
            <a:off x="609600" y="4695825"/>
            <a:ext cx="10972800" cy="0"/>
          </a:xfrm>
          <a:prstGeom prst="line">
            <a:avLst/>
          </a:prstGeom>
          <a:noFill/>
          <a:ln w="14288">
            <a:solidFill>
              <a:srgbClr val="C8D9EC"/>
            </a:solidFill>
            <a:prstDash val="solid"/>
          </a:ln>
        </p:spPr>
      </p:sp>
      <p:sp>
        <p:nvSpPr>
          <p:cNvPr id="23" name="通常怎么排查"/>
          <p:cNvSpPr>
            <a:spLocks noGrp="1"/>
          </p:cNvSpPr>
          <p:nvPr/>
        </p:nvSpPr>
        <p:spPr>
          <a:xfrm>
            <a:off x="609600" y="5038725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通常怎么排查</a:t>
            </a:r>
            <a:endParaRPr sz="217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哪些告警值得先看？有哪些已知故障案例？"/>
          <p:cNvSpPr>
            <a:spLocks noGrp="1"/>
          </p:cNvSpPr>
          <p:nvPr/>
        </p:nvSpPr>
        <p:spPr>
          <a:xfrm>
            <a:off x="3409950" y="5038725"/>
            <a:ext cx="8172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哪些告警值得先看？有哪些已知故障案例？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有现成 OWL 本体可以复用，没有也可以从业务说明开始。"/>
          <p:cNvSpPr>
            <a:spLocks noGrp="1"/>
          </p:cNvSpPr>
          <p:nvPr/>
        </p:nvSpPr>
        <p:spPr>
          <a:xfrm>
            <a:off x="609600" y="58674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有现成 OWL 本体可以复用，没有也可以从业务说明开始。</a:t>
            </a:r>
            <a:endParaRPr sz="1875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7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12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两人分工：规则流程与数据展示</a:t>
            </a:r>
            <a:endParaRPr sz="1100"/>
          </a:p>
        </p:txBody>
      </p:sp>
      <p:sp>
        <p:nvSpPr>
          <p:cNvPr id="16" name="一个人负责关系和流程，一个人负责数据与页面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一个人负责关系和流程，一个人负责数据与页面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成员 A：关系和流程"/>
          <p:cNvSpPr>
            <a:spLocks noGrp="1"/>
          </p:cNvSpPr>
          <p:nvPr/>
        </p:nvSpPr>
        <p:spPr>
          <a:xfrm>
            <a:off x="609600" y="2228850"/>
            <a:ext cx="5086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成员 A：关系和流程</a:t>
            </a:r>
            <a:endParaRPr sz="23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关系连线"/>
          <p:cNvSpPr>
            <a:spLocks noGrp="1"/>
          </p:cNvSpPr>
          <p:nvPr/>
        </p:nvSpPr>
        <p:spPr>
          <a:xfrm>
            <a:off x="609600" y="2847975"/>
            <a:ext cx="5086350" cy="0"/>
          </a:xfrm>
          <a:prstGeom prst="line">
            <a:avLst/>
          </a:prstGeom>
          <a:noFill/>
          <a:ln w="28575">
            <a:solidFill>
              <a:srgbClr val="B39B77"/>
            </a:solidFill>
            <a:prstDash val="solid"/>
          </a:ln>
        </p:spPr>
      </p:sp>
      <p:sp>
        <p:nvSpPr>
          <p:cNvPr id="19" name="整理卫星与地面站的关系"/>
          <p:cNvSpPr>
            <a:spLocks noGrp="1"/>
          </p:cNvSpPr>
          <p:nvPr/>
        </p:nvSpPr>
        <p:spPr>
          <a:xfrm>
            <a:off x="609600" y="3190875"/>
            <a:ext cx="5086350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整理卫星与地面站的关系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把排查经验写成规则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把排查过程串成自动流程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成员 B：数据和页面"/>
          <p:cNvSpPr>
            <a:spLocks noGrp="1"/>
          </p:cNvSpPr>
          <p:nvPr/>
        </p:nvSpPr>
        <p:spPr>
          <a:xfrm>
            <a:off x="6496050" y="2228850"/>
            <a:ext cx="5086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成员 B：数据和页面</a:t>
            </a:r>
            <a:endParaRPr sz="2325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关系连线"/>
          <p:cNvSpPr>
            <a:spLocks noGrp="1"/>
          </p:cNvSpPr>
          <p:nvPr/>
        </p:nvSpPr>
        <p:spPr>
          <a:xfrm>
            <a:off x="6496050" y="2847975"/>
            <a:ext cx="5086350" cy="0"/>
          </a:xfrm>
          <a:prstGeom prst="line">
            <a:avLst/>
          </a:prstGeom>
          <a:noFill/>
          <a:ln w="28575">
            <a:solidFill>
              <a:srgbClr val="B39B77"/>
            </a:solidFill>
            <a:prstDash val="solid"/>
          </a:ln>
        </p:spPr>
      </p:sp>
      <p:sp>
        <p:nvSpPr>
          <p:cNvPr id="22" name="整理指标、路由和告警"/>
          <p:cNvSpPr>
            <a:spLocks noGrp="1"/>
          </p:cNvSpPr>
          <p:nvPr/>
        </p:nvSpPr>
        <p:spPr>
          <a:xfrm>
            <a:off x="6496050" y="3190875"/>
            <a:ext cx="5086350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整理指标、路由和告警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完成查询和简单比较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25"/>
          </a:p>
          <a:p>
            <a:pPr algn="l">
              <a:buNone/>
              <a:def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展示关系图与排查报告</a:t>
            </a:r>
            <a:endParaRPr sz="2025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一起完成：用同一个已知故障案例跑通流程，核对结果。"/>
          <p:cNvSpPr>
            <a:spLocks noGrp="1"/>
          </p:cNvSpPr>
          <p:nvPr/>
        </p:nvSpPr>
        <p:spPr>
          <a:xfrm>
            <a:off x="609600" y="57912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一起完成：用同一个已知故障案例跑通流程，核对结果。</a:t>
            </a:r>
            <a:endParaRPr sz="2025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25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13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21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后续计划：首版验证与算法增强</a:t>
            </a:r>
            <a:endParaRPr sz="1100"/>
          </a:p>
        </p:txBody>
      </p:sp>
      <p:sp>
        <p:nvSpPr>
          <p:cNvPr id="16" name="先把一个案例讲清、跑通，再根据实际问题增加算法"/>
          <p:cNvSpPr>
            <a:spLocks noGrp="1"/>
          </p:cNvSpPr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先把一个案例讲清、跑通，再根据实际问题增加算法</a:t>
            </a:r>
            <a:endParaRPr sz="1500" b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流程编号"/>
          <p:cNvSpPr>
            <a:spLocks noGrp="1"/>
          </p:cNvSpPr>
          <p:nvPr/>
        </p:nvSpPr>
        <p:spPr>
          <a:xfrm>
            <a:off x="609600" y="2085975"/>
            <a:ext cx="514350" cy="514350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18" name="1"/>
          <p:cNvSpPr>
            <a:spLocks noGrp="1"/>
          </p:cNvSpPr>
          <p:nvPr/>
        </p:nvSpPr>
        <p:spPr>
          <a:xfrm>
            <a:off x="695325" y="21621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先准备案例"/>
          <p:cNvSpPr>
            <a:spLocks noGrp="1"/>
          </p:cNvSpPr>
          <p:nvPr/>
        </p:nvSpPr>
        <p:spPr>
          <a:xfrm>
            <a:off x="1409700" y="214312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先准备案例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确认数据能否提供，和老师对齐关系与排查经验"/>
          <p:cNvSpPr>
            <a:spLocks noGrp="1"/>
          </p:cNvSpPr>
          <p:nvPr/>
        </p:nvSpPr>
        <p:spPr>
          <a:xfrm>
            <a:off x="4267200" y="214312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确认数据能否提供，和老师对齐关系与排查经验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关系连线"/>
          <p:cNvSpPr>
            <a:spLocks noGrp="1"/>
          </p:cNvSpPr>
          <p:nvPr/>
        </p:nvSpPr>
        <p:spPr>
          <a:xfrm>
            <a:off x="857250" y="2686050"/>
            <a:ext cx="0" cy="51435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2" name="流程编号"/>
          <p:cNvSpPr>
            <a:spLocks noGrp="1"/>
          </p:cNvSpPr>
          <p:nvPr/>
        </p:nvSpPr>
        <p:spPr>
          <a:xfrm>
            <a:off x="609600" y="3324225"/>
            <a:ext cx="514350" cy="514350"/>
          </a:xfrm>
          <a:prstGeom prst="ellipse">
            <a:avLst/>
          </a:prstGeom>
          <a:solidFill>
            <a:srgbClr val="006DB8"/>
          </a:solidFill>
          <a:ln w="0">
            <a:noFill/>
          </a:ln>
        </p:spPr>
      </p:sp>
      <p:sp>
        <p:nvSpPr>
          <p:cNvPr id="23" name="2"/>
          <p:cNvSpPr>
            <a:spLocks noGrp="1"/>
          </p:cNvSpPr>
          <p:nvPr/>
        </p:nvSpPr>
        <p:spPr>
          <a:xfrm>
            <a:off x="695325" y="340042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再完成首版"/>
          <p:cNvSpPr>
            <a:spLocks noGrp="1"/>
          </p:cNvSpPr>
          <p:nvPr/>
        </p:nvSpPr>
        <p:spPr>
          <a:xfrm>
            <a:off x="1409700" y="338137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再完成首版</a:t>
            </a:r>
            <a:endParaRPr sz="2100" b="1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接入样例，跑通四步流程，输出有依据的报告"/>
          <p:cNvSpPr>
            <a:spLocks noGrp="1"/>
          </p:cNvSpPr>
          <p:nvPr/>
        </p:nvSpPr>
        <p:spPr>
          <a:xfrm>
            <a:off x="4267200" y="338137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接入样例，跑通完整流程，输出有依据的报告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关系连线"/>
          <p:cNvSpPr>
            <a:spLocks noGrp="1"/>
          </p:cNvSpPr>
          <p:nvPr/>
        </p:nvSpPr>
        <p:spPr>
          <a:xfrm>
            <a:off x="857250" y="3924300"/>
            <a:ext cx="0" cy="514350"/>
          </a:xfrm>
          <a:prstGeom prst="line">
            <a:avLst/>
          </a:prstGeom>
          <a:noFill/>
          <a:ln w="19050">
            <a:solidFill>
              <a:srgbClr val="C8D9EC"/>
            </a:solidFill>
            <a:prstDash val="solid"/>
          </a:ln>
        </p:spPr>
      </p:sp>
      <p:sp>
        <p:nvSpPr>
          <p:cNvPr id="27" name="流程编号"/>
          <p:cNvSpPr>
            <a:spLocks noGrp="1"/>
          </p:cNvSpPr>
          <p:nvPr/>
        </p:nvSpPr>
        <p:spPr>
          <a:xfrm>
            <a:off x="609600" y="4562475"/>
            <a:ext cx="514350" cy="514350"/>
          </a:xfrm>
          <a:prstGeom prst="ellipse">
            <a:avLst/>
          </a:prstGeom>
          <a:solidFill>
            <a:srgbClr val="B39B77"/>
          </a:solidFill>
          <a:ln w="0">
            <a:noFill/>
          </a:ln>
        </p:spPr>
      </p:sp>
      <p:sp>
        <p:nvSpPr>
          <p:cNvPr id="28" name="3"/>
          <p:cNvSpPr>
            <a:spLocks noGrp="1"/>
          </p:cNvSpPr>
          <p:nvPr/>
        </p:nvSpPr>
        <p:spPr>
          <a:xfrm>
            <a:off x="695325" y="4638675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21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之后再提升"/>
          <p:cNvSpPr>
            <a:spLocks noGrp="1"/>
          </p:cNvSpPr>
          <p:nvPr/>
        </p:nvSpPr>
        <p:spPr>
          <a:xfrm>
            <a:off x="1409700" y="461962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9967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之后再提升</a:t>
            </a:r>
            <a:endParaRPr sz="2100" b="1">
              <a:solidFill>
                <a:srgbClr val="9967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用算法识别更慢的异常、比较更多候选，积累故障案例"/>
          <p:cNvSpPr>
            <a:spLocks noGrp="1"/>
          </p:cNvSpPr>
          <p:nvPr/>
        </p:nvSpPr>
        <p:spPr>
          <a:xfrm>
            <a:off x="4267200" y="4619625"/>
            <a:ext cx="7315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用算法识别更慢的异常、比较更多候选，积累故障案例</a:t>
            </a:r>
            <a:endParaRPr sz="1950" b="0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算法帮助比较证据，最终判断仍要用已知案例检验。"/>
          <p:cNvSpPr>
            <a:spLocks noGrp="1"/>
          </p:cNvSpPr>
          <p:nvPr/>
        </p:nvSpPr>
        <p:spPr>
          <a:xfrm>
            <a:off x="609600" y="58293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算法帮助比较证据，最终判断仍要用已知案例检验。</a:t>
            </a:r>
            <a:endParaRPr sz="1950" b="1">
              <a:solidFill>
                <a:srgbClr val="0050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关系连线"/>
          <p:cNvSpPr>
            <a:spLocks noGrp="1"/>
          </p:cNvSpPr>
          <p:nvPr/>
        </p:nvSpPr>
        <p:spPr>
          <a:xfrm>
            <a:off x="609600" y="6296025"/>
            <a:ext cx="10972800" cy="0"/>
          </a:xfrm>
          <a:prstGeom prst="line">
            <a:avLst/>
          </a:prstGeom>
          <a:noFill/>
          <a:ln w="9525">
            <a:solidFill>
              <a:srgbClr val="C8D9EC"/>
            </a:solidFill>
            <a:prstDash val="solid"/>
          </a:ln>
        </p:spPr>
      </p:sp>
      <p:sp>
        <p:nvSpPr>
          <p:cNvPr id="33" name="卫星网络异常关联与根因分析"/>
          <p:cNvSpPr>
            <a:spLocks noGrp="1"/>
          </p:cNvSpPr>
          <p:nvPr/>
        </p:nvSpPr>
        <p:spPr>
          <a:xfrm>
            <a:off x="609600" y="642937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14 / 14"/>
          <p:cNvSpPr>
            <a:spLocks noGrp="1"/>
          </p:cNvSpPr>
          <p:nvPr/>
        </p:nvSpPr>
        <p:spPr>
          <a:xfrm>
            <a:off x="10725150" y="642937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r">
              <a:buNone/>
              <a:def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22 / 22</a:t>
            </a:r>
            <a:endParaRPr sz="1125" b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2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3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4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5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6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7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8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9.xml><?xml version="1.0" encoding="utf-8"?>
<p:tagLst xmlns:p="http://schemas.openxmlformats.org/presentationml/2006/main">
  <p:tag name="KSO_WM_DIAGRAM_VIRTUALLY_FRAME" val="{&quot;height&quot;:149.25,&quot;left&quot;:48,&quot;top&quot;:265.5,&quot;width&quot;:864}"/>
</p:tagLst>
</file>

<file path=ppt/tags/tag10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1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2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3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4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5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6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7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8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19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20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21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22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ags/tag23.xml><?xml version="1.0" encoding="utf-8"?>
<p:tagLst xmlns:p="http://schemas.openxmlformats.org/presentationml/2006/main">
  <p:tag name="KSO_WM_DIAGRAM_VIRTUALLY_FRAME" val="{&quot;height&quot;:256.5,&quot;left&quot;:48,&quot;top&quot;:164.25,&quot;width&quot;:86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4118</Words>
  <Application>WPS 演示</Application>
  <PresentationFormat>Converted Presentation</PresentationFormat>
  <Paragraphs>636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宋体</vt:lpstr>
      <vt:lpstr>Wingdings</vt:lpstr>
      <vt:lpstr>Arial</vt:lpstr>
      <vt:lpstr>Noto Sans SC</vt:lpstr>
      <vt:lpstr>微软雅黑</vt:lpstr>
      <vt:lpstr>汉仪旗黑-85S</vt:lpstr>
      <vt:lpstr>黑体</vt:lpstr>
      <vt:lpstr>Arial Unicode MS</vt:lpstr>
      <vt:lpstr>Office 主题​​</vt:lpstr>
      <vt:lpstr>自定义主题</vt:lpstr>
      <vt:lpstr>Office 主题​​</vt:lpstr>
      <vt:lpstr>Office 主题​​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Dlo</cp:lastModifiedBy>
  <cp:revision>4</cp:revision>
  <dcterms:created xsi:type="dcterms:W3CDTF">2026-10-18T12:57:00Z</dcterms:created>
  <dcterms:modified xsi:type="dcterms:W3CDTF">2026-10-18T14:06:14Z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67B1563DAC21487EBE0778C0B1CCAC07_13</vt:lpwstr>
  </property>
  <property fmtid="{D5CDD505-2E9C-101B-9397-08002B2CF9AE}" pid="3" name="KSOProductBuildVer">
    <vt:lpwstr>2052-12.1.0.29161</vt:lpwstr>
  </property>
</Properties>
</file>