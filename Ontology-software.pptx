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74" r:id="rId5"/>
    <p:sldMasterId id="2147483686" r:id="rId6"/>
    <p:sldMasterId id="2147483692" r:id="rId7"/>
  </p:sldMasterIdLst>
  <p:notesMasterIdLst>
    <p:notesMasterId r:id="rId9"/>
  </p:notesMasterIdLst>
  <p:sldIdLst>
    <p:sldId id="256" r:id="rId8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slide" Target="slides/slide33.xml"/><Relationship Id="rId40" Type="http://schemas.openxmlformats.org/officeDocument/2006/relationships/slide" Target="slides/slide32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0" Type="http://schemas.openxmlformats.org/officeDocument/2006/relationships/slide" Target="slides/slide12.xml"/><Relationship Id="rId2" Type="http://schemas.openxmlformats.org/officeDocument/2006/relationships/theme" Target="theme/theme1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6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2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45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7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2000"/>
              </a:lnSpc>
              <a:defRPr sz="1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61950" algn="ctr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subtitle</a:t>
            </a:r>
            <a:endParaRPr lang="en-US" sz="18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0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5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6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45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7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8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20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22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23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26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7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28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800" b="1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29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30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800" b="1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31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3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>
            <p:ph type="body" sz="quarter" idx="3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>
            <p:ph type="body" sz="quarter" idx="3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5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3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3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38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4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2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43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81000" algn="l">
              <a:lnSpc>
                <a:spcPct val="92000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44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4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4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47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pic" sz="quarter" idx="49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4" name="AutoShape 4"/>
          <p:cNvSpPr/>
          <p:nvPr>
            <p:ph type="body" sz="quarter" idx="50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5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5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53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55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5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5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58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9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60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6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6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63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69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2000"/>
              </a:lnSpc>
              <a:defRPr sz="45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45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70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2000"/>
              </a:lnSpc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61950" algn="ctr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subtitle</a:t>
            </a:r>
            <a:endParaRPr lang="en-US" sz="18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7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7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7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7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75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7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7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7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79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45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45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80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8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8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8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8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8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85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86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87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88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89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90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91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1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800" b="1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92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93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1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800" b="1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94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9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>
            <p:ph type="body" sz="quarter" idx="9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>
            <p:ph type="body" sz="quarter" idx="9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98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9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0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0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0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0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0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05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06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81000" algn="l">
              <a:lnSpc>
                <a:spcPct val="92000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07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0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0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1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11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pic" sz="quarter" idx="11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4" name="AutoShape 4"/>
          <p:cNvSpPr/>
          <p:nvPr>
            <p:ph type="body" sz="quarter" idx="113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1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1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11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17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18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1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2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2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22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23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2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32" hasCustomPrompt="1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33" hasCustomPrompt="1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34" hasCustomPrompt="1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仅标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2900" y="276225"/>
            <a:ext cx="2376488" cy="547688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Freeform 3"/>
          <p:cNvSpPr/>
          <p:nvPr/>
        </p:nvSpPr>
        <p:spPr>
          <a:xfrm>
            <a:off x="4878388" y="0"/>
            <a:ext cx="7313612" cy="6858000"/>
          </a:xfrm>
          <a:custGeom>
            <a:avLst/>
            <a:gdLst/>
            <a:ahLst/>
            <a:cxnLst/>
            <a:rect l="l" t="t" r="r" b="b"/>
            <a:pathLst>
              <a:path w="7313612" h="6858000">
                <a:moveTo>
                  <a:pt x="1714410" y="0"/>
                </a:moveTo>
                <a:lnTo>
                  <a:pt x="7313613" y="0"/>
                </a:lnTo>
                <a:lnTo>
                  <a:pt x="7313613" y="6858000"/>
                </a:lnTo>
                <a:lnTo>
                  <a:pt x="0" y="6858000"/>
                </a:lnTo>
                <a:lnTo>
                  <a:pt x="1714410" y="0"/>
                </a:lnTo>
                <a:close/>
              </a:path>
            </a:pathLst>
          </a:custGeom>
          <a:solidFill>
            <a:srgbClr val="254F8F">
              <a:alpha val="10000"/>
            </a:srgbClr>
          </a:solidFill>
          <a:ln w="12700" cap="flat" cmpd="sng">
            <a:solidFill>
              <a:srgbClr val="446DA9">
                <a:alpha val="0"/>
              </a:srgbClr>
            </a:solidFill>
            <a:prstDash val="solid"/>
            <a:miter lim="800000"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441450" y="2012950"/>
            <a:ext cx="2674938" cy="26892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5" name="AutoShape 5"/>
          <p:cNvSpPr/>
          <p:nvPr>
            <p:ph type="body" sz="quarter" idx="135" hasCustomPrompt="1"/>
          </p:nvPr>
        </p:nvSpPr>
        <p:spPr>
          <a:xfrm>
            <a:off x="879475" y="6350000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36" hasCustomPrompt="1"/>
          </p:nvPr>
        </p:nvSpPr>
        <p:spPr>
          <a:xfrm>
            <a:off x="4116388" y="6350000"/>
            <a:ext cx="3959225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137" hasCustomPrompt="1"/>
          </p:nvPr>
        </p:nvSpPr>
        <p:spPr>
          <a:xfrm>
            <a:off x="8610600" y="6350000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3413" y="276225"/>
            <a:ext cx="2376487" cy="547688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6180138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6335713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5" name="AutoShape 5"/>
          <p:cNvSpPr/>
          <p:nvPr>
            <p:ph type="body" sz="quarter" idx="138" hasCustomPrompt="1"/>
          </p:nvPr>
        </p:nvSpPr>
        <p:spPr>
          <a:xfrm>
            <a:off x="6856413" y="4050665"/>
            <a:ext cx="2011680" cy="4089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normAutofit/>
          </a:bodyPr>
          <a:lstStyle>
            <a:lvl1pPr algn="l">
              <a:lnSpc>
                <a:spcPct val="133000"/>
              </a:lnSpc>
              <a:defRPr sz="1600" b="0" i="0" u="none" strike="noStrike" spc="1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33000"/>
              </a:lnSpc>
              <a:spcAft>
                <a:spcPts val="1000"/>
              </a:spcAft>
            </a:pPr>
            <a:r>
              <a:rPr lang="en-US" sz="1600" b="0" i="0" u="none" strike="noStrike" spc="1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单击此处编辑副标题</a:t>
            </a:r>
            <a:endParaRPr lang="en-US" sz="1600" b="0" i="0" u="none" strike="noStrike" spc="1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AutoShape 6"/>
          <p:cNvSpPr/>
          <p:nvPr>
            <p:ph type="body" sz="quarter" idx="139" hasCustomPrompt="1"/>
          </p:nvPr>
        </p:nvSpPr>
        <p:spPr>
          <a:xfrm>
            <a:off x="6856413" y="4525645"/>
            <a:ext cx="2011680" cy="4089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normAutofit/>
          </a:bodyPr>
          <a:lstStyle>
            <a:lvl1pPr algn="l">
              <a:lnSpc>
                <a:spcPct val="133000"/>
              </a:lnSpc>
              <a:defRPr sz="1600" b="0" i="0" u="none" strike="noStrike" spc="1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33000"/>
              </a:lnSpc>
              <a:spcAft>
                <a:spcPts val="1000"/>
              </a:spcAft>
            </a:pPr>
            <a:r>
              <a:rPr lang="en-US" sz="1600" b="0" i="0" u="none" strike="noStrike" spc="1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单击此处编辑副标题</a:t>
            </a:r>
            <a:endParaRPr lang="en-US" sz="1600" b="0" i="0" u="none" strike="noStrike" spc="1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>
            <p:ph type="body" sz="quarter" idx="140" hasCustomPrompt="1"/>
          </p:nvPr>
        </p:nvSpPr>
        <p:spPr>
          <a:xfrm>
            <a:off x="6856413" y="3300095"/>
            <a:ext cx="4352290" cy="3702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normAutofit/>
          </a:bodyPr>
          <a:lstStyle>
            <a:lvl1pPr algn="l">
              <a:lnSpc>
                <a:spcPct val="100000"/>
              </a:lnSpc>
              <a:defRPr sz="2000" b="0" i="0" u="none" strike="noStrike" spc="2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000" b="0" i="0" u="none" strike="noStrike" spc="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单击此处编辑副标题</a:t>
            </a:r>
            <a:endParaRPr lang="en-US" sz="2000" b="0" i="0" u="none" strike="noStrike" spc="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AutoShape 8"/>
          <p:cNvSpPr/>
          <p:nvPr>
            <p:ph type="body" sz="quarter" idx="141" hasCustomPrompt="1"/>
          </p:nvPr>
        </p:nvSpPr>
        <p:spPr>
          <a:xfrm>
            <a:off x="6848793" y="1923415"/>
            <a:ext cx="4359910" cy="117221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ctr">
            <a:normAutofit/>
          </a:bodyPr>
          <a:lstStyle>
            <a:lvl1pPr algn="l">
              <a:lnSpc>
                <a:spcPct val="100000"/>
              </a:lnSpc>
              <a:defRPr sz="6600" b="0" i="0" u="none" strike="noStrike" spc="700">
                <a:solidFill>
                  <a:srgbClr val="000000">
                    <a:alpha val="100000"/>
                  </a:srgbClr>
                </a:solidFill>
                <a:latin typeface="汉仪旗黑-85S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6600" b="0" i="0" u="none" strike="noStrike" spc="700">
                <a:solidFill>
                  <a:srgbClr val="000000"/>
                </a:solidFill>
                <a:latin typeface="汉仪旗黑-85S"/>
                <a:ea typeface="汉仪旗黑-85S"/>
                <a:cs typeface="汉仪旗黑-85S"/>
                <a:sym typeface="汉仪旗黑-85S"/>
              </a:rPr>
              <a:t>编辑标题</a:t>
            </a:r>
            <a:endParaRPr lang="en-US" sz="6600" b="0" i="0" u="none" strike="noStrike" spc="700">
              <a:solidFill>
                <a:srgbClr val="000000"/>
              </a:solidFill>
              <a:latin typeface="汉仪旗黑-85S"/>
              <a:ea typeface="汉仪旗黑-85S"/>
              <a:cs typeface="汉仪旗黑-85S"/>
              <a:sym typeface="汉仪旗黑-85S"/>
            </a:endParaRPr>
          </a:p>
        </p:txBody>
      </p:sp>
      <p:sp>
        <p:nvSpPr>
          <p:cNvPr id="9" name="AutoShape 9"/>
          <p:cNvSpPr/>
          <p:nvPr>
            <p:ph type="body" sz="quarter" idx="142" hasCustomPrompt="1"/>
          </p:nvPr>
        </p:nvSpPr>
        <p:spPr>
          <a:xfrm>
            <a:off x="879475" y="6350000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" name="AutoShape 10"/>
          <p:cNvSpPr/>
          <p:nvPr>
            <p:ph type="body" sz="quarter" idx="143" hasCustomPrompt="1"/>
          </p:nvPr>
        </p:nvSpPr>
        <p:spPr>
          <a:xfrm>
            <a:off x="4116388" y="6350000"/>
            <a:ext cx="3959225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" name="AutoShape 11"/>
          <p:cNvSpPr/>
          <p:nvPr>
            <p:ph type="body" sz="quarter" idx="144" hasCustomPrompt="1"/>
          </p:nvPr>
        </p:nvSpPr>
        <p:spPr>
          <a:xfrm>
            <a:off x="8610600" y="6350000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内容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10172700" y="501650"/>
            <a:ext cx="1905000" cy="504825"/>
          </a:xfrm>
          <a:prstGeom prst="rect">
            <a:avLst/>
          </a:prstGeom>
          <a:solidFill>
            <a:srgbClr val="B39B77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225088" y="541338"/>
            <a:ext cx="1800225" cy="40957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5" name="AutoShape 5"/>
          <p:cNvSpPr/>
          <p:nvPr>
            <p:ph type="body" sz="quarter" idx="145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0000" tIns="46800" rIns="90000" bIns="46800" anchor="t">
            <a:normAutofit/>
          </a:bodyPr>
          <a:lstStyle>
            <a:lvl1pPr marL="457200" indent="-228600" algn="l">
              <a:lnSpc>
                <a:spcPct val="133000"/>
              </a:lnSpc>
              <a:defRPr sz="1800" b="0" i="0" u="none" strike="noStrike" spc="10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</a:defRPr>
            </a:lvl1pPr>
            <a:lvl2pPr marL="889000" indent="-203200"/>
            <a:lvl3pPr marL="1346200" indent="-203200"/>
            <a:lvl4pPr marL="1778000" indent="-177800"/>
            <a:lvl5pPr marL="2235200" indent="-177800"/>
            <a:lvl6pPr marL="2692400" indent="-177800"/>
            <a:lvl7pPr marL="3149600" indent="-177800"/>
            <a:lvl8pPr marL="3606800" indent="-177800"/>
            <a:lvl9pPr marL="4064000" indent="-177800"/>
          </a:lstStyle>
          <a:p>
            <a:pPr marL="228600" indent="-228600" algn="l">
              <a:lnSpc>
                <a:spcPct val="133000"/>
              </a:lnSpc>
              <a:spcAft>
                <a:spcPts val="1000"/>
              </a:spcAft>
              <a:buClr>
                <a:srgbClr val="595959"/>
              </a:buClr>
              <a:buChar char="●"/>
            </a:pPr>
            <a:r>
              <a:rPr lang="en-US" sz="18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18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85800" lvl="1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lang="en-US" sz="16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16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0" lvl="2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lang="en-US" sz="16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6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600200" lvl="3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"/>
            </a:pPr>
            <a:r>
              <a:rPr lang="en-US" sz="14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4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57400" lvl="4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●"/>
            </a:pPr>
            <a:r>
              <a:rPr lang="en-US" sz="14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14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AutoShape 6"/>
          <p:cNvSpPr/>
          <p:nvPr>
            <p:ph type="body" sz="quarter" idx="146" hasCustomPrompt="1"/>
          </p:nvPr>
        </p:nvSpPr>
        <p:spPr>
          <a:xfrm>
            <a:off x="608330" y="384810"/>
            <a:ext cx="6873875" cy="7054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0000" tIns="46800" rIns="90000" bIns="46800" anchor="ctr">
            <a:normAutofit/>
          </a:bodyPr>
          <a:lstStyle>
            <a:lvl1pPr algn="l">
              <a:lnSpc>
                <a:spcPct val="100000"/>
              </a:lnSpc>
              <a:defRPr sz="3600" b="1" i="0" u="none" strike="noStrike" spc="3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600" b="1" i="0" u="none" strike="noStrike" spc="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600" b="1" i="0" u="none" strike="noStrike" spc="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>
            <p:ph type="body" sz="quarter" idx="147" hasCustomPrompt="1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>
            <p:ph type="body" sz="quarter" idx="148" hasCustomPrompt="1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>
            <p:ph type="body" sz="quarter" idx="149" hasCustomPrompt="1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3413" y="276225"/>
            <a:ext cx="2376487" cy="547688"/>
          </a:xfrm>
          <a:prstGeom prst="rect">
            <a:avLst/>
          </a:prstGeom>
          <a:ln w="12700">
            <a:noFill/>
            <a:prstDash val="solid"/>
          </a:ln>
        </p:spPr>
      </p:pic>
      <p:grpSp>
        <p:nvGrpSpPr>
          <p:cNvPr id="3" name="Group 3"/>
          <p:cNvGrpSpPr/>
          <p:nvPr/>
        </p:nvGrpSpPr>
        <p:grpSpPr>
          <a:xfrm>
            <a:off x="0" y="0"/>
            <a:ext cx="12193588" cy="6864350"/>
            <a:chOff x="0" y="0"/>
            <a:chExt cx="12193588" cy="6864350"/>
          </a:xfrm>
        </p:grpSpPr>
        <p:sp>
          <p:nvSpPr>
            <p:cNvPr id="4" name="Freeform 4"/>
            <p:cNvSpPr/>
            <p:nvPr/>
          </p:nvSpPr>
          <p:spPr>
            <a:xfrm rot="5400000">
              <a:off x="10383480" y="5049028"/>
              <a:ext cx="1855521" cy="1761380"/>
            </a:xfrm>
            <a:custGeom>
              <a:avLst/>
              <a:gdLst/>
              <a:ahLst/>
              <a:cxnLst/>
              <a:rect l="l" t="t" r="r" b="b"/>
              <a:pathLst>
                <a:path w="1855521" h="1761380">
                  <a:moveTo>
                    <a:pt x="0" y="0"/>
                  </a:moveTo>
                  <a:lnTo>
                    <a:pt x="1855521" y="0"/>
                  </a:lnTo>
                  <a:lnTo>
                    <a:pt x="1855521" y="17613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DB8">
                <a:alpha val="75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5" name="Freeform 5"/>
            <p:cNvSpPr/>
            <p:nvPr/>
          </p:nvSpPr>
          <p:spPr>
            <a:xfrm rot="5400000">
              <a:off x="8470050" y="3140812"/>
              <a:ext cx="3797170" cy="3649905"/>
            </a:xfrm>
            <a:custGeom>
              <a:avLst/>
              <a:gdLst/>
              <a:ahLst/>
              <a:cxnLst/>
              <a:rect l="l" t="t" r="r" b="b"/>
              <a:pathLst>
                <a:path w="3797170" h="3649905">
                  <a:moveTo>
                    <a:pt x="0" y="0"/>
                  </a:moveTo>
                  <a:lnTo>
                    <a:pt x="1965038" y="0"/>
                  </a:lnTo>
                  <a:lnTo>
                    <a:pt x="3797170" y="1761079"/>
                  </a:lnTo>
                  <a:lnTo>
                    <a:pt x="3797170" y="36499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89F7A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Freeform 6"/>
            <p:cNvSpPr/>
            <p:nvPr/>
          </p:nvSpPr>
          <p:spPr>
            <a:xfrm>
              <a:off x="8585310" y="5163442"/>
              <a:ext cx="3606778" cy="1150703"/>
            </a:xfrm>
            <a:custGeom>
              <a:avLst/>
              <a:gdLst/>
              <a:ahLst/>
              <a:cxnLst/>
              <a:rect l="l" t="t" r="r" b="b"/>
              <a:pathLst>
                <a:path w="3606778" h="1150703">
                  <a:moveTo>
                    <a:pt x="1111899" y="0"/>
                  </a:moveTo>
                  <a:lnTo>
                    <a:pt x="3606778" y="0"/>
                  </a:lnTo>
                  <a:lnTo>
                    <a:pt x="3606778" y="1150703"/>
                  </a:lnTo>
                  <a:lnTo>
                    <a:pt x="0" y="1150703"/>
                  </a:lnTo>
                  <a:lnTo>
                    <a:pt x="1111899" y="0"/>
                  </a:lnTo>
                  <a:close/>
                </a:path>
              </a:pathLst>
            </a:custGeom>
            <a:solidFill>
              <a:srgbClr val="006DB8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3728422" cy="3636256"/>
            </a:xfrm>
            <a:custGeom>
              <a:avLst/>
              <a:gdLst/>
              <a:ahLst/>
              <a:cxnLst/>
              <a:rect l="l" t="t" r="r" b="b"/>
              <a:pathLst>
                <a:path w="3728422" h="3636256">
                  <a:moveTo>
                    <a:pt x="0" y="0"/>
                  </a:moveTo>
                  <a:lnTo>
                    <a:pt x="3728422" y="0"/>
                  </a:lnTo>
                  <a:lnTo>
                    <a:pt x="3728422" y="67224"/>
                  </a:lnTo>
                  <a:lnTo>
                    <a:pt x="159137" y="3636256"/>
                  </a:lnTo>
                  <a:lnTo>
                    <a:pt x="159137" y="3621422"/>
                  </a:lnTo>
                  <a:lnTo>
                    <a:pt x="0" y="36214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9B77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8" name="Freeform 8"/>
            <p:cNvSpPr/>
            <p:nvPr/>
          </p:nvSpPr>
          <p:spPr>
            <a:xfrm>
              <a:off x="1658" y="258312"/>
              <a:ext cx="4472915" cy="1150703"/>
            </a:xfrm>
            <a:custGeom>
              <a:avLst/>
              <a:gdLst/>
              <a:ahLst/>
              <a:cxnLst/>
              <a:rect l="l" t="t" r="r" b="b"/>
              <a:pathLst>
                <a:path w="4472915" h="1150703">
                  <a:moveTo>
                    <a:pt x="0" y="0"/>
                  </a:moveTo>
                  <a:lnTo>
                    <a:pt x="4472915" y="0"/>
                  </a:lnTo>
                  <a:lnTo>
                    <a:pt x="3361016" y="1150703"/>
                  </a:lnTo>
                  <a:lnTo>
                    <a:pt x="0" y="1150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DB8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cxnSp>
        <p:nvCxnSpPr>
          <p:cNvPr id="9" name="Connector 9"/>
          <p:cNvCxnSpPr/>
          <p:nvPr/>
        </p:nvCxnSpPr>
        <p:spPr>
          <a:xfrm>
            <a:off x="3106738" y="4746625"/>
            <a:ext cx="5978525" cy="0"/>
          </a:xfrm>
          <a:prstGeom prst="line">
            <a:avLst/>
          </a:prstGeom>
          <a:noFill/>
          <a:ln w="25400" cap="flat">
            <a:solidFill>
              <a:srgbClr val="006DB8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" name="Connector 10"/>
          <p:cNvCxnSpPr/>
          <p:nvPr/>
        </p:nvCxnSpPr>
        <p:spPr>
          <a:xfrm>
            <a:off x="3106738" y="2197100"/>
            <a:ext cx="5978525" cy="0"/>
          </a:xfrm>
          <a:prstGeom prst="line">
            <a:avLst/>
          </a:prstGeom>
          <a:noFill/>
          <a:ln w="25400" cap="flat">
            <a:solidFill>
              <a:srgbClr val="006DB8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>
            <p:ph type="body" sz="quarter" idx="150" hasCustomPrompt="1"/>
          </p:nvPr>
        </p:nvSpPr>
        <p:spPr>
          <a:xfrm>
            <a:off x="3201036" y="2496502"/>
            <a:ext cx="5789930" cy="13989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b">
            <a:normAutofit/>
          </a:bodyPr>
          <a:lstStyle>
            <a:lvl1pPr algn="dist">
              <a:lnSpc>
                <a:spcPct val="100000"/>
              </a:lnSpc>
              <a:defRPr sz="8000" b="0" i="0" u="none" strike="noStrike" spc="1000">
                <a:solidFill>
                  <a:srgbClr val="262626">
                    <a:alpha val="100000"/>
                  </a:srgbClr>
                </a:solidFill>
                <a:latin typeface="汉仪旗黑-85S"/>
              </a:defRPr>
            </a:lvl1pPr>
          </a:lstStyle>
          <a:p>
            <a:pPr marL="0" indent="0" algn="dist">
              <a:lnSpc>
                <a:spcPct val="100000"/>
              </a:lnSpc>
            </a:pPr>
            <a:r>
              <a:rPr lang="en-US" sz="8000" b="0" i="0" u="none" strike="noStrike" spc="1000">
                <a:solidFill>
                  <a:srgbClr val="262626"/>
                </a:solidFill>
                <a:latin typeface="汉仪旗黑-85S"/>
                <a:ea typeface="汉仪旗黑-85S"/>
                <a:cs typeface="汉仪旗黑-85S"/>
                <a:sym typeface="汉仪旗黑-85S"/>
              </a:rPr>
              <a:t>编辑标题</a:t>
            </a:r>
            <a:endParaRPr lang="en-US" sz="8000" b="0" i="0" u="none" strike="noStrike" spc="1000">
              <a:solidFill>
                <a:srgbClr val="262626"/>
              </a:solidFill>
              <a:latin typeface="汉仪旗黑-85S"/>
              <a:ea typeface="汉仪旗黑-85S"/>
              <a:cs typeface="汉仪旗黑-85S"/>
              <a:sym typeface="汉仪旗黑-85S"/>
            </a:endParaRPr>
          </a:p>
        </p:txBody>
      </p:sp>
      <p:sp>
        <p:nvSpPr>
          <p:cNvPr id="12" name="AutoShape 12"/>
          <p:cNvSpPr/>
          <p:nvPr>
            <p:ph type="body" sz="quarter" idx="151" hasCustomPrompt="1"/>
          </p:nvPr>
        </p:nvSpPr>
        <p:spPr>
          <a:xfrm>
            <a:off x="3201036" y="4003049"/>
            <a:ext cx="5789930" cy="4765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rmAutofit/>
          </a:bodyPr>
          <a:lstStyle>
            <a:lvl1pPr algn="ctr">
              <a:lnSpc>
                <a:spcPct val="100000"/>
              </a:lnSpc>
              <a:defRPr sz="2000" b="0" i="0" u="none" strike="noStrike" spc="20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228600" indent="-228600" algn="ctr">
              <a:lnSpc>
                <a:spcPct val="100000"/>
              </a:lnSpc>
            </a:pPr>
            <a:r>
              <a:rPr lang="en-US" sz="2000" b="0" i="0" u="none" strike="noStrike" spc="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单击此处编辑文本</a:t>
            </a:r>
            <a:endParaRPr lang="en-US" sz="2000" b="0" i="0" u="none" strike="noStrike" spc="2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AutoShape 13"/>
          <p:cNvSpPr/>
          <p:nvPr>
            <p:ph type="body" sz="quarter" idx="152" hasCustomPrompt="1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" name="AutoShape 14"/>
          <p:cNvSpPr/>
          <p:nvPr>
            <p:ph type="body" sz="quarter" idx="153" hasCustomPrompt="1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" name="AutoShape 15"/>
          <p:cNvSpPr/>
          <p:nvPr>
            <p:ph type="body" sz="quarter" idx="154" hasCustomPrompt="1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60" hasCustomPrompt="1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61" hasCustomPrompt="1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62" hasCustomPrompt="1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仅标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2900" y="276225"/>
            <a:ext cx="2376488" cy="547688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Freeform 3"/>
          <p:cNvSpPr/>
          <p:nvPr/>
        </p:nvSpPr>
        <p:spPr>
          <a:xfrm>
            <a:off x="4878388" y="0"/>
            <a:ext cx="7313612" cy="6858000"/>
          </a:xfrm>
          <a:custGeom>
            <a:avLst/>
            <a:gdLst/>
            <a:ahLst/>
            <a:cxnLst/>
            <a:rect l="l" t="t" r="r" b="b"/>
            <a:pathLst>
              <a:path w="7313612" h="6858000">
                <a:moveTo>
                  <a:pt x="1714410" y="0"/>
                </a:moveTo>
                <a:lnTo>
                  <a:pt x="7313613" y="0"/>
                </a:lnTo>
                <a:lnTo>
                  <a:pt x="7313613" y="6858000"/>
                </a:lnTo>
                <a:lnTo>
                  <a:pt x="0" y="6858000"/>
                </a:lnTo>
                <a:lnTo>
                  <a:pt x="1714410" y="0"/>
                </a:lnTo>
                <a:close/>
              </a:path>
            </a:pathLst>
          </a:custGeom>
          <a:solidFill>
            <a:srgbClr val="254F8F">
              <a:alpha val="10000"/>
            </a:srgbClr>
          </a:solidFill>
          <a:ln w="12700" cap="flat" cmpd="sng">
            <a:solidFill>
              <a:srgbClr val="446DA9">
                <a:alpha val="0"/>
              </a:srgbClr>
            </a:solidFill>
            <a:prstDash val="solid"/>
            <a:miter lim="800000"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441450" y="2012950"/>
            <a:ext cx="2674938" cy="26892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5" name="AutoShape 5"/>
          <p:cNvSpPr/>
          <p:nvPr>
            <p:ph type="body" sz="quarter" idx="163" hasCustomPrompt="1"/>
          </p:nvPr>
        </p:nvSpPr>
        <p:spPr>
          <a:xfrm>
            <a:off x="879475" y="6350000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64" hasCustomPrompt="1"/>
          </p:nvPr>
        </p:nvSpPr>
        <p:spPr>
          <a:xfrm>
            <a:off x="4116388" y="6350000"/>
            <a:ext cx="3959225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165" hasCustomPrompt="1"/>
          </p:nvPr>
        </p:nvSpPr>
        <p:spPr>
          <a:xfrm>
            <a:off x="8610600" y="6350000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3413" y="276225"/>
            <a:ext cx="2376487" cy="547688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6180138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6335713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5" name="AutoShape 5"/>
          <p:cNvSpPr/>
          <p:nvPr>
            <p:ph type="body" sz="quarter" idx="166" hasCustomPrompt="1"/>
          </p:nvPr>
        </p:nvSpPr>
        <p:spPr>
          <a:xfrm>
            <a:off x="6856413" y="4050665"/>
            <a:ext cx="2011680" cy="4089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normAutofit/>
          </a:bodyPr>
          <a:lstStyle>
            <a:lvl1pPr algn="l">
              <a:lnSpc>
                <a:spcPct val="133000"/>
              </a:lnSpc>
              <a:defRPr sz="1600" b="0" i="0" u="none" strike="noStrike" spc="1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33000"/>
              </a:lnSpc>
              <a:spcAft>
                <a:spcPts val="1000"/>
              </a:spcAft>
            </a:pPr>
            <a:r>
              <a:rPr lang="en-US" sz="1600" b="0" i="0" u="none" strike="noStrike" spc="1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单击此处编辑副标题</a:t>
            </a:r>
            <a:endParaRPr lang="en-US" sz="1600" b="0" i="0" u="none" strike="noStrike" spc="1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AutoShape 6"/>
          <p:cNvSpPr/>
          <p:nvPr>
            <p:ph type="body" sz="quarter" idx="167" hasCustomPrompt="1"/>
          </p:nvPr>
        </p:nvSpPr>
        <p:spPr>
          <a:xfrm>
            <a:off x="6856413" y="4525645"/>
            <a:ext cx="2011680" cy="4089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normAutofit/>
          </a:bodyPr>
          <a:lstStyle>
            <a:lvl1pPr algn="l">
              <a:lnSpc>
                <a:spcPct val="133000"/>
              </a:lnSpc>
              <a:defRPr sz="1600" b="0" i="0" u="none" strike="noStrike" spc="1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33000"/>
              </a:lnSpc>
              <a:spcAft>
                <a:spcPts val="1000"/>
              </a:spcAft>
            </a:pPr>
            <a:r>
              <a:rPr lang="en-US" sz="1600" b="0" i="0" u="none" strike="noStrike" spc="1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单击此处编辑副标题</a:t>
            </a:r>
            <a:endParaRPr lang="en-US" sz="1600" b="0" i="0" u="none" strike="noStrike" spc="1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>
            <p:ph type="body" sz="quarter" idx="168" hasCustomPrompt="1"/>
          </p:nvPr>
        </p:nvSpPr>
        <p:spPr>
          <a:xfrm>
            <a:off x="6856413" y="3300095"/>
            <a:ext cx="4352290" cy="3702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normAutofit/>
          </a:bodyPr>
          <a:lstStyle>
            <a:lvl1pPr algn="l">
              <a:lnSpc>
                <a:spcPct val="100000"/>
              </a:lnSpc>
              <a:defRPr sz="2000" b="0" i="0" u="none" strike="noStrike" spc="2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000" b="0" i="0" u="none" strike="noStrike" spc="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单击此处编辑副标题</a:t>
            </a:r>
            <a:endParaRPr lang="en-US" sz="2000" b="0" i="0" u="none" strike="noStrike" spc="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AutoShape 8"/>
          <p:cNvSpPr/>
          <p:nvPr>
            <p:ph type="body" sz="quarter" idx="169" hasCustomPrompt="1"/>
          </p:nvPr>
        </p:nvSpPr>
        <p:spPr>
          <a:xfrm>
            <a:off x="6848793" y="1923415"/>
            <a:ext cx="4359910" cy="117221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ctr">
            <a:normAutofit/>
          </a:bodyPr>
          <a:lstStyle>
            <a:lvl1pPr algn="l">
              <a:lnSpc>
                <a:spcPct val="100000"/>
              </a:lnSpc>
              <a:defRPr sz="6600" b="0" i="0" u="none" strike="noStrike" spc="700">
                <a:solidFill>
                  <a:srgbClr val="000000">
                    <a:alpha val="100000"/>
                  </a:srgbClr>
                </a:solidFill>
                <a:latin typeface="汉仪旗黑-85S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6600" b="0" i="0" u="none" strike="noStrike" spc="700">
                <a:solidFill>
                  <a:srgbClr val="000000"/>
                </a:solidFill>
                <a:latin typeface="汉仪旗黑-85S"/>
                <a:ea typeface="汉仪旗黑-85S"/>
                <a:cs typeface="汉仪旗黑-85S"/>
                <a:sym typeface="汉仪旗黑-85S"/>
              </a:rPr>
              <a:t>编辑标题</a:t>
            </a:r>
            <a:endParaRPr lang="en-US" sz="6600" b="0" i="0" u="none" strike="noStrike" spc="700">
              <a:solidFill>
                <a:srgbClr val="000000"/>
              </a:solidFill>
              <a:latin typeface="汉仪旗黑-85S"/>
              <a:ea typeface="汉仪旗黑-85S"/>
              <a:cs typeface="汉仪旗黑-85S"/>
              <a:sym typeface="汉仪旗黑-85S"/>
            </a:endParaRPr>
          </a:p>
        </p:txBody>
      </p:sp>
      <p:sp>
        <p:nvSpPr>
          <p:cNvPr id="9" name="AutoShape 9"/>
          <p:cNvSpPr/>
          <p:nvPr>
            <p:ph type="body" sz="quarter" idx="170" hasCustomPrompt="1"/>
          </p:nvPr>
        </p:nvSpPr>
        <p:spPr>
          <a:xfrm>
            <a:off x="879475" y="6350000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" name="AutoShape 10"/>
          <p:cNvSpPr/>
          <p:nvPr>
            <p:ph type="body" sz="quarter" idx="171" hasCustomPrompt="1"/>
          </p:nvPr>
        </p:nvSpPr>
        <p:spPr>
          <a:xfrm>
            <a:off x="4116388" y="6350000"/>
            <a:ext cx="3959225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" name="AutoShape 11"/>
          <p:cNvSpPr/>
          <p:nvPr>
            <p:ph type="body" sz="quarter" idx="172" hasCustomPrompt="1"/>
          </p:nvPr>
        </p:nvSpPr>
        <p:spPr>
          <a:xfrm>
            <a:off x="8610600" y="6350000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内容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10172700" y="501650"/>
            <a:ext cx="1905000" cy="504825"/>
          </a:xfrm>
          <a:prstGeom prst="rect">
            <a:avLst/>
          </a:prstGeom>
          <a:solidFill>
            <a:srgbClr val="B39B77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225088" y="541338"/>
            <a:ext cx="1800225" cy="40957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5" name="AutoShape 5"/>
          <p:cNvSpPr/>
          <p:nvPr>
            <p:ph type="body" sz="quarter" idx="173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0000" tIns="46800" rIns="90000" bIns="46800" anchor="t">
            <a:normAutofit/>
          </a:bodyPr>
          <a:lstStyle>
            <a:lvl1pPr marL="457200" indent="-228600" algn="l">
              <a:lnSpc>
                <a:spcPct val="133000"/>
              </a:lnSpc>
              <a:defRPr sz="1800" b="0" i="0" u="none" strike="noStrike" spc="10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</a:defRPr>
            </a:lvl1pPr>
            <a:lvl2pPr marL="889000" indent="-203200"/>
            <a:lvl3pPr marL="1346200" indent="-203200"/>
            <a:lvl4pPr marL="1778000" indent="-177800"/>
            <a:lvl5pPr marL="2235200" indent="-177800"/>
            <a:lvl6pPr marL="2692400" indent="-177800"/>
            <a:lvl7pPr marL="3149600" indent="-177800"/>
            <a:lvl8pPr marL="3606800" indent="-177800"/>
            <a:lvl9pPr marL="4064000" indent="-177800"/>
          </a:lstStyle>
          <a:p>
            <a:pPr marL="228600" indent="-228600" algn="l">
              <a:lnSpc>
                <a:spcPct val="133000"/>
              </a:lnSpc>
              <a:spcAft>
                <a:spcPts val="1000"/>
              </a:spcAft>
              <a:buClr>
                <a:srgbClr val="595959"/>
              </a:buClr>
              <a:buChar char="●"/>
            </a:pPr>
            <a:r>
              <a:rPr lang="en-US" sz="18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18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85800" lvl="1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lang="en-US" sz="16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16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0" lvl="2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lang="en-US" sz="16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6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600200" lvl="3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"/>
            </a:pPr>
            <a:r>
              <a:rPr lang="en-US" sz="14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4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57400" lvl="4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●"/>
            </a:pPr>
            <a:r>
              <a:rPr lang="en-US" sz="14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14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AutoShape 6"/>
          <p:cNvSpPr/>
          <p:nvPr>
            <p:ph type="body" sz="quarter" idx="174" hasCustomPrompt="1"/>
          </p:nvPr>
        </p:nvSpPr>
        <p:spPr>
          <a:xfrm>
            <a:off x="608330" y="384810"/>
            <a:ext cx="6873875" cy="7054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0000" tIns="46800" rIns="90000" bIns="46800" anchor="ctr">
            <a:normAutofit/>
          </a:bodyPr>
          <a:lstStyle>
            <a:lvl1pPr algn="l">
              <a:lnSpc>
                <a:spcPct val="100000"/>
              </a:lnSpc>
              <a:defRPr sz="3600" b="1" i="0" u="none" strike="noStrike" spc="3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600" b="1" i="0" u="none" strike="noStrike" spc="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600" b="1" i="0" u="none" strike="noStrike" spc="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>
            <p:ph type="body" sz="quarter" idx="175" hasCustomPrompt="1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>
            <p:ph type="body" sz="quarter" idx="176" hasCustomPrompt="1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>
            <p:ph type="body" sz="quarter" idx="177" hasCustomPrompt="1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3413" y="276225"/>
            <a:ext cx="2376487" cy="547688"/>
          </a:xfrm>
          <a:prstGeom prst="rect">
            <a:avLst/>
          </a:prstGeom>
          <a:ln w="12700">
            <a:noFill/>
            <a:prstDash val="solid"/>
          </a:ln>
        </p:spPr>
      </p:pic>
      <p:grpSp>
        <p:nvGrpSpPr>
          <p:cNvPr id="3" name="Group 3"/>
          <p:cNvGrpSpPr/>
          <p:nvPr/>
        </p:nvGrpSpPr>
        <p:grpSpPr>
          <a:xfrm>
            <a:off x="0" y="0"/>
            <a:ext cx="12193588" cy="6864350"/>
            <a:chOff x="0" y="0"/>
            <a:chExt cx="12193588" cy="6864350"/>
          </a:xfrm>
        </p:grpSpPr>
        <p:sp>
          <p:nvSpPr>
            <p:cNvPr id="4" name="Freeform 4"/>
            <p:cNvSpPr/>
            <p:nvPr/>
          </p:nvSpPr>
          <p:spPr>
            <a:xfrm rot="5400000">
              <a:off x="10383480" y="5049028"/>
              <a:ext cx="1855521" cy="1761380"/>
            </a:xfrm>
            <a:custGeom>
              <a:avLst/>
              <a:gdLst/>
              <a:ahLst/>
              <a:cxnLst/>
              <a:rect l="l" t="t" r="r" b="b"/>
              <a:pathLst>
                <a:path w="1855521" h="1761380">
                  <a:moveTo>
                    <a:pt x="0" y="0"/>
                  </a:moveTo>
                  <a:lnTo>
                    <a:pt x="1855521" y="0"/>
                  </a:lnTo>
                  <a:lnTo>
                    <a:pt x="1855521" y="17613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DB8">
                <a:alpha val="75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5" name="Freeform 5"/>
            <p:cNvSpPr/>
            <p:nvPr/>
          </p:nvSpPr>
          <p:spPr>
            <a:xfrm rot="5400000">
              <a:off x="8470050" y="3140812"/>
              <a:ext cx="3797170" cy="3649905"/>
            </a:xfrm>
            <a:custGeom>
              <a:avLst/>
              <a:gdLst/>
              <a:ahLst/>
              <a:cxnLst/>
              <a:rect l="l" t="t" r="r" b="b"/>
              <a:pathLst>
                <a:path w="3797170" h="3649905">
                  <a:moveTo>
                    <a:pt x="0" y="0"/>
                  </a:moveTo>
                  <a:lnTo>
                    <a:pt x="1965038" y="0"/>
                  </a:lnTo>
                  <a:lnTo>
                    <a:pt x="3797170" y="1761079"/>
                  </a:lnTo>
                  <a:lnTo>
                    <a:pt x="3797170" y="36499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89F7A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Freeform 6"/>
            <p:cNvSpPr/>
            <p:nvPr/>
          </p:nvSpPr>
          <p:spPr>
            <a:xfrm>
              <a:off x="8585310" y="5163442"/>
              <a:ext cx="3606778" cy="1150703"/>
            </a:xfrm>
            <a:custGeom>
              <a:avLst/>
              <a:gdLst/>
              <a:ahLst/>
              <a:cxnLst/>
              <a:rect l="l" t="t" r="r" b="b"/>
              <a:pathLst>
                <a:path w="3606778" h="1150703">
                  <a:moveTo>
                    <a:pt x="1111899" y="0"/>
                  </a:moveTo>
                  <a:lnTo>
                    <a:pt x="3606778" y="0"/>
                  </a:lnTo>
                  <a:lnTo>
                    <a:pt x="3606778" y="1150703"/>
                  </a:lnTo>
                  <a:lnTo>
                    <a:pt x="0" y="1150703"/>
                  </a:lnTo>
                  <a:lnTo>
                    <a:pt x="1111899" y="0"/>
                  </a:lnTo>
                  <a:close/>
                </a:path>
              </a:pathLst>
            </a:custGeom>
            <a:solidFill>
              <a:srgbClr val="006DB8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3728422" cy="3636256"/>
            </a:xfrm>
            <a:custGeom>
              <a:avLst/>
              <a:gdLst/>
              <a:ahLst/>
              <a:cxnLst/>
              <a:rect l="l" t="t" r="r" b="b"/>
              <a:pathLst>
                <a:path w="3728422" h="3636256">
                  <a:moveTo>
                    <a:pt x="0" y="0"/>
                  </a:moveTo>
                  <a:lnTo>
                    <a:pt x="3728422" y="0"/>
                  </a:lnTo>
                  <a:lnTo>
                    <a:pt x="3728422" y="67224"/>
                  </a:lnTo>
                  <a:lnTo>
                    <a:pt x="159137" y="3636256"/>
                  </a:lnTo>
                  <a:lnTo>
                    <a:pt x="159137" y="3621422"/>
                  </a:lnTo>
                  <a:lnTo>
                    <a:pt x="0" y="36214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9B77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8" name="Freeform 8"/>
            <p:cNvSpPr/>
            <p:nvPr/>
          </p:nvSpPr>
          <p:spPr>
            <a:xfrm>
              <a:off x="1658" y="258312"/>
              <a:ext cx="4472915" cy="1150703"/>
            </a:xfrm>
            <a:custGeom>
              <a:avLst/>
              <a:gdLst/>
              <a:ahLst/>
              <a:cxnLst/>
              <a:rect l="l" t="t" r="r" b="b"/>
              <a:pathLst>
                <a:path w="4472915" h="1150703">
                  <a:moveTo>
                    <a:pt x="0" y="0"/>
                  </a:moveTo>
                  <a:lnTo>
                    <a:pt x="4472915" y="0"/>
                  </a:lnTo>
                  <a:lnTo>
                    <a:pt x="3361016" y="1150703"/>
                  </a:lnTo>
                  <a:lnTo>
                    <a:pt x="0" y="1150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DB8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cxnSp>
        <p:nvCxnSpPr>
          <p:cNvPr id="9" name="Connector 9"/>
          <p:cNvCxnSpPr/>
          <p:nvPr/>
        </p:nvCxnSpPr>
        <p:spPr>
          <a:xfrm>
            <a:off x="3106738" y="4746625"/>
            <a:ext cx="5978525" cy="0"/>
          </a:xfrm>
          <a:prstGeom prst="line">
            <a:avLst/>
          </a:prstGeom>
          <a:noFill/>
          <a:ln w="25400" cap="flat">
            <a:solidFill>
              <a:srgbClr val="006DB8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" name="Connector 10"/>
          <p:cNvCxnSpPr/>
          <p:nvPr/>
        </p:nvCxnSpPr>
        <p:spPr>
          <a:xfrm>
            <a:off x="3106738" y="2197100"/>
            <a:ext cx="5978525" cy="0"/>
          </a:xfrm>
          <a:prstGeom prst="line">
            <a:avLst/>
          </a:prstGeom>
          <a:noFill/>
          <a:ln w="25400" cap="flat">
            <a:solidFill>
              <a:srgbClr val="006DB8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>
            <p:ph type="body" sz="quarter" idx="178" hasCustomPrompt="1"/>
          </p:nvPr>
        </p:nvSpPr>
        <p:spPr>
          <a:xfrm>
            <a:off x="3201036" y="2496502"/>
            <a:ext cx="5789930" cy="13989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b">
            <a:normAutofit/>
          </a:bodyPr>
          <a:lstStyle>
            <a:lvl1pPr algn="dist">
              <a:lnSpc>
                <a:spcPct val="100000"/>
              </a:lnSpc>
              <a:defRPr sz="8000" b="0" i="0" u="none" strike="noStrike" spc="1000">
                <a:solidFill>
                  <a:srgbClr val="262626">
                    <a:alpha val="100000"/>
                  </a:srgbClr>
                </a:solidFill>
                <a:latin typeface="汉仪旗黑-85S"/>
              </a:defRPr>
            </a:lvl1pPr>
          </a:lstStyle>
          <a:p>
            <a:pPr marL="0" indent="0" algn="dist">
              <a:lnSpc>
                <a:spcPct val="100000"/>
              </a:lnSpc>
            </a:pPr>
            <a:r>
              <a:rPr lang="en-US" sz="8000" b="0" i="0" u="none" strike="noStrike" spc="1000">
                <a:solidFill>
                  <a:srgbClr val="262626"/>
                </a:solidFill>
                <a:latin typeface="汉仪旗黑-85S"/>
                <a:ea typeface="汉仪旗黑-85S"/>
                <a:cs typeface="汉仪旗黑-85S"/>
                <a:sym typeface="汉仪旗黑-85S"/>
              </a:rPr>
              <a:t>编辑标题</a:t>
            </a:r>
            <a:endParaRPr lang="en-US" sz="8000" b="0" i="0" u="none" strike="noStrike" spc="1000">
              <a:solidFill>
                <a:srgbClr val="262626"/>
              </a:solidFill>
              <a:latin typeface="汉仪旗黑-85S"/>
              <a:ea typeface="汉仪旗黑-85S"/>
              <a:cs typeface="汉仪旗黑-85S"/>
              <a:sym typeface="汉仪旗黑-85S"/>
            </a:endParaRPr>
          </a:p>
        </p:txBody>
      </p:sp>
      <p:sp>
        <p:nvSpPr>
          <p:cNvPr id="12" name="AutoShape 12"/>
          <p:cNvSpPr/>
          <p:nvPr>
            <p:ph type="body" sz="quarter" idx="179" hasCustomPrompt="1"/>
          </p:nvPr>
        </p:nvSpPr>
        <p:spPr>
          <a:xfrm>
            <a:off x="3201036" y="4003049"/>
            <a:ext cx="5789930" cy="4765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rmAutofit/>
          </a:bodyPr>
          <a:lstStyle>
            <a:lvl1pPr algn="ctr">
              <a:lnSpc>
                <a:spcPct val="100000"/>
              </a:lnSpc>
              <a:defRPr sz="2000" b="0" i="0" u="none" strike="noStrike" spc="20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228600" indent="-228600" algn="ctr">
              <a:lnSpc>
                <a:spcPct val="100000"/>
              </a:lnSpc>
            </a:pPr>
            <a:r>
              <a:rPr lang="en-US" sz="2000" b="0" i="0" u="none" strike="noStrike" spc="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单击此处编辑文本</a:t>
            </a:r>
            <a:endParaRPr lang="en-US" sz="2000" b="0" i="0" u="none" strike="noStrike" spc="2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AutoShape 13"/>
          <p:cNvSpPr/>
          <p:nvPr>
            <p:ph type="body" sz="quarter" idx="180" hasCustomPrompt="1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" name="AutoShape 14"/>
          <p:cNvSpPr/>
          <p:nvPr>
            <p:ph type="body" sz="quarter" idx="181" hasCustomPrompt="1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" name="AutoShape 15"/>
          <p:cNvSpPr/>
          <p:nvPr>
            <p:ph type="body" sz="quarter" idx="182" hasCustomPrompt="1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_rels/slideMaster5.xml.rels><?xml version="1.0" encoding="UTF-8" standalone="yes"?>
<Relationships xmlns="http://schemas.openxmlformats.org/package/2006/relationships"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/Relationships>
</file>

<file path=ppt/slideMasters/_rels/slideMaster6.xml.rels><?xml version="1.0" encoding="UTF-8" standalone="yes"?>
<Relationships xmlns="http://schemas.openxmlformats.org/package/2006/relationships"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2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utoShape 1"/>
          <p:cNvSpPr/>
          <p:nvPr>
            <p:ph type="body" sz="quarter" idx="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100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AutoShape 2"/>
          <p:cNvSpPr/>
          <p:nvPr>
            <p:ph type="body" sz="quarter" idx="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100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5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utoShape 1"/>
          <p:cNvSpPr/>
          <p:nvPr>
            <p:ph type="body" sz="quarter" idx="6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100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AutoShape 2"/>
          <p:cNvSpPr/>
          <p:nvPr>
            <p:ph type="body" sz="quarter" idx="65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100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6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6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6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utoShape 1"/>
          <p:cNvSpPr/>
          <p:nvPr>
            <p:ph type="body" sz="quarter" idx="127" hasCustomPrompt="1"/>
          </p:nvPr>
        </p:nvSpPr>
        <p:spPr>
          <a:xfrm>
            <a:off x="608013" y="608013"/>
            <a:ext cx="10969625" cy="7064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0170" tIns="46990" rIns="90170" bIns="46990" anchor="ctr">
            <a:noAutofit/>
          </a:bodyPr>
          <a:lstStyle>
            <a:lvl1pPr algn="l">
              <a:lnSpc>
                <a:spcPct val="100000"/>
              </a:lnSpc>
              <a:defRPr sz="3600" b="1" i="0" u="none" strike="noStrike" spc="30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600" b="1" i="0" u="none" strike="noStrike" spc="3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600" b="1" i="0" u="none" strike="noStrike" spc="30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" name="AutoShape 2"/>
          <p:cNvSpPr/>
          <p:nvPr>
            <p:ph type="body" sz="quarter" idx="128" hasCustomPrompt="1"/>
          </p:nvPr>
        </p:nvSpPr>
        <p:spPr>
          <a:xfrm>
            <a:off x="608013" y="1490663"/>
            <a:ext cx="10969625" cy="47593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0000" tIns="46800" rIns="90000" bIns="46800" anchor="t">
            <a:noAutofit/>
          </a:bodyPr>
          <a:lstStyle>
            <a:lvl1pPr marL="457200" indent="-228600" algn="l">
              <a:lnSpc>
                <a:spcPct val="133000"/>
              </a:lnSpc>
              <a:defRPr sz="1800" b="0" i="0" u="none" strike="noStrike" spc="10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</a:defRPr>
            </a:lvl1pPr>
            <a:lvl2pPr marL="889000" indent="-203200"/>
            <a:lvl3pPr marL="1346200" indent="-203200"/>
            <a:lvl4pPr marL="1778000" indent="-177800"/>
            <a:lvl5pPr marL="2235200" indent="-177800"/>
            <a:lvl6pPr marL="2692400" indent="-177800"/>
            <a:lvl7pPr marL="3149600" indent="-177800"/>
            <a:lvl8pPr marL="3606800" indent="-177800"/>
            <a:lvl9pPr marL="4064000" indent="-177800"/>
          </a:lstStyle>
          <a:p>
            <a:pPr marL="228600" indent="-228600" algn="l">
              <a:lnSpc>
                <a:spcPct val="133000"/>
              </a:lnSpc>
              <a:spcAft>
                <a:spcPts val="1000"/>
              </a:spcAft>
              <a:buClr>
                <a:srgbClr val="595959"/>
              </a:buClr>
              <a:buChar char="●"/>
            </a:pPr>
            <a:r>
              <a:rPr lang="en-US" sz="18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18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85800" lvl="1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lang="en-US" sz="16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16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0" lvl="2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lang="en-US" sz="16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6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600200" lvl="3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"/>
            </a:pPr>
            <a:r>
              <a:rPr lang="en-US" sz="14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4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57400" lvl="4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●"/>
            </a:pPr>
            <a:r>
              <a:rPr lang="en-US" sz="14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14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>
            <p:ph type="body" sz="quarter" idx="129" hasCustomPrompt="1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30" hasCustomPrompt="1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31" hasCustomPrompt="1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utoShape 1"/>
          <p:cNvSpPr/>
          <p:nvPr>
            <p:ph type="body" sz="quarter" idx="155" hasCustomPrompt="1"/>
          </p:nvPr>
        </p:nvSpPr>
        <p:spPr>
          <a:xfrm>
            <a:off x="608013" y="608013"/>
            <a:ext cx="10969625" cy="7064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0170" tIns="46990" rIns="90170" bIns="46990" anchor="ctr">
            <a:noAutofit/>
          </a:bodyPr>
          <a:lstStyle>
            <a:lvl1pPr algn="l">
              <a:lnSpc>
                <a:spcPct val="100000"/>
              </a:lnSpc>
              <a:defRPr sz="3600" b="1" i="0" u="none" strike="noStrike" spc="30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600" b="1" i="0" u="none" strike="noStrike" spc="3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600" b="1" i="0" u="none" strike="noStrike" spc="30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" name="AutoShape 2"/>
          <p:cNvSpPr/>
          <p:nvPr>
            <p:ph type="body" sz="quarter" idx="156" hasCustomPrompt="1"/>
          </p:nvPr>
        </p:nvSpPr>
        <p:spPr>
          <a:xfrm>
            <a:off x="608013" y="1490663"/>
            <a:ext cx="10969625" cy="47593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0000" tIns="46800" rIns="90000" bIns="46800" anchor="t">
            <a:noAutofit/>
          </a:bodyPr>
          <a:lstStyle>
            <a:lvl1pPr marL="457200" indent="-228600" algn="l">
              <a:lnSpc>
                <a:spcPct val="133000"/>
              </a:lnSpc>
              <a:defRPr sz="1800" b="0" i="0" u="none" strike="noStrike" spc="10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</a:defRPr>
            </a:lvl1pPr>
            <a:lvl2pPr marL="889000" indent="-203200"/>
            <a:lvl3pPr marL="1346200" indent="-203200"/>
            <a:lvl4pPr marL="1778000" indent="-177800"/>
            <a:lvl5pPr marL="2235200" indent="-177800"/>
            <a:lvl6pPr marL="2692400" indent="-177800"/>
            <a:lvl7pPr marL="3149600" indent="-177800"/>
            <a:lvl8pPr marL="3606800" indent="-177800"/>
            <a:lvl9pPr marL="4064000" indent="-177800"/>
          </a:lstStyle>
          <a:p>
            <a:pPr marL="228600" indent="-228600" algn="l">
              <a:lnSpc>
                <a:spcPct val="133000"/>
              </a:lnSpc>
              <a:spcAft>
                <a:spcPts val="1000"/>
              </a:spcAft>
              <a:buClr>
                <a:srgbClr val="595959"/>
              </a:buClr>
              <a:buChar char="●"/>
            </a:pPr>
            <a:r>
              <a:rPr lang="en-US" sz="18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18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85800" lvl="1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lang="en-US" sz="16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16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0" lvl="2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lang="en-US" sz="16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6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600200" lvl="3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"/>
            </a:pPr>
            <a:r>
              <a:rPr lang="en-US" sz="14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4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57400" lvl="4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●"/>
            </a:pPr>
            <a:r>
              <a:rPr lang="en-US" sz="14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14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>
            <p:ph type="body" sz="quarter" idx="157" hasCustomPrompt="1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58" hasCustomPrompt="1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59" hasCustomPrompt="1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image" Target="../media/image10.png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9.png"/><Relationship Id="rId3" Type="http://schemas.openxmlformats.org/officeDocument/2006/relationships/tags" Target="../tags/tag2.xml"/><Relationship Id="rId27" Type="http://schemas.openxmlformats.org/officeDocument/2006/relationships/notesSlide" Target="../notesSlides/notesSlide3.xml"/><Relationship Id="rId26" Type="http://schemas.openxmlformats.org/officeDocument/2006/relationships/slideLayout" Target="../slideLayouts/slideLayout12.xml"/><Relationship Id="rId25" Type="http://schemas.openxmlformats.org/officeDocument/2006/relationships/tags" Target="../tags/tag18.xml"/><Relationship Id="rId24" Type="http://schemas.openxmlformats.org/officeDocument/2006/relationships/image" Target="../media/image14.png"/><Relationship Id="rId23" Type="http://schemas.openxmlformats.org/officeDocument/2006/relationships/tags" Target="../tags/tag17.xml"/><Relationship Id="rId22" Type="http://schemas.openxmlformats.org/officeDocument/2006/relationships/tags" Target="../tags/tag16.xml"/><Relationship Id="rId21" Type="http://schemas.openxmlformats.org/officeDocument/2006/relationships/tags" Target="../tags/tag15.xml"/><Relationship Id="rId20" Type="http://schemas.openxmlformats.org/officeDocument/2006/relationships/image" Target="../media/image13.png"/><Relationship Id="rId2" Type="http://schemas.openxmlformats.org/officeDocument/2006/relationships/tags" Target="../tags/tag1.xml"/><Relationship Id="rId19" Type="http://schemas.openxmlformats.org/officeDocument/2006/relationships/tags" Target="../tags/tag14.xml"/><Relationship Id="rId18" Type="http://schemas.openxmlformats.org/officeDocument/2006/relationships/tags" Target="../tags/tag13.xml"/><Relationship Id="rId17" Type="http://schemas.openxmlformats.org/officeDocument/2006/relationships/tags" Target="../tags/tag12.xml"/><Relationship Id="rId16" Type="http://schemas.openxmlformats.org/officeDocument/2006/relationships/image" Target="../media/image12.png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image" Target="../media/image11.png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5.jpe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3.xml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3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3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3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3.xml"/><Relationship Id="rId1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3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39.jpeg"/><Relationship Id="rId3" Type="http://schemas.openxmlformats.org/officeDocument/2006/relationships/image" Target="../media/image38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464675" y="185738"/>
            <a:ext cx="2374900" cy="547687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908685"/>
            <a:ext cx="12193588" cy="469423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177800" y="1283970"/>
            <a:ext cx="8180705" cy="20491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0170" tIns="46990" rIns="90170" bIns="4699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800" b="1" i="0" u="none" strike="noStrike" spc="3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基于Ontology 本体与 MCP 协议的知识图谱系统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95630" y="5070158"/>
            <a:ext cx="2560638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0000" tIns="46800" rIns="90000" bIns="46800" rtlCol="0" anchor="b">
            <a:noAutofit/>
          </a:bodyPr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2026</a:t>
            </a:r>
            <a:r>
              <a:rPr lang="en-US" sz="14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年</a:t>
            </a:r>
            <a:r>
              <a:rPr lang="en-US" sz="14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9</a:t>
            </a:r>
            <a:r>
              <a:rPr lang="en-US" sz="14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月16日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44513" y="4625975"/>
            <a:ext cx="2560637" cy="444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0000" tIns="46800" rIns="90000" bIns="46800" rtlCol="0" anchor="b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刘杰、钟子妍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l="55283" r="20867"/>
          <a:stretch>
            <a:fillRect/>
          </a:stretch>
        </p:blipFill>
        <p:spPr>
          <a:xfrm>
            <a:off x="595313" y="3587750"/>
            <a:ext cx="1063625" cy="47783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40713" y="6008688"/>
            <a:ext cx="3600450" cy="385762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42900" y="276225"/>
            <a:ext cx="2376488" cy="54768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5234940" y="0"/>
            <a:ext cx="6957060" cy="6858000"/>
          </a:xfrm>
          <a:prstGeom prst="roundRect">
            <a:avLst>
              <a:gd name="adj" fmla="val 0"/>
            </a:avLst>
          </a:prstGeom>
          <a:solidFill>
            <a:srgbClr val="254F8F">
              <a:alpha val="8000"/>
            </a:srgbClr>
          </a:solidFill>
          <a:ln w="12700" cap="flat" cmpd="sng">
            <a:solidFill>
              <a:srgbClr val="446DA9">
                <a:alpha val="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962900" y="520700"/>
            <a:ext cx="1651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45720" rIns="91440" bIns="4572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0" i="0" u="none" strike="noStrike">
                <a:solidFill>
                  <a:srgbClr val="262626"/>
                </a:solidFill>
                <a:latin typeface="汉仪旗黑-85S"/>
                <a:ea typeface="汉仪旗黑-85S"/>
                <a:cs typeface="汉仪旗黑-85S"/>
                <a:sym typeface="汉仪旗黑-85S"/>
              </a:rPr>
              <a:t>目录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1587500"/>
            <a:ext cx="558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371600" y="160401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系统概述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altLang="zh-CN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</a:t>
            </a:r>
            <a:r>
              <a:rPr lang="zh-CN" alt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模式、本体概念、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整体架构、领域本体词典和核心数据模型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10948">
            <a:off x="711210" y="2381250"/>
            <a:ext cx="398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711200" y="2603500"/>
            <a:ext cx="558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371600" y="25654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AIProvider 抽象，Feature→Spec→Plan→Task 生成</a:t>
            </a:r>
            <a:endParaRPr lang="en-US" sz="11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rot="-10948">
            <a:off x="711210" y="3397250"/>
            <a:ext cx="398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711200" y="3619500"/>
            <a:ext cx="558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0948">
            <a:off x="711210" y="4413250"/>
            <a:ext cx="398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711200" y="4635500"/>
            <a:ext cx="558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371600" y="45974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MCP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查询、导出、推理能力标准化暴露给 AI 客户端</a:t>
            </a:r>
            <a:endParaRPr lang="en-US" sz="11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334000" y="1587500"/>
            <a:ext cx="558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994400" y="15494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核心架构设计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本体真相源、双存储、公理增强、统一校验、Agent 安全</a:t>
            </a:r>
            <a:endParaRPr lang="en-US" sz="11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-7161">
            <a:off x="5334007" y="2381250"/>
            <a:ext cx="609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5334000" y="2603500"/>
            <a:ext cx="558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994400" y="25654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架构可扩展性与维护性优势，未来优化方向</a:t>
            </a:r>
            <a:endParaRPr lang="en-US" sz="11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1371600" y="3746500"/>
            <a:ext cx="3164840" cy="6337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Reasoner推理与检查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reasoner推理，数据一致性检查</a:t>
            </a:r>
            <a:endParaRPr lang="en-US" sz="11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algn="l">
              <a:lnSpc>
                <a:spcPct val="1080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69" hasCustomPrompt="1"/>
          </p:nvPr>
        </p:nvSpPr>
        <p:spPr>
          <a:xfrm>
            <a:off x="6381750" y="1924050"/>
            <a:ext cx="5545455" cy="1171575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lnSpc>
                <a:spcPct val="100000"/>
              </a:lnSpc>
              <a:defRPr sz="4400" b="1" i="0" u="none" strike="noStrike" spc="700">
                <a:solidFill>
                  <a:srgbClr val="1F2937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4400" b="1" i="0" u="none" strike="noStrike" spc="700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PART1</a:t>
            </a:r>
            <a:br>
              <a:rPr lang="en-US" sz="4400" b="1" i="0" u="none" strike="noStrike" spc="700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4400" b="1" i="0" u="none" strike="noStrike" spc="700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系统概述</a:t>
            </a:r>
            <a:endParaRPr lang="en-US" sz="4400" b="1" i="0" u="none" strike="noStrike" spc="700">
              <a:solidFill>
                <a:srgbClr val="2D37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551815" y="47625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3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系统概述——AI Agent</a:t>
            </a:r>
            <a:endParaRPr lang="en-US" sz="28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08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D21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Agent（智能体）是一种能够自主感知环境信息、通过内部逻辑进行思考与决策，并主动采取行动以完成复杂任务或解决问题的新一代 AI 系统。它突破了传统问答式交互的局限，具备“自主工作”的能力。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175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01｜核心要素构成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683000"/>
            <a:ext cx="508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D2129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基础框架由四大模块构成：</a:t>
            </a:r>
            <a:r>
              <a:rPr lang="en-US" sz="13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LLM（智能大脑）</a:t>
            </a:r>
            <a:r>
              <a:rPr lang="en-US" sz="1300" b="0" i="0" u="none" strike="noStrike">
                <a:solidFill>
                  <a:srgbClr val="1D2129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负责推理；</a:t>
            </a:r>
            <a:r>
              <a:rPr lang="en-US" sz="13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Memory（记忆系统）</a:t>
            </a:r>
            <a:r>
              <a:rPr lang="en-US" sz="1300" b="0" i="0" u="none" strike="noStrike">
                <a:solidFill>
                  <a:srgbClr val="1D2129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存储历史与信息；</a:t>
            </a:r>
            <a:r>
              <a:rPr lang="en-US" sz="13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Planning（规划能力）</a:t>
            </a:r>
            <a:r>
              <a:rPr lang="en-US" sz="1300" b="0" i="0" u="none" strike="noStrike">
                <a:solidFill>
                  <a:srgbClr val="1D2129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拆解复杂任务；</a:t>
            </a:r>
            <a:r>
              <a:rPr lang="en-US" sz="13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Tools（工具集）</a:t>
            </a:r>
            <a:r>
              <a:rPr lang="en-US" sz="1300" b="0" i="0" u="none" strike="noStrike">
                <a:solidFill>
                  <a:srgbClr val="1D2129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拓展现实交互边界。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953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02｜底层运作逻辑：ReAct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5461000"/>
            <a:ext cx="508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D2129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其本质遵循</a:t>
            </a:r>
            <a:r>
              <a:rPr lang="en-US" sz="1300" b="1" i="0" u="none" strike="noStrike">
                <a:solidFill>
                  <a:srgbClr val="1D21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ReAct 循环机制：</a:t>
            </a:r>
            <a:r>
              <a:rPr lang="en-US" sz="1300" b="0" i="0" u="none" strike="noStrike">
                <a:solidFill>
                  <a:srgbClr val="1D2129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即 Agent 通过不断进行</a:t>
            </a:r>
            <a:r>
              <a:rPr lang="en-US" sz="13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Reasoning（思考）</a:t>
            </a:r>
            <a:r>
              <a:rPr lang="en-US" sz="1300" b="0" i="0" u="none" strike="noStrike">
                <a:solidFill>
                  <a:srgbClr val="1D2129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、执行</a:t>
            </a:r>
            <a:r>
              <a:rPr lang="en-US" sz="13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Acting（行动）</a:t>
            </a:r>
            <a:r>
              <a:rPr lang="en-US" sz="1300" b="0" i="0" u="none" strike="noStrike">
                <a:solidFill>
                  <a:srgbClr val="1D2129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、获取</a:t>
            </a:r>
            <a:r>
              <a:rPr lang="en-US" sz="13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Observation（观察反馈）</a:t>
            </a:r>
            <a:r>
              <a:rPr lang="en-US" sz="1300" b="0" i="0" u="none" strike="noStrike">
                <a:solidFill>
                  <a:srgbClr val="1D2129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，形成闭环，持续逼近目标。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2"/>
            </p:custDataLst>
          </p:nvPr>
        </p:nvSpPr>
        <p:spPr>
          <a:xfrm>
            <a:off x="6604000" y="2032000"/>
            <a:ext cx="508000" cy="508000"/>
          </a:xfrm>
          <a:prstGeom prst="ellipse">
            <a:avLst/>
          </a:prstGeom>
          <a:gradFill rotWithShape="1">
            <a:gsLst>
              <a:gs pos="0">
                <a:srgbClr val="165DFF">
                  <a:alpha val="100000"/>
                </a:srgbClr>
              </a:gs>
              <a:gs pos="100000">
                <a:srgbClr val="4080FF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6705600" y="21336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7239000" y="20320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D21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 模型中枢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负责意图理解、逻辑推理与策略生成的“大脑”。</a:t>
            </a:r>
            <a:endParaRPr lang="en-US" sz="12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6"/>
            </p:custDataLst>
          </p:nvPr>
        </p:nvSpPr>
        <p:spPr>
          <a:xfrm>
            <a:off x="9398000" y="2032000"/>
            <a:ext cx="508000" cy="508000"/>
          </a:xfrm>
          <a:prstGeom prst="ellipse">
            <a:avLst/>
          </a:prstGeom>
          <a:solidFill>
            <a:srgbClr val="00B050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/>
          <a:stretch>
            <a:fillRect/>
          </a:stretch>
        </p:blipFill>
        <p:spPr>
          <a:xfrm>
            <a:off x="9499600" y="21336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>
            <p:custDataLst>
              <p:tags r:id="rId9"/>
            </p:custDataLst>
          </p:nvPr>
        </p:nvSpPr>
        <p:spPr>
          <a:xfrm>
            <a:off x="10033000" y="20320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D21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指令 Prompt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精准定义 Agent 的角色、任务范围与执行规范。</a:t>
            </a:r>
            <a:endParaRPr lang="en-US" sz="12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0"/>
            </p:custDataLst>
          </p:nvPr>
        </p:nvSpPr>
        <p:spPr>
          <a:xfrm>
            <a:off x="6604000" y="3556000"/>
            <a:ext cx="508000" cy="508000"/>
          </a:xfrm>
          <a:prstGeom prst="ellipse">
            <a:avLst/>
          </a:prstGeom>
          <a:solidFill>
            <a:schemeClr val="accent2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/>
          <a:stretch>
            <a:fillRect/>
          </a:stretch>
        </p:blipFill>
        <p:spPr>
          <a:xfrm>
            <a:off x="6705600" y="36576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>
            <p:custDataLst>
              <p:tags r:id="rId13"/>
            </p:custDataLst>
          </p:nvPr>
        </p:nvSpPr>
        <p:spPr>
          <a:xfrm>
            <a:off x="7239000" y="35560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D21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记忆存储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保存历史交互记录与上下文，支持长程逻辑连贯。</a:t>
            </a:r>
            <a:endParaRPr lang="en-US" sz="12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14"/>
            </p:custDataLst>
          </p:nvPr>
        </p:nvSpPr>
        <p:spPr>
          <a:xfrm>
            <a:off x="9398000" y="3556000"/>
            <a:ext cx="508000" cy="508000"/>
          </a:xfrm>
          <a:prstGeom prst="ellipse">
            <a:avLst/>
          </a:prstGeom>
          <a:solidFill>
            <a:srgbClr val="FF0000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rcRect/>
          <a:stretch>
            <a:fillRect/>
          </a:stretch>
        </p:blipFill>
        <p:spPr>
          <a:xfrm>
            <a:off x="9499600" y="36576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>
            <p:custDataLst>
              <p:tags r:id="rId17"/>
            </p:custDataLst>
          </p:nvPr>
        </p:nvSpPr>
        <p:spPr>
          <a:xfrm>
            <a:off x="10033000" y="35560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D21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外部知识库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对接企业或全网知识源，补充模型训练数据盲区。</a:t>
            </a:r>
            <a:endParaRPr lang="en-US" sz="12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>
            <p:custDataLst>
              <p:tags r:id="rId18"/>
            </p:custDataLst>
          </p:nvPr>
        </p:nvSpPr>
        <p:spPr>
          <a:xfrm>
            <a:off x="6604000" y="5080000"/>
            <a:ext cx="508000" cy="508000"/>
          </a:xfrm>
          <a:prstGeom prst="ellipse">
            <a:avLst/>
          </a:prstGeom>
          <a:solidFill>
            <a:srgbClr val="7030A0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rcRect/>
          <a:stretch>
            <a:fillRect/>
          </a:stretch>
        </p:blipFill>
        <p:spPr>
          <a:xfrm>
            <a:off x="6705600" y="51816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3" name="AutoShape 23"/>
          <p:cNvSpPr/>
          <p:nvPr>
            <p:custDataLst>
              <p:tags r:id="rId21"/>
            </p:custDataLst>
          </p:nvPr>
        </p:nvSpPr>
        <p:spPr>
          <a:xfrm>
            <a:off x="7239000" y="50800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D21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工具调用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连接计算器、浏览器、API等，实现现实世界交互。</a:t>
            </a:r>
            <a:endParaRPr lang="en-US" sz="12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>
            <p:custDataLst>
              <p:tags r:id="rId22"/>
            </p:custDataLst>
          </p:nvPr>
        </p:nvSpPr>
        <p:spPr>
          <a:xfrm>
            <a:off x="9398000" y="5080000"/>
            <a:ext cx="508000" cy="508000"/>
          </a:xfrm>
          <a:prstGeom prst="ellipse">
            <a:avLst/>
          </a:prstGeom>
          <a:solidFill>
            <a:srgbClr val="002060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/>
          <a:srcRect/>
          <a:stretch>
            <a:fillRect/>
          </a:stretch>
        </p:blipFill>
        <p:spPr>
          <a:xfrm>
            <a:off x="9499600" y="51816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6" name="AutoShape 26"/>
          <p:cNvSpPr/>
          <p:nvPr>
            <p:custDataLst>
              <p:tags r:id="rId25"/>
            </p:custDataLst>
          </p:nvPr>
        </p:nvSpPr>
        <p:spPr>
          <a:xfrm>
            <a:off x="10033000" y="50800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D21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自主执行闭环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无需频繁人工介入，形成感知-决策-行动的完整链条。</a:t>
            </a:r>
            <a:endParaRPr lang="en-US" sz="12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508000" y="508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3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系统概述——本体 Ontology</a:t>
            </a:r>
            <a:endParaRPr lang="en-US" sz="2800"/>
          </a:p>
        </p:txBody>
      </p:sp>
      <p:sp>
        <p:nvSpPr>
          <p:cNvPr id="4" name="AutoShape 4"/>
          <p:cNvSpPr/>
          <p:nvPr/>
        </p:nvSpPr>
        <p:spPr>
          <a:xfrm>
            <a:off x="6456045" y="1268730"/>
            <a:ext cx="5080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核心定义：</a:t>
            </a:r>
            <a:endParaRPr lang="en-US" sz="1100"/>
          </a:p>
          <a:p>
            <a:pPr marL="0" indent="45720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本体是针对特定领域知识的结构化、形式化的语义抽象模型，把业务语义和执行细节分开。它是人工智能与知识图谱领域的“语义基石”。</a:t>
            </a:r>
            <a:endParaRPr lang="en-US" sz="14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algn="l">
              <a:lnSpc>
                <a:spcPct val="117000"/>
              </a:lnSpc>
            </a:pPr>
          </a:p>
        </p:txBody>
      </p:sp>
      <p:sp>
        <p:nvSpPr>
          <p:cNvPr id="5" name="AutoShape 5"/>
          <p:cNvSpPr/>
          <p:nvPr/>
        </p:nvSpPr>
        <p:spPr>
          <a:xfrm>
            <a:off x="381000" y="4385310"/>
            <a:ext cx="508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01｜结构化构成逻辑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Class（类）、Instance（实例）两大核心要素，构建实体间清晰的层级、关联与拓扑关系，让碎片化信息变成“可被理解”的知识网络。</a:t>
            </a:r>
            <a:endParaRPr lang="en-US" sz="13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81000" y="5588000"/>
            <a:ext cx="508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408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02｜语义的完整边界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不仅定义“是什么”（实体类型、属性特征、静态关联），同时明确“如何运作”（流程规则、交互动作、业务约束），实现对业务场景的全面语义映射。</a:t>
            </a:r>
            <a:endParaRPr lang="en-US" sz="13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5390177">
            <a:off x="3746500" y="3994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477000" y="2200275"/>
            <a:ext cx="5080000" cy="1228725"/>
          </a:xfrm>
          <a:prstGeom prst="roundRect">
            <a:avLst>
              <a:gd name="adj" fmla="val 0"/>
            </a:avLst>
          </a:prstGeom>
          <a:solidFill>
            <a:srgbClr val="E8F3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477000" y="2199640"/>
            <a:ext cx="76200" cy="1229360"/>
          </a:xfrm>
          <a:prstGeom prst="roundRect">
            <a:avLst>
              <a:gd name="adj" fmla="val 0"/>
            </a:avLst>
          </a:prstGeom>
          <a:solidFill>
            <a:srgbClr val="165D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731000" y="1968500"/>
            <a:ext cx="4572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底层 · 语义层 Semantic Layer</a:t>
            </a:r>
            <a:endParaRPr lang="en-US" sz="1100"/>
          </a:p>
          <a:p>
            <a:pPr marL="0" indent="0" algn="l">
              <a:lnSpc>
                <a:spcPct val="100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架构的根基。完成领域内实体定义、属性梳理与关系建立，构建类结构。例如定义积木类型(Class)及属性：Feature(任务)、Spec(功能需求)、Plan(技术方案)、Task(实现步骤)。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477000" y="3619500"/>
            <a:ext cx="5080000" cy="1460500"/>
          </a:xfrm>
          <a:prstGeom prst="roundRect">
            <a:avLst>
              <a:gd name="adj" fmla="val 0"/>
            </a:avLst>
          </a:prstGeom>
          <a:solidFill>
            <a:srgbClr val="4080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477000" y="3619500"/>
            <a:ext cx="76200" cy="1460500"/>
          </a:xfrm>
          <a:prstGeom prst="roundRect">
            <a:avLst>
              <a:gd name="adj" fmla="val 0"/>
            </a:avLst>
          </a:prstGeom>
          <a:solidFill>
            <a:srgbClr val="4080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731000" y="3746500"/>
            <a:ext cx="4572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中层 · 动力层 Behavior Layer</a:t>
            </a:r>
            <a:endParaRPr lang="en-US" sz="1100"/>
          </a:p>
          <a:p>
            <a:pPr marL="0" indent="0" algn="l">
              <a:lnSpc>
                <a:spcPct val="100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架构的行为逻辑。定义“如何运作”的业务流程与执行逻辑。例如：“先搭墙，再盖屋顶”“墙必须用方形砖”，赋予静态实体“行为能力”。</a:t>
            </a:r>
            <a:endParaRPr lang="en-US" sz="12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477000" y="5207000"/>
            <a:ext cx="5080000" cy="1270000"/>
          </a:xfrm>
          <a:prstGeom prst="roundRect">
            <a:avLst>
              <a:gd name="adj" fmla="val 0"/>
            </a:avLst>
          </a:prstGeom>
          <a:solidFill>
            <a:srgbClr val="165D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77000" y="5207000"/>
            <a:ext cx="76200" cy="1270000"/>
          </a:xfrm>
          <a:prstGeom prst="roundRect">
            <a:avLst>
              <a:gd name="adj" fmla="val 0"/>
            </a:avLst>
          </a:prstGeom>
          <a:solidFill>
            <a:srgbClr val="165D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731000" y="5334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顶层 · 动态层 Dynamic Layer</a:t>
            </a:r>
            <a:endParaRPr lang="en-US" sz="1100"/>
          </a:p>
          <a:p>
            <a:pPr marL="0" indent="0" algn="l">
              <a:lnSpc>
                <a:spcPct val="100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架构的智能表现。定义“如何决策”：规则触发、推理与行动执行。例如：决定搭什么、用哪些积木、按什么步骤搭，驱动业务场景闭环。</a:t>
            </a:r>
            <a:endParaRPr lang="en-US" sz="12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7345" y="1374140"/>
            <a:ext cx="5256530" cy="295148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335280" y="476250"/>
            <a:ext cx="7620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3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系统概述——本体 Agent</a:t>
            </a:r>
            <a:endParaRPr lang="en-US" sz="2800"/>
          </a:p>
        </p:txBody>
      </p:sp>
      <p:sp>
        <p:nvSpPr>
          <p:cNvPr id="4" name="AutoShape 4"/>
          <p:cNvSpPr/>
          <p:nvPr/>
        </p:nvSpPr>
        <p:spPr>
          <a:xfrm>
            <a:off x="762000" y="1574800"/>
            <a:ext cx="889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让 OWL 本体从静态定义变成可执行的动态推理与校验能力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2127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6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2438400"/>
            <a:ext cx="431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核心定义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895600"/>
            <a:ext cx="431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3838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本体 Agent 是将 </a:t>
            </a:r>
            <a:r>
              <a:rPr lang="en-US" sz="14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OWL 本体</a:t>
            </a:r>
            <a:r>
              <a:rPr lang="en-US" sz="1400" b="0" i="0" u="none" strike="noStrike">
                <a:solidFill>
                  <a:srgbClr val="3838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、</a:t>
            </a:r>
            <a:r>
              <a:rPr lang="en-US" sz="14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Pellet 推理机</a:t>
            </a:r>
            <a:r>
              <a:rPr lang="en-US" sz="1400" b="0" i="0" u="none" strike="noStrike">
                <a:solidFill>
                  <a:srgbClr val="3838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与 </a:t>
            </a:r>
            <a:r>
              <a:rPr lang="en-US" sz="14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MCP 工具调用</a:t>
            </a:r>
            <a:r>
              <a:rPr lang="en-US" sz="1400" b="0" i="0" u="none" strike="noStrike">
                <a:solidFill>
                  <a:srgbClr val="3838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结合的智能体。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3838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它不直接操作数据，而是通过本体规则约束所有读写行为，实现语义级校验与隐含关系推导。</a:t>
            </a:r>
            <a:endParaRPr lang="en-US" sz="1400" b="0" i="0" u="none" strike="noStrike">
              <a:solidFill>
                <a:srgbClr val="38383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43688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三大核心能力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4826000"/>
            <a:ext cx="25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117600" y="4826000"/>
            <a:ext cx="3962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838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本体约束校验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117600" y="5105400"/>
            <a:ext cx="3962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6464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所有实例创建必须通过本体规则检查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5486400"/>
            <a:ext cx="25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117600" y="5486400"/>
            <a:ext cx="3962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838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语义冲突检测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117600" y="5765800"/>
            <a:ext cx="3962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6464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自动发现函数属性违反、逻辑矛盾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6045200"/>
            <a:ext cx="25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117600" y="6045200"/>
            <a:ext cx="3962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838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隐含关系推导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117600" y="6324600"/>
            <a:ext cx="39624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6464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基于传递性公理自动计算推导边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588000" y="2438400"/>
            <a:ext cx="584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工作流程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588000" y="3149600"/>
            <a:ext cx="1524000" cy="812800"/>
          </a:xfrm>
          <a:prstGeom prst="roundRect">
            <a:avLst>
              <a:gd name="adj" fmla="val 9375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02FA7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5588000" y="32512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用户 / AI 请求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588000" y="35560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6464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创建/查询制品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07393">
            <a:off x="7213699" y="35496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3" name="AutoShape 23"/>
          <p:cNvSpPr/>
          <p:nvPr/>
        </p:nvSpPr>
        <p:spPr>
          <a:xfrm>
            <a:off x="7721600" y="3149600"/>
            <a:ext cx="1524000" cy="812800"/>
          </a:xfrm>
          <a:prstGeom prst="roundRect">
            <a:avLst>
              <a:gd name="adj" fmla="val 9375"/>
            </a:avLst>
          </a:prstGeom>
          <a:solidFill>
            <a:srgbClr val="002FA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7721600" y="32512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MCP 工具层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721600" y="35560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C8D2F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本体 Agent 入口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07393">
            <a:off x="9347299" y="35496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7" name="AutoShape 27"/>
          <p:cNvSpPr/>
          <p:nvPr/>
        </p:nvSpPr>
        <p:spPr>
          <a:xfrm>
            <a:off x="9855200" y="3149600"/>
            <a:ext cx="1524000" cy="812800"/>
          </a:xfrm>
          <a:prstGeom prst="roundRect">
            <a:avLst>
              <a:gd name="adj" fmla="val 9375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02FA7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9855200" y="32512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本体校验层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855200" y="35560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6464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validate_instance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 rot="5292605">
            <a:off x="10414000" y="4260949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31" name="AutoShape 31"/>
          <p:cNvSpPr/>
          <p:nvPr/>
        </p:nvSpPr>
        <p:spPr>
          <a:xfrm>
            <a:off x="9855200" y="4572000"/>
            <a:ext cx="1524000" cy="812800"/>
          </a:xfrm>
          <a:prstGeom prst="roundRect">
            <a:avLst>
              <a:gd name="adj" fmla="val 9375"/>
            </a:avLst>
          </a:prstGeom>
          <a:solidFill>
            <a:srgbClr val="002FA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9855200" y="46736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Pellet 推理机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9855200" y="49784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C8D2F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语义推理 / 冲突检测</a:t>
            </a:r>
            <a:endParaRPr lang="en-US" sz="1100"/>
          </a:p>
        </p:txBody>
      </p:sp>
      <p:cxnSp>
        <p:nvCxnSpPr>
          <p:cNvPr id="34" name="Connector 34"/>
          <p:cNvCxnSpPr/>
          <p:nvPr/>
        </p:nvCxnSpPr>
        <p:spPr>
          <a:xfrm rot="10692605">
            <a:off x="9448701" y="49720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35" name="AutoShape 35"/>
          <p:cNvSpPr/>
          <p:nvPr/>
        </p:nvSpPr>
        <p:spPr>
          <a:xfrm>
            <a:off x="7721600" y="4572000"/>
            <a:ext cx="1524000" cy="812800"/>
          </a:xfrm>
          <a:prstGeom prst="roundRect">
            <a:avLst>
              <a:gd name="adj" fmla="val 9375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02FA7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7721600" y="46736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OWL 本体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7721600" y="49784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6464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TBox 公理 / 类定义</a:t>
            </a:r>
            <a:endParaRPr lang="en-US" sz="1100"/>
          </a:p>
        </p:txBody>
      </p:sp>
      <p:cxnSp>
        <p:nvCxnSpPr>
          <p:cNvPr id="38" name="Connector 38"/>
          <p:cNvCxnSpPr/>
          <p:nvPr/>
        </p:nvCxnSpPr>
        <p:spPr>
          <a:xfrm rot="10692605">
            <a:off x="7315101" y="49720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39" name="AutoShape 39"/>
          <p:cNvSpPr/>
          <p:nvPr/>
        </p:nvSpPr>
        <p:spPr>
          <a:xfrm>
            <a:off x="5588000" y="4572000"/>
            <a:ext cx="1524000" cy="812800"/>
          </a:xfrm>
          <a:prstGeom prst="roundRect">
            <a:avLst>
              <a:gd name="adj" fmla="val 9375"/>
            </a:avLst>
          </a:prstGeom>
          <a:solidFill>
            <a:srgbClr val="002FA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0" name="AutoShape 40"/>
          <p:cNvSpPr/>
          <p:nvPr/>
        </p:nvSpPr>
        <p:spPr>
          <a:xfrm>
            <a:off x="5588000" y="46736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结果输出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5588000" y="49784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C8D2F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通过 / 冲突 / 推导边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5588000" y="5791200"/>
            <a:ext cx="584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关键区别：</a:t>
            </a:r>
            <a:r>
              <a:rPr lang="en-US" sz="12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普通 Agent 直接读写数据库，本体 Agent 必须经过本体校验与推理层，确保所有操作符合领域规则，从根本上抑制 AI 幻觉。</a:t>
            </a:r>
            <a:endParaRPr lang="en-US" sz="1100"/>
          </a:p>
        </p:txBody>
      </p:sp>
      <p:cxnSp>
        <p:nvCxnSpPr>
          <p:cNvPr id="43" name="Connector 43"/>
          <p:cNvCxnSpPr/>
          <p:nvPr/>
        </p:nvCxnSpPr>
        <p:spPr>
          <a:xfrm rot="-4092">
            <a:off x="762004" y="6623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6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508000" y="508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800" b="1" i="0" u="none" strike="noStrike" spc="3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系统概述——</a:t>
            </a: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本体驱动智能体核心架构</a:t>
            </a:r>
            <a:endParaRPr lang="en-US" sz="2800"/>
          </a:p>
        </p:txBody>
      </p:sp>
      <p:sp>
        <p:nvSpPr>
          <p:cNvPr id="4" name="AutoShape 4"/>
          <p:cNvSpPr/>
          <p:nvPr/>
        </p:nvSpPr>
        <p:spPr>
          <a:xfrm>
            <a:off x="508000" y="1524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语义锚定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2159000"/>
            <a:ext cx="2540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全程围绕高内聚的业务本体 Instance 进行感知、推理与决策。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3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屏蔽工具差异：</a:t>
            </a: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不直接接触任何底层接口，只理解业务语义本身，确保业务逻辑不随工具变化而漂移。</a:t>
            </a:r>
            <a:endParaRPr lang="en-US" sz="13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08000" y="48260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业务视角唯一真相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所有智能行为的判断基准统一指向本体定义，消除跨工具交互的语义歧义。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5389889">
            <a:off x="1270000" y="3676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3683000" y="1524000"/>
            <a:ext cx="4572000" cy="1079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810000" y="16510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01｜AI Agent 交互层</a:t>
            </a:r>
            <a:endParaRPr lang="en-US" sz="1100"/>
          </a:p>
          <a:p>
            <a:pPr marL="0" indent="0" algn="l">
              <a:lnSpc>
                <a:spcPct val="100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相当于‘员工层’，负责具体干活（执行任务、生成内容），只和‘管理层’（本体）沟通。</a:t>
            </a:r>
            <a:endParaRPr lang="en-US" sz="11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842000" y="27940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3683000" y="3238500"/>
            <a:ext cx="4572000" cy="1270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12700" cap="flat" cmpd="sng">
            <a:solidFill>
              <a:srgbClr val="3B82F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810000" y="3365500"/>
            <a:ext cx="431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02｜Ontology 本体核心层（中枢）</a:t>
            </a:r>
            <a:endParaRPr lang="en-US" sz="1100"/>
          </a:p>
          <a:p>
            <a:pPr marL="0" indent="0" algn="l">
              <a:lnSpc>
                <a:spcPct val="100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相当于‘管理层’，没收了Agent直接使用工具的权力，所有工具调用必须经过本体的规则审批（硬编码约束）。</a:t>
            </a:r>
            <a:endParaRPr lang="en-US" sz="1100" b="0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842000" y="46990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3683000" y="5143500"/>
            <a:ext cx="4572000" cy="952500"/>
          </a:xfrm>
          <a:prstGeom prst="roundRect">
            <a:avLst>
              <a:gd name="adj" fmla="val 0"/>
            </a:avLst>
          </a:prstGeom>
          <a:solidFill>
            <a:srgbClr val="1E40AF">
              <a:alpha val="100000"/>
            </a:srgbClr>
          </a:solidFill>
          <a:ln w="12700" cap="flat" cmpd="sng">
            <a:solidFill>
              <a:srgbClr val="1E40A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3810000" y="52705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03｜工具抽象与映射层</a:t>
            </a:r>
            <a:endParaRPr lang="en-US" sz="1100"/>
          </a:p>
          <a:p>
            <a:pPr marL="0" indent="0" algn="l">
              <a:lnSpc>
                <a:spcPct val="100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通过MCP协议统一接口，所有工具对外只暴露list_tools()和call_tool()两个接口，实现工具可替换。</a:t>
            </a:r>
            <a:endParaRPr lang="en-US" sz="11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6" name="Connector 16"/>
          <p:cNvCxnSpPr/>
          <p:nvPr/>
        </p:nvCxnSpPr>
        <p:spPr>
          <a:xfrm rot="5389889">
            <a:off x="6350000" y="3676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8763000" y="1524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动态适配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763000" y="2159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底层技术栈通过映射层与上层智能体完全隔离。新增或替换工具只需关注映射规则更新。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3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敏捷迭代基础：</a:t>
            </a: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业务逻辑与执行工具彻底解耦，支持技术选型随业务发展灵活切换。</a:t>
            </a:r>
            <a:endParaRPr lang="en-US" sz="13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763000" y="4826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渐进式资源披露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优先获取摘要级语义，复杂工具详情按需加载，有效节约上下文开销。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0" y="6413500"/>
            <a:ext cx="12192000" cy="381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508000" y="6413500"/>
            <a:ext cx="1168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架构总结：该分层架构在保证 Agent 专注于高价值业务逻辑的同时，赋予了系统技术弹性，兼顾了语义的一致性与工程落地的灵活性。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74" hasCustomPrompt="1"/>
          </p:nvPr>
        </p:nvSpPr>
        <p:spPr>
          <a:xfrm>
            <a:off x="608330" y="384175"/>
            <a:ext cx="8873490" cy="706755"/>
          </a:xfrm>
          <a:prstGeom prst="rect">
            <a:avLst/>
          </a:prstGeom>
        </p:spPr>
        <p:txBody>
          <a:bodyPr wrap="square" lIns="90000" tIns="46800" rIns="90000" bIns="46800" anchor="ctr">
            <a:normAutofit/>
          </a:bodyPr>
          <a:lstStyle>
            <a:lvl1pPr algn="l">
              <a:lnSpc>
                <a:spcPct val="100000"/>
              </a:lnSpc>
              <a:defRPr sz="3240" b="1" i="0" u="none" strike="noStrike" spc="3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 spc="3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系统概述</a:t>
            </a:r>
            <a:r>
              <a:rPr lang="en-US" sz="2800">
                <a:solidFill>
                  <a:srgbClr val="FFFFFF"/>
                </a:solidFill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</a:t>
            </a:r>
            <a:r>
              <a:rPr lang="zh-CN" altLang="en-US" sz="2800">
                <a:solidFill>
                  <a:srgbClr val="FFFFFF"/>
                </a:solidFill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系统架构分层</a:t>
            </a:r>
            <a:endParaRPr lang="zh-CN" altLang="en-US" sz="2800">
              <a:solidFill>
                <a:srgbClr val="FFFFFF"/>
              </a:solidFill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941705"/>
            <a:ext cx="1066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系统概述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000000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这是一个本体驱动（Ontology-Driven）的AI软件工程平台，主要思想是：用知识图谱（本体）表达软件工程全生命周期，用AI自动生成需求→方案→任务，用推理机做语义校验。</a:t>
            </a:r>
            <a:endParaRPr lang="en-US" sz="1500" b="0" i="0" u="none" strike="noStrike">
              <a:solidFill>
                <a:srgbClr val="000000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978660"/>
            <a:ext cx="10668000" cy="17811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2000" b="1" i="0" u="none" strike="noStrike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整体架构分层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5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接入层</a:t>
            </a:r>
            <a:r>
              <a:rPr lang="en-US" sz="1500" b="0" i="0" u="none" strike="noStrike">
                <a:solidFill>
                  <a:srgbClr val="000000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：FastAPI REST、MCP Tool (LLM/AI Agent)、内部函数调用；</a:t>
            </a:r>
            <a:endParaRPr lang="en-US" sz="1500" b="0" i="0" u="none" strike="noStrike">
              <a:solidFill>
                <a:srgbClr val="000000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5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应用层</a:t>
            </a:r>
            <a:r>
              <a:rPr lang="en-US" sz="1500" b="0" i="0" u="none" strike="noStrike">
                <a:solidFill>
                  <a:srgbClr val="000000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：workflows.py 业务流水线、reasoning.py 语义推理校验、ontology_service.py 图谱 CRUD；</a:t>
            </a:r>
            <a:endParaRPr lang="en-US" sz="1500" b="0" i="0" u="none" strike="noStrike">
              <a:solidFill>
                <a:srgbClr val="000000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5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领域层</a:t>
            </a:r>
            <a:r>
              <a:rPr lang="en-US" sz="1500" b="0" i="0" u="none" strike="noStrike">
                <a:solidFill>
                  <a:srgbClr val="000000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：constants.py 枚举、schemas.py Pydantic DTO、ontology.py OWL 本体 TBox 定义；</a:t>
            </a:r>
            <a:endParaRPr lang="en-US" sz="1500" b="0" i="0" u="none" strike="noStrike">
              <a:solidFill>
                <a:srgbClr val="000000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5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基础设施层：</a:t>
            </a:r>
            <a:r>
              <a:rPr lang="en-US" sz="1500" b="0" i="0" u="none" strike="noStrike">
                <a:solidFill>
                  <a:srgbClr val="000000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ORM (PostgreSQL)、Neo4j 图数据库、AI Provider、模拟外部集成 (Jenkins / 日志)</a:t>
            </a:r>
            <a:endParaRPr lang="en-US" sz="1500" b="0" i="0" u="none" strike="noStrike">
              <a:solidFill>
                <a:srgbClr val="000000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511300" y="3759835"/>
            <a:ext cx="8733155" cy="29356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0172700" y="501650"/>
            <a:ext cx="1905000" cy="504825"/>
          </a:xfrm>
          <a:prstGeom prst="roundRect">
            <a:avLst>
              <a:gd name="adj" fmla="val 0"/>
            </a:avLst>
          </a:prstGeom>
          <a:solidFill>
            <a:srgbClr val="B39B7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225088" y="541338"/>
            <a:ext cx="1800225" cy="40957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>
            <p:ph type="body" sz="quarter" idx="4294967295" hasCustomPrompt="1"/>
          </p:nvPr>
        </p:nvSpPr>
        <p:spPr>
          <a:xfrm>
            <a:off x="608330" y="384175"/>
            <a:ext cx="9175750" cy="70675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0000" tIns="46800" rIns="90000" bIns="46800" anchor="ctr">
            <a:normAutofit/>
          </a:bodyPr>
          <a:lstStyle>
            <a:lvl1pPr algn="l">
              <a:lnSpc>
                <a:spcPct val="100000"/>
              </a:lnSpc>
              <a:defRPr sz="3240" b="1" i="0" u="none" strike="noStrike" spc="3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 spc="3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系统概述—— 领域本体词典</a:t>
            </a:r>
            <a:endParaRPr lang="en-US" sz="2800" b="1" i="0" u="none" strike="noStrike" spc="30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99135" y="1222375"/>
            <a:ext cx="6350000" cy="381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StrEnum 的强类型定义（早期原型）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570980" y="2075815"/>
            <a:ext cx="2667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104380" y="2266315"/>
            <a:ext cx="139827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保障类型安全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761480" y="2892425"/>
            <a:ext cx="2349500" cy="6438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利用其约束特性，在编码阶段提供可选值的提示，并在编译期完成合法性的校验。从源头避免拼写错误和无效值的传入。</a:t>
            </a:r>
            <a:endParaRPr lang="en-US" sz="1100"/>
          </a:p>
          <a:p>
            <a:pPr algn="l">
              <a:lnSpc>
                <a:spcPct val="108000"/>
              </a:lnSpc>
            </a:pPr>
          </a:p>
        </p:txBody>
      </p:sp>
      <p:sp>
        <p:nvSpPr>
          <p:cNvPr id="10" name="AutoShape 10"/>
          <p:cNvSpPr/>
          <p:nvPr/>
        </p:nvSpPr>
        <p:spPr>
          <a:xfrm>
            <a:off x="9364980" y="2075815"/>
            <a:ext cx="2667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9898380" y="2266315"/>
            <a:ext cx="134874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全局语义统一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555480" y="2673350"/>
            <a:ext cx="2349500" cy="8629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建立统一的“概念词典”，在一处定义、随处引用，消除“同物异名”带来的理解偏差和沟通成本。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570980" y="3790315"/>
            <a:ext cx="2667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104380" y="3980815"/>
            <a:ext cx="149733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概念与实现解耦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761480" y="4425315"/>
            <a:ext cx="234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领域定义只关注“是什么”，不涉及具体技术实现方式，这样更能够保持清晰，也更容易在长期迭代中维持稳定。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364980" y="3790315"/>
            <a:ext cx="2667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898380" y="3980815"/>
            <a:ext cx="1349375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快速扩展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555480" y="4425315"/>
            <a:ext cx="234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系统概念的扩展通过枚举追加字段就可以完成，不涉及既有逻辑的修改，便于在开发中快速响应需求变化能力较好。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3"/>
          <a:srcRect t="12778"/>
          <a:stretch>
            <a:fillRect/>
          </a:stretch>
        </p:blipFill>
        <p:spPr>
          <a:xfrm>
            <a:off x="167640" y="2166620"/>
            <a:ext cx="2952750" cy="34893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107315" y="1706245"/>
            <a:ext cx="3436620" cy="3371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定义图谱节点类型 (实体本体)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357880" y="1714500"/>
            <a:ext cx="3345180" cy="58356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定义图谱关系类型 (语义连接)</a:t>
            </a:r>
            <a:br>
              <a:rPr lang="en-US" sz="1600" b="0" i="0" u="none" strike="noStrike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357880" y="2475865"/>
            <a:ext cx="2990850" cy="241935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74" hasCustomPrompt="1"/>
          </p:nvPr>
        </p:nvSpPr>
        <p:spPr>
          <a:xfrm>
            <a:off x="608330" y="384175"/>
            <a:ext cx="8873490" cy="706755"/>
          </a:xfrm>
          <a:prstGeom prst="rect">
            <a:avLst/>
          </a:prstGeom>
        </p:spPr>
        <p:txBody>
          <a:bodyPr wrap="square" lIns="90000" tIns="46800" rIns="90000" bIns="46800" anchor="ctr">
            <a:normAutofit/>
          </a:bodyPr>
          <a:lstStyle>
            <a:lvl1pPr algn="l">
              <a:lnSpc>
                <a:spcPct val="100000"/>
              </a:lnSpc>
              <a:defRPr sz="3240" b="1" i="0" u="none" strike="noStrike" spc="3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 spc="3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系统概述—— 核心数据模型</a:t>
            </a:r>
            <a:endParaRPr lang="en-US" sz="2800" b="1" i="0" u="none" strike="noStrike" spc="30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848995" y="1238250"/>
          <a:ext cx="10759440" cy="21907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586480"/>
                <a:gridCol w="3586480"/>
                <a:gridCol w="3586480"/>
              </a:tblGrid>
              <a:tr h="42862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表名</a:t>
                      </a:r>
                      <a:endParaRPr lang="en-US" sz="1100"/>
                    </a:p>
                  </a:txBody>
                  <a:tcPr marL="0" marR="152717" marT="82550" marB="8255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96E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作用</a:t>
                      </a:r>
                      <a:endParaRPr lang="en-US" sz="1100"/>
                    </a:p>
                  </a:txBody>
                  <a:tcPr marL="152717" marR="152717" marT="82550" marB="8255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96E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关键字段</a:t>
                      </a:r>
                      <a:endParaRPr lang="en-US" sz="1100"/>
                    </a:p>
                  </a:txBody>
                  <a:tcPr marL="152717" marR="152717" marT="82550" marB="8255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96E6">
                        <a:alpha val="100000"/>
                      </a:srgbClr>
                    </a:solidFill>
                  </a:tcPr>
                </a:tc>
              </a:tr>
              <a:tr h="42862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65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ontology_classes</a:t>
                      </a:r>
                      <a:endParaRPr lang="en-US" sz="1100"/>
                    </a:p>
                  </a:txBody>
                  <a:tcPr marL="0" marR="152717" marT="95567" marB="95567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概念类型定义</a:t>
                      </a:r>
                      <a:endParaRPr lang="en-US" sz="1100"/>
                    </a:p>
                  </a:txBody>
                  <a:tcPr marL="152717" marR="152717" marT="82550" marB="8255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id, name, description, schema</a:t>
                      </a:r>
                      <a:endParaRPr lang="en-US" sz="1100"/>
                    </a:p>
                  </a:txBody>
                  <a:tcPr marL="152717" marR="0" marT="82550" marB="8255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>
                        <a:alpha val="100000"/>
                      </a:srgbClr>
                    </a:solidFill>
                  </a:tcPr>
                </a:tc>
              </a:tr>
              <a:tr h="66675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65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ontology_instances</a:t>
                      </a:r>
                      <a:endParaRPr lang="en-US" sz="1100"/>
                    </a:p>
                  </a:txBody>
                  <a:tcPr marL="0" marR="152717" marT="95567" marB="95567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具体节点/实例</a:t>
                      </a:r>
                      <a:endParaRPr lang="en-US" sz="1100"/>
                    </a:p>
                  </a:txBody>
                  <a:tcPr marL="152717" marR="152717" marT="95567" marB="95567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id, class_id, title, status, properties, created_at, updated_at</a:t>
                      </a:r>
                      <a:endParaRPr lang="en-US" sz="1100"/>
                    </a:p>
                  </a:txBody>
                  <a:tcPr marL="152717" marR="0" marT="82550" marB="8255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>
                        <a:alpha val="100000"/>
                      </a:srgbClr>
                    </a:solidFill>
                  </a:tcPr>
                </a:tc>
              </a:tr>
              <a:tr h="66675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65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ontology_relations</a:t>
                      </a:r>
                      <a:endParaRPr lang="en-US" sz="1100"/>
                    </a:p>
                  </a:txBody>
                  <a:tcPr marL="0" marR="152717" marT="95567" marB="95567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节点间关系边</a:t>
                      </a:r>
                      <a:endParaRPr lang="en-US" sz="1100"/>
                    </a:p>
                  </a:txBody>
                  <a:tcPr marL="152717" marR="152717" marT="95567" marB="95567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id, source_id, target_id, type, properties, created_at</a:t>
                      </a:r>
                      <a:endParaRPr lang="en-US" sz="1100"/>
                    </a:p>
                  </a:txBody>
                  <a:tcPr marL="152717" marR="0" marT="82550" marB="8255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72720" y="3464560"/>
            <a:ext cx="5837555" cy="203136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290945" y="3424555"/>
            <a:ext cx="5600700" cy="343344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72720" y="5531485"/>
            <a:ext cx="5923915" cy="132651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9906000" cy="914400"/>
          </a:xfrm>
          <a:prstGeom prst="roundRect">
            <a:avLst>
              <a:gd name="adj" fmla="val 0"/>
            </a:avLst>
          </a:prstGeom>
          <a:solidFill>
            <a:srgbClr val="005B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 rot="5400000">
            <a:off x="9906000" y="0"/>
            <a:ext cx="762000" cy="914400"/>
          </a:xfrm>
          <a:prstGeom prst="triangle">
            <a:avLst/>
          </a:prstGeom>
          <a:solidFill>
            <a:srgbClr val="B89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668000" y="0"/>
            <a:ext cx="1524000" cy="914400"/>
          </a:xfrm>
          <a:prstGeom prst="roundRect">
            <a:avLst>
              <a:gd name="adj" fmla="val 0"/>
            </a:avLst>
          </a:prstGeom>
          <a:solidFill>
            <a:srgbClr val="B89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08000" y="203200"/>
            <a:ext cx="889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系统概述——完整业务流程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81000" y="11176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5B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本体实体关系全景图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/>
          <a:srcRect t="48" b="48"/>
          <a:stretch>
            <a:fillRect/>
          </a:stretch>
        </p:blipFill>
        <p:spPr>
          <a:xfrm>
            <a:off x="254000" y="1473200"/>
            <a:ext cx="6604000" cy="5156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7112000" y="11176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5B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核心业务链路（从需求到任务）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112000" y="1574800"/>
            <a:ext cx="406400" cy="406400"/>
          </a:xfrm>
          <a:prstGeom prst="ellipse">
            <a:avLst/>
          </a:prstGeom>
          <a:solidFill>
            <a:srgbClr val="005B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112000" y="1625600"/>
            <a:ext cx="406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45400" y="15748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1E1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PROJECT 项目容器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45400" y="1879600"/>
            <a:ext cx="431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顶层容器，包含所有业务需求（CONTAINS）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209210">
            <a:off x="7200900" y="2140126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B89A5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4" name="AutoShape 14"/>
          <p:cNvSpPr/>
          <p:nvPr/>
        </p:nvSpPr>
        <p:spPr>
          <a:xfrm>
            <a:off x="7112000" y="2311400"/>
            <a:ext cx="406400" cy="406400"/>
          </a:xfrm>
          <a:prstGeom prst="ellipse">
            <a:avLst/>
          </a:prstGeom>
          <a:solidFill>
            <a:srgbClr val="005B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112000" y="2362200"/>
            <a:ext cx="406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45400" y="23114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1E1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FEATURE 业务需求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45400" y="2616200"/>
            <a:ext cx="431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具体功能需求，AI 自动派生规格文档（DERIVES_TO）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5209210">
            <a:off x="7200900" y="2876726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B89A5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9" name="AutoShape 19"/>
          <p:cNvSpPr/>
          <p:nvPr/>
        </p:nvSpPr>
        <p:spPr>
          <a:xfrm>
            <a:off x="7112000" y="3048000"/>
            <a:ext cx="406400" cy="406400"/>
          </a:xfrm>
          <a:prstGeom prst="ellipse">
            <a:avLst/>
          </a:prstGeom>
          <a:solidFill>
            <a:srgbClr val="005B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112000" y="3098800"/>
            <a:ext cx="406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45400" y="30480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1E1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SPEC 需求规格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45400" y="3352800"/>
            <a:ext cx="431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包含用户故事（HAS_STORY）、验收标准（HAS_ACCEPTANCE）、澄清问题（CONTAINS）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>
            <a:off x="7311149" y="3524592"/>
            <a:ext cx="4051" cy="56516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B89A5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4" name="AutoShape 24"/>
          <p:cNvSpPr/>
          <p:nvPr/>
        </p:nvSpPr>
        <p:spPr>
          <a:xfrm>
            <a:off x="7112000" y="4140200"/>
            <a:ext cx="406400" cy="406400"/>
          </a:xfrm>
          <a:prstGeom prst="ellipse">
            <a:avLst/>
          </a:prstGeom>
          <a:solidFill>
            <a:srgbClr val="005B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7112000" y="4191000"/>
            <a:ext cx="406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45400" y="41402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1E1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PLAN 实施方案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645400" y="4445000"/>
            <a:ext cx="431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规格派生执行计划，拆分为具体开发任务（HAS_PLAN）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5209210">
            <a:off x="7200900" y="4705526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B89A5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9" name="AutoShape 29"/>
          <p:cNvSpPr/>
          <p:nvPr/>
        </p:nvSpPr>
        <p:spPr>
          <a:xfrm>
            <a:off x="7112000" y="4876800"/>
            <a:ext cx="406400" cy="406400"/>
          </a:xfrm>
          <a:prstGeom prst="ellipse">
            <a:avLst/>
          </a:prstGeom>
          <a:solidFill>
            <a:srgbClr val="B89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7112000" y="4927600"/>
            <a:ext cx="406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645400" y="48768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1E1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TASK 开发任务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645400" y="5181600"/>
            <a:ext cx="4318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按领域分类：frontend/backend/api/infrastructure/application/domain（HAS_TASK）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112000" y="5867400"/>
            <a:ext cx="4826000" cy="762000"/>
          </a:xfrm>
          <a:prstGeom prst="roundRect">
            <a:avLst>
              <a:gd name="adj" fmla="val 10000"/>
            </a:avLst>
          </a:prstGeom>
          <a:solidFill>
            <a:srgbClr val="005BAC">
              <a:alpha val="6000"/>
            </a:srgbClr>
          </a:solidFill>
          <a:ln w="12700" cap="flat" cmpd="sng">
            <a:solidFill>
              <a:srgbClr val="005BA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7315200" y="5969000"/>
            <a:ext cx="44196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1" i="0" u="none" strike="noStrike">
                <a:solidFill>
                  <a:srgbClr val="005BA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核心思想：</a:t>
            </a:r>
            <a:r>
              <a:rPr lang="en-US" sz="1100" b="0" i="0" u="none" strike="noStrike">
                <a:solidFill>
                  <a:srgbClr val="3C3C3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从项目到需求、规格、计划再到任务，形成完整的 AI 自动生成流水线；所有实体通过本体关系连接，支持语义推理与一致性校验。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>
            <p:ph type="body" sz="quarter" idx="169" hasCustomPrompt="1"/>
          </p:nvPr>
        </p:nvSpPr>
        <p:spPr>
          <a:xfrm>
            <a:off x="6381750" y="1924050"/>
            <a:ext cx="5545455" cy="1171575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lnSpc>
                <a:spcPct val="100000"/>
              </a:lnSpc>
              <a:defRPr sz="4400" b="1" i="0" u="none" strike="noStrike" spc="700">
                <a:solidFill>
                  <a:srgbClr val="1F2937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4400" b="1" i="0" u="none" strike="noStrike" spc="700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PART2</a:t>
            </a:r>
            <a:br>
              <a:rPr lang="en-US" sz="4400" b="1" i="0" u="none" strike="noStrike" spc="700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4400" b="1" i="0" u="none" strike="noStrike" spc="700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</a:t>
            </a:r>
            <a:endParaRPr lang="en-US" sz="4400" b="1" i="0" u="none" strike="noStrike" spc="700">
              <a:solidFill>
                <a:srgbClr val="2D37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74" hasCustomPrompt="1"/>
          </p:nvPr>
        </p:nvSpPr>
        <p:spPr>
          <a:xfrm>
            <a:off x="608330" y="384175"/>
            <a:ext cx="8873490" cy="706755"/>
          </a:xfrm>
          <a:prstGeom prst="rect">
            <a:avLst/>
          </a:prstGeom>
        </p:spPr>
        <p:txBody>
          <a:bodyPr wrap="square" lIns="90000" tIns="46800" rIns="90000" bIns="46800" anchor="ctr">
            <a:normAutofit/>
          </a:bodyPr>
          <a:lstStyle>
            <a:lvl1pPr algn="l">
              <a:lnSpc>
                <a:spcPct val="100000"/>
              </a:lnSpc>
              <a:defRPr sz="3240" b="1" i="0" u="none" strike="noStrike" spc="3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 spc="3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LLM—— Feature → Spec</a:t>
            </a:r>
            <a:endParaRPr lang="en-US" sz="2800" b="1" i="0" u="none" strike="noStrike" spc="30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209040"/>
            <a:ext cx="10668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CBD5E0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310005"/>
            <a:ext cx="10160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作用：</a:t>
            </a:r>
            <a:r>
              <a:rPr lang="en-US" sz="14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本体工程业务函数，输入一个 Feature (功能需求) ID，调用大模型 AI，自动生成完整 Spec 需求规格本体，同时生成用户故事、验收标准、澄清问题，全部写入本体数据库，最后返回结构化 DTO 给 FastAPI 接口。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64465" y="2042795"/>
            <a:ext cx="11862435" cy="113347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21945" y="3336925"/>
            <a:ext cx="5058410" cy="288480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r="25385"/>
          <a:stretch>
            <a:fillRect/>
          </a:stretch>
        </p:blipFill>
        <p:spPr>
          <a:xfrm>
            <a:off x="5554345" y="3392805"/>
            <a:ext cx="6410325" cy="282892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74" hasCustomPrompt="1"/>
          </p:nvPr>
        </p:nvSpPr>
        <p:spPr>
          <a:xfrm>
            <a:off x="608330" y="384175"/>
            <a:ext cx="8873490" cy="706755"/>
          </a:xfrm>
          <a:prstGeom prst="rect">
            <a:avLst/>
          </a:prstGeom>
        </p:spPr>
        <p:txBody>
          <a:bodyPr wrap="square" lIns="90000" tIns="46800" rIns="90000" bIns="46800" anchor="ctr">
            <a:normAutofit/>
          </a:bodyPr>
          <a:lstStyle>
            <a:lvl1pPr algn="l">
              <a:lnSpc>
                <a:spcPct val="100000"/>
              </a:lnSpc>
              <a:defRPr sz="3240" b="1" i="0" u="none" strike="noStrike" spc="3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 spc="3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LLM—— Feature → Spec</a:t>
            </a:r>
            <a:endParaRPr lang="en-US" sz="2800" b="1" i="0" u="none" strike="noStrike" spc="30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229225" y="1184910"/>
            <a:ext cx="5314950" cy="26289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324475" y="3907790"/>
            <a:ext cx="5124450" cy="222885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1330325"/>
            <a:ext cx="5208905" cy="469519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6" name="AutoShape 6"/>
          <p:cNvSpPr/>
          <p:nvPr/>
        </p:nvSpPr>
        <p:spPr>
          <a:xfrm>
            <a:off x="191135" y="6363335"/>
            <a:ext cx="5902960" cy="460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根据feature_id找出原始Feature，并让ai生成对应的用户故事，澄清问题，验收标准关联到spec。并且把feature spec挂上关系derives_to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>
            <p:ph type="body" sz="quarter" idx="169" hasCustomPrompt="1"/>
          </p:nvPr>
        </p:nvSpPr>
        <p:spPr>
          <a:xfrm>
            <a:off x="6381750" y="1924050"/>
            <a:ext cx="4486275" cy="1171575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lnSpc>
                <a:spcPct val="100000"/>
              </a:lnSpc>
              <a:defRPr sz="4400" b="1" i="0" u="none" strike="noStrike" spc="700">
                <a:solidFill>
                  <a:srgbClr val="1F2937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4400" b="1" i="0" u="none" strike="noStrike" spc="700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PART3</a:t>
            </a:r>
            <a:br>
              <a:rPr lang="en-US" sz="4400" b="1" i="0" u="none" strike="noStrike" spc="700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4400" b="1" i="0" u="none" strike="noStrike" spc="700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Reasoner推理与检查</a:t>
            </a:r>
            <a:endParaRPr lang="en-US" sz="4400" b="1" i="0" u="none" strike="noStrike" spc="700">
              <a:solidFill>
                <a:srgbClr val="2D37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0172700" y="501650"/>
            <a:ext cx="1905000" cy="504825"/>
          </a:xfrm>
          <a:prstGeom prst="roundRect">
            <a:avLst>
              <a:gd name="adj" fmla="val 0"/>
            </a:avLst>
          </a:prstGeom>
          <a:solidFill>
            <a:srgbClr val="B39B7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225088" y="541338"/>
            <a:ext cx="1800225" cy="40957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>
            <p:ph type="body" sz="quarter" idx="4294967295" hasCustomPrompt="1"/>
          </p:nvPr>
        </p:nvSpPr>
        <p:spPr>
          <a:xfrm>
            <a:off x="608330" y="384175"/>
            <a:ext cx="8873490" cy="706755"/>
          </a:xfrm>
          <a:prstGeom prst="rect">
            <a:avLst/>
          </a:prstGeom>
        </p:spPr>
        <p:txBody>
          <a:bodyPr wrap="square" lIns="90000" tIns="46800" rIns="90000" bIns="46800" anchor="ctr">
            <a:normAutofit/>
          </a:bodyPr>
          <a:lstStyle>
            <a:lvl1pPr algn="l">
              <a:lnSpc>
                <a:spcPct val="100000"/>
              </a:lnSpc>
              <a:defRPr sz="3240" b="1" i="0" u="none" strike="noStrike" spc="3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 spc="3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Reasoner推理</a:t>
            </a:r>
            <a:r>
              <a:rPr lang="en-US" sz="2800" b="1" i="0" u="none" strike="noStrike" spc="3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与检查--一致性检查</a:t>
            </a:r>
            <a:endParaRPr lang="en-US" sz="2800" b="1" i="0" u="none" strike="noStrike" spc="30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41415" y="1150620"/>
            <a:ext cx="5138420" cy="566356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94310" y="1595755"/>
            <a:ext cx="5963920" cy="395160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5470525" y="5295900"/>
            <a:ext cx="687705" cy="25146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74" hasCustomPrompt="1"/>
          </p:nvPr>
        </p:nvSpPr>
        <p:spPr>
          <a:xfrm>
            <a:off x="608330" y="384175"/>
            <a:ext cx="8873490" cy="706755"/>
          </a:xfrm>
          <a:prstGeom prst="rect">
            <a:avLst/>
          </a:prstGeom>
        </p:spPr>
        <p:txBody>
          <a:bodyPr wrap="square" lIns="90000" tIns="46800" rIns="90000" bIns="46800" anchor="ctr">
            <a:normAutofit/>
          </a:bodyPr>
          <a:lstStyle>
            <a:lvl1pPr algn="l">
              <a:lnSpc>
                <a:spcPct val="100000"/>
              </a:lnSpc>
              <a:defRPr sz="3240" b="1" i="0" u="none" strike="noStrike" spc="3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 spc="3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Reasoner推理与检查—— 拓扑完整性</a:t>
            </a:r>
            <a:endParaRPr lang="en-US" sz="2800" b="1" i="0" u="none" strike="noStrike" spc="30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1654175"/>
            <a:ext cx="12256135" cy="140144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1033780" y="3505200"/>
            <a:ext cx="10512425" cy="2699385"/>
          </a:xfrm>
          <a:prstGeom prst="rect">
            <a:avLst/>
          </a:prstGeom>
          <a:solidFill>
            <a:srgbClr val="F2F2F2">
              <a:alpha val="60000"/>
            </a:srgbClr>
          </a:solidFill>
          <a:ln w="12700" cmpd="sng">
            <a:solidFill>
              <a:srgbClr val="BFBFBF">
                <a:alpha val="100000"/>
              </a:srgbClr>
            </a:solidFill>
            <a:prstDash val="solid"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20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</a:t>
            </a:r>
            <a:r>
              <a:rPr lang="en-US" sz="16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run_checklist() 函数以传入的 root_id 查询到的本体实例为起点，一次性加载全部关系边到内存，然后根据根节点类型执行不同的检查逻辑：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 若根节点为 FEATURE，则通过嵌套遍历关系表，逐层检查 Feature → Spec → Plan → Task 业务链路是否完整，并记录每层是否存在；</a:t>
            </a:r>
            <a:endParaRPr lang="en-US" sz="16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 若根节点为其他类型，则只做标题和属性是否为空的通用检查。最后汇总所有检查项的通过/失败状态，在本体库中创建 CHECKLIST、REFLECTION 和 EXECUTION_LOG 三个报告节点，通过 HAS_CHECKLIST、HAS_REFLECTION、CONTAINS 关系挂载到根实例下，并返回 DTO 供前端展示。</a:t>
            </a:r>
            <a:endParaRPr lang="en-US" sz="16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endParaRPr sz="1800"/>
          </a:p>
          <a:p>
            <a:pPr marL="0" indent="0" algn="l">
              <a:lnSpc>
                <a:spcPct val="150000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8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74" hasCustomPrompt="1"/>
          </p:nvPr>
        </p:nvSpPr>
        <p:spPr>
          <a:xfrm>
            <a:off x="608330" y="384175"/>
            <a:ext cx="8873490" cy="706755"/>
          </a:xfrm>
          <a:prstGeom prst="rect">
            <a:avLst/>
          </a:prstGeom>
        </p:spPr>
        <p:txBody>
          <a:bodyPr wrap="square" lIns="90000" tIns="46800" rIns="90000" bIns="46800" anchor="ctr">
            <a:normAutofit/>
          </a:bodyPr>
          <a:lstStyle>
            <a:lvl1pPr algn="l">
              <a:lnSpc>
                <a:spcPct val="100000"/>
              </a:lnSpc>
              <a:defRPr sz="3240" b="1" i="0" u="none" strike="noStrike" spc="3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 spc="3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Reasoner推理与检查—— 拓扑完整性</a:t>
            </a:r>
            <a:endParaRPr lang="en-US" sz="2800" b="1" i="0" u="none" strike="noStrike" spc="30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47650" y="1202690"/>
            <a:ext cx="5520055" cy="543242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96000" y="1628140"/>
            <a:ext cx="5769610" cy="45485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0172700" y="501650"/>
            <a:ext cx="1905000" cy="504825"/>
          </a:xfrm>
          <a:prstGeom prst="roundRect">
            <a:avLst>
              <a:gd name="adj" fmla="val 0"/>
            </a:avLst>
          </a:prstGeom>
          <a:solidFill>
            <a:srgbClr val="B39B7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225088" y="541338"/>
            <a:ext cx="1800225" cy="40957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>
            <p:ph type="body" sz="quarter" idx="4294967295" hasCustomPrompt="1"/>
          </p:nvPr>
        </p:nvSpPr>
        <p:spPr>
          <a:xfrm>
            <a:off x="608330" y="384175"/>
            <a:ext cx="8873490" cy="70675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0000" tIns="46800" rIns="90000" bIns="46800" anchor="ctr">
            <a:normAutofit/>
          </a:bodyPr>
          <a:lstStyle>
            <a:lvl1pPr algn="l">
              <a:lnSpc>
                <a:spcPct val="100000"/>
              </a:lnSpc>
              <a:defRPr sz="3240" b="1" i="0" u="none" strike="noStrike" spc="3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 spc="3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Reasoner推理与检查—— 语义推理</a:t>
            </a:r>
            <a:endParaRPr lang="en-US" sz="2800" b="1" i="0" u="none" strike="noStrike" spc="30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355715" y="1240155"/>
            <a:ext cx="5702300" cy="5473700"/>
          </a:xfrm>
          <a:prstGeom prst="roundRect">
            <a:avLst>
              <a:gd name="adj" fmla="val 0"/>
            </a:avLst>
          </a:prstGeom>
          <a:solidFill>
            <a:srgbClr val="F2F2F2">
              <a:alpha val="60000"/>
            </a:srgbClr>
          </a:solidFill>
          <a:ln w="12700" cap="flat" cmpd="sng">
            <a:solidFill>
              <a:srgbClr val="80808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`asserted_pairs` 把 ABox 人工关系存一份快照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在独立沙箱把 TBox+ABox 一起喂给 Pellet 推理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Pellet 根据 TBox 里定义的传递属性，推导出新的 ABox 关系（隐式边）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过滤提取推理得到的实例关系：仅保留传递属性产生的推导边，过滤本体公理、自环关系与原始人工断言；完成 OWL 个体到业务数据库 ID 的双向映射，得到纯净的实例间推导关系集合。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5. 物化推导边：`compute_inferred_edges`向外输出推导边列表；上层业务开启`persist_inferred`时，将推导关系持久化存储，并标记`inferred=True`，以此区分人工录入关系与推理生成关系。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6. 统计信息，组装返回推理结果结构体：上层汇总推导关系集合；结合一致性校验得到的诊断信息统计错误、警告数量，封装推理摘要、推导边、诊断报告，构造结果对象对外提供服务。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51460" y="1133475"/>
            <a:ext cx="4920615" cy="571055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383655" y="4352290"/>
            <a:ext cx="2786380" cy="236156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635000" y="456565"/>
            <a:ext cx="889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Reasoner——推理机</a:t>
            </a:r>
            <a:r>
              <a:rPr lang="zh-CN" alt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推导</a:t>
            </a:r>
            <a:r>
              <a:rPr lang="zh-CN" alt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过程</a:t>
            </a:r>
            <a:endParaRPr lang="zh-CN" altLang="en-US" sz="28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35000" y="1168400"/>
            <a:ext cx="1092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Pellet 推理机</a:t>
            </a:r>
            <a:r>
              <a:rPr lang="zh-CN" altLang="en-US" sz="1400" b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根据已经</a:t>
            </a:r>
            <a:r>
              <a:rPr lang="en-US" sz="1400" b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给它规则手册和已知线索，自动推导出隐藏的真相。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61110" y="1727200"/>
            <a:ext cx="2540000" cy="4318000"/>
          </a:xfrm>
          <a:prstGeom prst="roundRect">
            <a:avLst>
              <a:gd name="adj" fmla="val 4000"/>
            </a:avLst>
          </a:prstGeom>
          <a:solidFill>
            <a:srgbClr val="005BAC">
              <a:alpha val="6000"/>
            </a:srgbClr>
          </a:solidFill>
          <a:ln w="12700" cap="flat" cmpd="sng">
            <a:solidFill>
              <a:srgbClr val="005BA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261110" y="18796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B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输入：已知线索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15110" y="2387600"/>
            <a:ext cx="2032000" cy="1016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05BA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515110" y="24892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B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TBox 规则手册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616710" y="2819400"/>
            <a:ext cx="1828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BLOCKED_BY 是传递的</a:t>
            </a:r>
            <a:br>
              <a:rPr lang="en-US" sz="11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11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DERIVES_TO 只能一对一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515110" y="3606800"/>
            <a:ext cx="2032000" cy="1016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B89A5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515110" y="37084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8C6E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ABox 已知事实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616710" y="4038600"/>
            <a:ext cx="1828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 阻塞 B</a:t>
            </a:r>
            <a:br>
              <a:rPr lang="en-US" sz="11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11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B 阻塞 C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81835">
            <a:off x="3902786" y="3879850"/>
            <a:ext cx="533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005BA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6" name="AutoShape 16"/>
          <p:cNvSpPr/>
          <p:nvPr/>
        </p:nvSpPr>
        <p:spPr>
          <a:xfrm>
            <a:off x="4563110" y="2286000"/>
            <a:ext cx="2286000" cy="3200400"/>
          </a:xfrm>
          <a:prstGeom prst="roundRect">
            <a:avLst>
              <a:gd name="adj" fmla="val 6666"/>
            </a:avLst>
          </a:prstGeom>
          <a:gradFill rotWithShape="1">
            <a:gsLst>
              <a:gs pos="0">
                <a:srgbClr val="005BAC">
                  <a:alpha val="100000"/>
                </a:srgbClr>
              </a:gs>
              <a:gs pos="100000">
                <a:srgbClr val="003C78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5198110" y="2540000"/>
            <a:ext cx="1016000" cy="1016000"/>
          </a:xfrm>
          <a:prstGeom prst="ellipse">
            <a:avLst/>
          </a:prstGeom>
          <a:solidFill>
            <a:srgbClr val="FFFFFF">
              <a:alpha val="15000"/>
            </a:srgbClr>
          </a:solidFill>
          <a:ln w="25400" cap="flat" cmpd="sng">
            <a:solidFill>
              <a:srgbClr val="FF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5452110" y="2794000"/>
            <a:ext cx="508000" cy="508000"/>
          </a:xfrm>
          <a:prstGeom prst="ellipse">
            <a:avLst/>
          </a:prstGeom>
          <a:solidFill>
            <a:srgbClr val="B89A5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563110" y="37592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Pellet 推理机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690110" y="4216400"/>
            <a:ext cx="2032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C8DCF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逻辑侦探</a:t>
            </a:r>
            <a:br>
              <a:rPr lang="en-US" sz="1200" b="0" i="0" u="none" strike="noStrike">
                <a:solidFill>
                  <a:srgbClr val="C8DCF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1200" b="0" i="0" u="none" strike="noStrike">
                <a:solidFill>
                  <a:srgbClr val="C8DCF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对照规则推导隐藏真相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563110" y="49784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B4C8E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在独立沙箱中运行，不污染原数据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81835">
            <a:off x="6950786" y="3879850"/>
            <a:ext cx="533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B89A5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3" name="AutoShape 23"/>
          <p:cNvSpPr/>
          <p:nvPr/>
        </p:nvSpPr>
        <p:spPr>
          <a:xfrm>
            <a:off x="7611110" y="1727200"/>
            <a:ext cx="2540000" cy="4318000"/>
          </a:xfrm>
          <a:prstGeom prst="roundRect">
            <a:avLst>
              <a:gd name="adj" fmla="val 4000"/>
            </a:avLst>
          </a:prstGeom>
          <a:solidFill>
            <a:srgbClr val="B89A5A">
              <a:alpha val="8000"/>
            </a:srgbClr>
          </a:solidFill>
          <a:ln w="12700" cap="flat" cmpd="sng">
            <a:solidFill>
              <a:srgbClr val="B89A5A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7611110" y="18796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8C6E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输出：发现真相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865110" y="2387600"/>
            <a:ext cx="2032000" cy="1016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B89A5A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7865110" y="24892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8C6E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新推导边（虚线）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966710" y="2819400"/>
            <a:ext cx="1828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 也阻塞 C！</a:t>
            </a:r>
            <a:br>
              <a:rPr lang="en-US" sz="11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11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（传递性自动推导）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865110" y="3606800"/>
            <a:ext cx="2032000" cy="1016000"/>
          </a:xfrm>
          <a:prstGeom prst="roundRect">
            <a:avLst>
              <a:gd name="adj" fmla="val 7500"/>
            </a:avLst>
          </a:prstGeom>
          <a:solidFill>
            <a:srgbClr val="C83C3C">
              <a:alpha val="8000"/>
            </a:srgbClr>
          </a:solidFill>
          <a:ln w="25400" cap="flat" cmpd="sng">
            <a:solidFill>
              <a:srgbClr val="C8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7865110" y="37084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4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冲突检测（报错）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966710" y="4038600"/>
            <a:ext cx="1828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一个 Feature 派生了两个 Spec</a:t>
            </a:r>
            <a:br>
              <a:rPr lang="en-US" sz="11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11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违反 FunctionalProperty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508000" y="6248400"/>
            <a:ext cx="11176000" cy="508000"/>
          </a:xfrm>
          <a:prstGeom prst="roundRect">
            <a:avLst>
              <a:gd name="adj" fmla="val 15000"/>
            </a:avLst>
          </a:prstGeom>
          <a:solidFill>
            <a:srgbClr val="005BAC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711200" y="6350000"/>
            <a:ext cx="10769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5BA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关键区别：</a:t>
            </a:r>
            <a:r>
              <a:rPr lang="en-US" sz="1300" b="0" i="0" u="none" strike="noStrike">
                <a:solidFill>
                  <a:srgbClr val="3232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普通程序只知道写进去的关系；推理机能根据规则</a:t>
            </a:r>
            <a:r>
              <a:rPr lang="zh-CN" altLang="en-US" sz="1300" b="0" i="0" u="none" strike="noStrike">
                <a:solidFill>
                  <a:srgbClr val="3232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推导演算</a:t>
            </a:r>
            <a:r>
              <a:rPr lang="en-US" sz="1300" b="0" i="0" u="none" strike="noStrike">
                <a:solidFill>
                  <a:srgbClr val="3232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，自动发现没写的隐藏关系和矛盾。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>
            <p:ph type="body" sz="quarter" idx="169" hasCustomPrompt="1"/>
          </p:nvPr>
        </p:nvSpPr>
        <p:spPr>
          <a:xfrm>
            <a:off x="6381750" y="1924050"/>
            <a:ext cx="4486275" cy="1171575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lnSpc>
                <a:spcPct val="100000"/>
              </a:lnSpc>
              <a:defRPr sz="4400" b="1" i="0" u="none" strike="noStrike" spc="700">
                <a:solidFill>
                  <a:srgbClr val="1F2937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4400" b="1" i="0" u="none" strike="noStrike" spc="700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PART4</a:t>
            </a:r>
            <a:br>
              <a:rPr lang="en-US" sz="4400" b="1" i="0" u="none" strike="noStrike" spc="700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4400" b="1" i="0" u="none" strike="noStrike" spc="700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MCP</a:t>
            </a:r>
            <a:endParaRPr lang="en-US" sz="4400" b="1" i="0" u="none" strike="noStrike" spc="700">
              <a:solidFill>
                <a:srgbClr val="2D37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0172700" y="501650"/>
            <a:ext cx="1905000" cy="504825"/>
          </a:xfrm>
          <a:prstGeom prst="roundRect">
            <a:avLst>
              <a:gd name="adj" fmla="val 0"/>
            </a:avLst>
          </a:prstGeom>
          <a:solidFill>
            <a:srgbClr val="B39B7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225088" y="541338"/>
            <a:ext cx="1800225" cy="40957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>
            <p:ph type="body" sz="quarter" idx="4294967295" hasCustomPrompt="1"/>
          </p:nvPr>
        </p:nvSpPr>
        <p:spPr>
          <a:xfrm>
            <a:off x="608330" y="384175"/>
            <a:ext cx="8873490" cy="70675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0000" tIns="46800" rIns="90000" bIns="46800" anchor="ctr">
            <a:normAutofit/>
          </a:bodyPr>
          <a:lstStyle>
            <a:lvl1pPr algn="l">
              <a:lnSpc>
                <a:spcPct val="100000"/>
              </a:lnSpc>
              <a:defRPr sz="3240" b="1" i="0" u="none" strike="noStrike" spc="3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240" b="1" i="0" u="none" strike="noStrike" spc="3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MCP</a:t>
            </a:r>
            <a:endParaRPr lang="en-US" sz="3240" b="1" i="0" u="none" strike="noStrike" spc="30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83515" y="1232535"/>
            <a:ext cx="11884660" cy="6451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▍MCP（Model Context Protocol）定义大模型与外部服务交互的标准化消息规范。大模型不直接访问、修改知识图谱，仅依靠收到现有的 MCP 规范指令；经由 MCP 代理层完成参数与权限校验后，代理访问本体图谱。通过强制模型查询权威数据源，抑制大模型事实幻觉，规避 LLM 随意篡改图谱数据的风险。</a:t>
            </a:r>
            <a:endParaRPr lang="en-US" sz="1100"/>
          </a:p>
          <a:p>
            <a:pPr algn="l">
              <a:lnSpc>
                <a:spcPct val="100000"/>
              </a:lnSpc>
            </a:pP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2443480" y="2159000"/>
          <a:ext cx="7038340" cy="4276725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a:tblPr>
              <a:tblGrid>
                <a:gridCol w="1341120"/>
                <a:gridCol w="2470150"/>
                <a:gridCol w="3227070"/>
              </a:tblGrid>
              <a:tr h="42862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维度</a:t>
                      </a:r>
                      <a:endParaRPr lang="en-US" sz="1100"/>
                    </a:p>
                  </a:txBody>
                  <a:tcPr marL="0" marR="152717" marT="82550" marB="8255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传统方式</a:t>
                      </a:r>
                      <a:endParaRPr lang="en-US" sz="1100"/>
                    </a:p>
                  </a:txBody>
                  <a:tcPr marL="152717" marR="152717" marT="82550" marB="8255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MCP 方式</a:t>
                      </a:r>
                      <a:endParaRPr lang="en-US" sz="1100"/>
                    </a:p>
                  </a:txBody>
                  <a:tcPr marL="152717" marR="152717" marT="82550" marB="8255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100000"/>
                      </a:srgbClr>
                    </a:solidFill>
                  </a:tcPr>
                </a:tc>
              </a:tr>
              <a:tr h="42862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核心区别</a:t>
                      </a:r>
                      <a:endParaRPr lang="en-US" sz="1100"/>
                    </a:p>
                  </a:txBody>
                  <a:tcPr marL="0" marR="152717" marT="82550" marB="8255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AI 只能"说"不能"做"</a:t>
                      </a:r>
                      <a:endParaRPr lang="en-US" sz="1100"/>
                    </a:p>
                  </a:txBody>
                  <a:tcPr marL="152717" marR="152717" marT="82550" marB="8255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AI 通过 MCP 下发受控指令，由代理服务执行操作，约束模型幻觉，防止随意篡改图谱</a:t>
                      </a:r>
                      <a:endParaRPr lang="en-US" sz="1100"/>
                    </a:p>
                  </a:txBody>
                  <a:tcPr marL="152717" marR="0" marT="0" marB="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66675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用户提问</a:t>
                      </a:r>
                      <a:endParaRPr lang="en-US" sz="1100"/>
                    </a:p>
                  </a:txBody>
                  <a:tcPr marL="0" marR="152717" marT="95567" marB="95567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"帮我检查一下这个功能有什么问题"</a:t>
                      </a:r>
                      <a:endParaRPr lang="en-US" sz="1100"/>
                    </a:p>
                  </a:txBody>
                  <a:tcPr marL="152717" marR="152717" marT="82550" marB="8255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"帮我检查一下这个功能有什么问题"</a:t>
                      </a:r>
                      <a:endParaRPr lang="en-US" sz="1100"/>
                    </a:p>
                  </a:txBody>
                  <a:tcPr marL="152717" marR="0" marT="82550" marB="8255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71437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AI 响应</a:t>
                      </a:r>
                      <a:endParaRPr lang="en-US" sz="1100"/>
                    </a:p>
                  </a:txBody>
                  <a:tcPr marL="0" marR="152717" marT="95567" marB="95567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建议你登录系统，点击XX按钮，查看YY页面...</a:t>
                      </a:r>
                      <a:endParaRPr lang="en-US" sz="1100"/>
                    </a:p>
                  </a:txBody>
                  <a:tcPr marL="152717" marR="152717" marT="0" marB="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好的，发起图谱检查请求</a:t>
                      </a:r>
                      <a:endParaRPr lang="en-US" sz="1100"/>
                    </a:p>
                  </a:txBody>
                  <a:tcPr marL="152717" marR="0" marT="95567" marB="95567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94297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后续动作</a:t>
                      </a:r>
                      <a:endParaRPr lang="en-US" sz="1100"/>
                    </a:p>
                  </a:txBody>
                  <a:tcPr marL="0" marR="152717" marT="95567" marB="95567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无，对话结束</a:t>
                      </a:r>
                      <a:endParaRPr lang="en-US" sz="1100"/>
                    </a:p>
                  </a:txBody>
                  <a:tcPr marL="152717" marR="152717" marT="95567" marB="95567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输出 MCP 标准化调用报文 → MCP 代理校验参数后调用`query_graph('feature_123')` → 返回子图，发现 Plan 下缺少 Task</a:t>
                      </a:r>
                      <a:endParaRPr lang="en-US" sz="1100"/>
                    </a:p>
                  </a:txBody>
                  <a:tcPr marL="152717" marR="0" marT="0" marB="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66675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最终结果</a:t>
                      </a:r>
                      <a:endParaRPr lang="en-US" sz="1100"/>
                    </a:p>
                  </a:txBody>
                  <a:tcPr marL="0" marR="152717" marT="95567" marB="95567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️ 只能给出建议，无法直接操作</a:t>
                      </a:r>
                      <a:endParaRPr lang="en-US" sz="1100"/>
                    </a:p>
                  </a:txBody>
                  <a:tcPr marL="152717" marR="152717" marT="82550" marB="8255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依托真实图谱数据完成检查，定位具体问题（如 Plan 下缺少 Task 拆解），避免模型凭空编造结论</a:t>
                      </a:r>
                      <a:endParaRPr lang="en-US" sz="1100"/>
                    </a:p>
                  </a:txBody>
                  <a:tcPr marL="152717" marR="0" marT="0" marB="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42862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用户体验</a:t>
                      </a:r>
                      <a:endParaRPr lang="en-US" sz="1100"/>
                    </a:p>
                  </a:txBody>
                  <a:tcPr marL="0" marR="152717" marT="82550" marB="8255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需手动执行，耗时长</a:t>
                      </a:r>
                      <a:endParaRPr lang="en-US" sz="1100"/>
                    </a:p>
                  </a:txBody>
                  <a:tcPr marL="152717" marR="152717" marT="82550" marB="8255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一键完成，即时反馈</a:t>
                      </a:r>
                      <a:endParaRPr lang="en-US" sz="1100"/>
                    </a:p>
                  </a:txBody>
                  <a:tcPr marL="152717" marR="0" marT="82550" marB="8255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0172700" y="501650"/>
            <a:ext cx="1905000" cy="504825"/>
          </a:xfrm>
          <a:prstGeom prst="roundRect">
            <a:avLst>
              <a:gd name="adj" fmla="val 0"/>
            </a:avLst>
          </a:prstGeom>
          <a:solidFill>
            <a:srgbClr val="B39B7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225088" y="541338"/>
            <a:ext cx="1800225" cy="40957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>
            <p:ph type="body" sz="quarter" idx="4294967295" hasCustomPrompt="1"/>
          </p:nvPr>
        </p:nvSpPr>
        <p:spPr>
          <a:xfrm>
            <a:off x="608330" y="384175"/>
            <a:ext cx="8873490" cy="70675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0000" tIns="46800" rIns="90000" bIns="46800" anchor="ctr">
            <a:normAutofit/>
          </a:bodyPr>
          <a:lstStyle>
            <a:lvl1pPr algn="l">
              <a:lnSpc>
                <a:spcPct val="100000"/>
              </a:lnSpc>
              <a:defRPr sz="3240" b="1" i="0" u="none" strike="noStrike" spc="3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240" b="1" i="0" u="none" strike="noStrike" spc="3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MCP</a:t>
            </a:r>
            <a:endParaRPr lang="en-US" sz="3240" b="1" i="0" u="none" strike="noStrike" spc="30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08000" y="1524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01｜发起端：AI Agent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2159000"/>
            <a:ext cx="3302000" cy="1397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35000" y="2286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核心组成：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 大模型推理 + Agent Host 运行环境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职责：基于用户意图拆解任务，自主决定调用何种工具完成目标。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08000" y="39370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889000" y="39116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输出“统一调用指令”，无需区分后端差异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08000" y="46990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仅面向 MCP 协议编程，完全感知不到背后复杂的外部系统。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388540">
            <a:off x="2286000" y="3549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445000" y="1524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02｜核心：MCP 协议层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445000" y="2159000"/>
            <a:ext cx="3302000" cy="1651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DBEAFE">
                  <a:alpha val="100000"/>
                </a:srgbClr>
              </a:gs>
              <a:gs pos="100000">
                <a:srgbClr val="BFDBFE">
                  <a:alpha val="100000"/>
                </a:srgbClr>
              </a:gs>
            </a:gsLst>
            <a:lin ang="2700000"/>
          </a:gradFill>
          <a:ln w="25400" cap="flat" cmpd="sng">
            <a:solidFill>
              <a:srgbClr val="3B82F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572000" y="2349500"/>
            <a:ext cx="304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MCP · 模型上下文协议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被誉为</a:t>
            </a:r>
            <a:r>
              <a:rPr lang="en-US" sz="13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「AI 世界的 USB-C」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，建立跨平台工具调用标准。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445000" y="41910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4699000" y="4127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将语义请求转化为“标准化接口适配”，通过 list_tools() 查询可用工具，call_tool() 调用工具。发起 HTTP POST 请求，调用 Jenkins 真实构建 API，把 AI 通用标准语言，翻译成 Jenkins 能看懂的专属接口语言。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445000" y="49530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向上提供统一调用入口，向下封装异构服务，实现“一次定义，随处可用”。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388540">
            <a:off x="6096000" y="3549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508000" y="5651500"/>
            <a:ext cx="11176000" cy="635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35000" y="5778500"/>
            <a:ext cx="1092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🔗 映射链路：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本体语义层 (Class/Instance 操作) ➔ MCP 协议标准工具调用 ➔ 适配并驱动外部异构系统 API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rcRect t="5000" b="5000"/>
          <a:stretch>
            <a:fillRect/>
          </a:stretch>
        </p:blipFill>
        <p:spPr>
          <a:xfrm>
            <a:off x="8099425" y="1143000"/>
            <a:ext cx="3909060" cy="219900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3" name="AutoShape 23"/>
          <p:cNvSpPr/>
          <p:nvPr/>
        </p:nvSpPr>
        <p:spPr>
          <a:xfrm>
            <a:off x="8242300" y="41275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本体 Agent不会写 Jenkins 接口地址、不会拼 Jenkins 专属请求参数。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只操作本体里的JenkinsJob语义实例，告诉系统：「我要对这个 Job 执行构建」。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系统会把这个语义需求，封装成标准化参数，调用 MCP 统一函数 call_tool(tool_name="trigger_jenkins_build", args={本体实例ID、分支、环境})。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6096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3C78">
                  <a:alpha val="100000"/>
                </a:srgbClr>
              </a:gs>
              <a:gs pos="100000">
                <a:srgbClr val="006DB8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096000" y="0"/>
            <a:ext cx="6096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540000"/>
            <a:ext cx="1016000" cy="50800"/>
          </a:xfrm>
          <a:prstGeom prst="roundRect">
            <a:avLst>
              <a:gd name="adj" fmla="val 0"/>
            </a:avLst>
          </a:prstGeom>
          <a:solidFill>
            <a:srgbClr val="B39B7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5200" b="1" i="0" u="none" strike="noStrike" spc="4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5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8100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200" b="1" i="0" u="none" strike="noStrike" spc="200">
                <a:solidFill>
                  <a:srgbClr val="C8DC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Core Architecture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731000" y="2286000"/>
            <a:ext cx="4826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4000" b="1" i="0" u="none" strike="noStrike" spc="300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核心架构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4000" b="1" i="0" u="none" strike="noStrike" spc="300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</a:t>
            </a:r>
            <a:endParaRPr lang="en-US" sz="4000" b="1" i="0" u="none" strike="noStrike" spc="300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731000" y="4445000"/>
            <a:ext cx="762000" cy="38100"/>
          </a:xfrm>
          <a:prstGeom prst="roundRect">
            <a:avLst>
              <a:gd name="adj" fmla="val 0"/>
            </a:avLst>
          </a:prstGeom>
          <a:solidFill>
            <a:srgbClr val="006D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731000" y="46355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本体真相源 · 双存储 · 公理约束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统一校验 ·  Agent 安全</a:t>
            </a:r>
            <a:endParaRPr lang="en-US" sz="14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457200"/>
            <a:ext cx="889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2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核心架构设计—— OWL本体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333500"/>
            <a:ext cx="10972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项目核心理念：OWL 本体是定义系统语义规则的唯一真相源（Single Source of Truth），数据库只是本体实例的持久化载体。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600" y="1905000"/>
            <a:ext cx="5207000" cy="3810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09600" y="1905000"/>
            <a:ext cx="5207000" cy="457200"/>
          </a:xfrm>
          <a:prstGeom prst="roundRect">
            <a:avLst>
              <a:gd name="adj" fmla="val 0"/>
            </a:avLst>
          </a:prstGeom>
          <a:solidFill>
            <a:srgbClr val="64748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12800" y="19558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设计理念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12800" y="2540000"/>
            <a:ext cx="4826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避免业务逻辑中大量硬编码：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if class_name == "Feature"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if relation == "HAS_TASK"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if field_name == "priority"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endParaRPr sz="14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规则集中管理，前后端和 MCP 都从同一套本体读取约束，规则变更只需修改一处定义。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75400" y="1905000"/>
            <a:ext cx="5207000" cy="3810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solidFill>
              <a:srgbClr val="006DB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375400" y="1905000"/>
            <a:ext cx="5207000" cy="457200"/>
          </a:xfrm>
          <a:prstGeom prst="roundRect">
            <a:avLst>
              <a:gd name="adj" fmla="val 0"/>
            </a:avLst>
          </a:prstGeom>
          <a:solidFill>
            <a:srgbClr val="006D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578600" y="19558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实现方式（ontology.py）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578600" y="2540000"/>
            <a:ext cx="4826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统一描述系统语义：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OWL 类（Class）与层次结构</a:t>
            </a:r>
            <a:endParaRPr lang="en-US" sz="1300" b="0" i="0" u="none" strike="noStrike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对象属性（ObjectProperty）</a:t>
            </a:r>
            <a:endParaRPr lang="en-US" sz="1300" b="0" i="0" u="none" strike="noStrike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数据属性（DatatypeProperty）</a:t>
            </a:r>
            <a:endParaRPr lang="en-US" sz="1300" b="0" i="0" u="none" strike="noStrike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公理（Functional / Transitive）</a:t>
            </a:r>
            <a:endParaRPr lang="en-US" sz="1300" b="0" i="0" u="none" strike="noStrike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endParaRPr sz="14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新增概念只需注册本体定义，无需到处改代码；所有入口共享同一套约束。</a:t>
            </a:r>
            <a:endParaRPr lang="en-US" sz="1300" b="0" i="0" u="none" strike="noStrike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09600" y="5969000"/>
            <a:ext cx="10972800" cy="12700"/>
          </a:xfrm>
          <a:prstGeom prst="roundRect">
            <a:avLst>
              <a:gd name="adj" fmla="val 0"/>
            </a:avLst>
          </a:prstGeom>
          <a:solidFill>
            <a:srgbClr val="E2E8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09600" y="60960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核心收益：</a:t>
            </a: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规则集中管理 · 多入口统一约束 · 新增类只需注册本体定义 · 消除硬编码分支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457200"/>
            <a:ext cx="889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2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核心架构设计—— Reasoner 统一校验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270000"/>
            <a:ext cx="109728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桥接 OWL 开放世界假设与业务闭世界校验：所有写入入口统一走 reasoner.validate_instance，消除校验规则分散漏洞。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600" y="1841500"/>
            <a:ext cx="1524000" cy="558800"/>
          </a:xfrm>
          <a:prstGeom prst="roundRect">
            <a:avLst>
              <a:gd name="adj" fmla="val 0"/>
            </a:avLst>
          </a:prstGeom>
          <a:solidFill>
            <a:srgbClr val="006D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09600" y="1943100"/>
            <a:ext cx="152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写入请求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000" b="1" i="0" u="none" strike="noStrike">
                <a:solidFill>
                  <a:srgbClr val="C8DC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API / MCP / 工作流</a:t>
            </a:r>
            <a:endParaRPr lang="en-US" sz="1000" b="1" i="0" u="none" strike="noStrike">
              <a:solidFill>
                <a:srgbClr val="C8DC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107393">
            <a:off x="2133699" y="21145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6DB8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8" name="AutoShape 8"/>
          <p:cNvSpPr/>
          <p:nvPr/>
        </p:nvSpPr>
        <p:spPr>
          <a:xfrm>
            <a:off x="2540000" y="1841500"/>
            <a:ext cx="1651000" cy="5588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solidFill>
              <a:srgbClr val="006DB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2540000" y="19685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validate_instance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07393">
            <a:off x="4191099" y="21145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6DB8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11" name="AutoShape 11"/>
          <p:cNvSpPr/>
          <p:nvPr/>
        </p:nvSpPr>
        <p:spPr>
          <a:xfrm>
            <a:off x="4597400" y="1841500"/>
            <a:ext cx="1397000" cy="558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64748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597400" y="1993900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字段存在性检查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07393">
            <a:off x="5994499" y="21145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6DB8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14" name="AutoShape 14"/>
          <p:cNvSpPr/>
          <p:nvPr/>
        </p:nvSpPr>
        <p:spPr>
          <a:xfrm>
            <a:off x="6400800" y="1841500"/>
            <a:ext cx="1397000" cy="558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64748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00800" y="1993900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必填 / 空值检查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07393">
            <a:off x="7797899" y="21145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6DB8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17" name="AutoShape 17"/>
          <p:cNvSpPr/>
          <p:nvPr/>
        </p:nvSpPr>
        <p:spPr>
          <a:xfrm>
            <a:off x="8204200" y="1841500"/>
            <a:ext cx="1397000" cy="558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64748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204200" y="1993900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类型 / 枚举检查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07393">
            <a:off x="9601299" y="21145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6DB8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20" name="AutoShape 20"/>
          <p:cNvSpPr/>
          <p:nvPr/>
        </p:nvSpPr>
        <p:spPr>
          <a:xfrm>
            <a:off x="10007600" y="1841500"/>
            <a:ext cx="1574800" cy="558800"/>
          </a:xfrm>
          <a:prstGeom prst="roundRect">
            <a:avLst>
              <a:gd name="adj" fmla="val 0"/>
            </a:avLst>
          </a:prstGeom>
          <a:solidFill>
            <a:srgbClr val="DCFCE7">
              <a:alpha val="100000"/>
            </a:srgbClr>
          </a:solidFill>
          <a:ln w="25400" cap="flat" cmpd="sng">
            <a:solidFill>
              <a:srgbClr val="16A34A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0007600" y="1993900"/>
            <a:ext cx="1574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 → 入库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2540000" y="2667000"/>
            <a:ext cx="7112000" cy="12700"/>
          </a:xfrm>
          <a:prstGeom prst="roundRect">
            <a:avLst>
              <a:gd name="adj" fmla="val 0"/>
            </a:avLst>
          </a:prstGeom>
          <a:solidFill>
            <a:srgbClr val="E2E8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2540000" y="2768600"/>
            <a:ext cx="711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任一检查失败 → 抛出 HTTPException 422，拒绝写入，返回具体字段错误信息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09600" y="3302000"/>
            <a:ext cx="5207000" cy="2540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12800" y="34544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为什么需要桥接层？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12800" y="3860800"/>
            <a:ext cx="4826000" cy="185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OWL 开放世界假设：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未声明的信息 ≠ 信息不存在，推理机不会因字段缺失而报错。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endParaRPr sz="1400"/>
          </a:p>
          <a:p>
            <a:pPr marL="0" indent="0" algn="l">
              <a:lnSpc>
                <a:spcPct val="133000"/>
              </a:lnSpc>
            </a:pPr>
            <a:r>
              <a:rPr lang="en-US" sz="12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业务闭世界需求：</a:t>
            </a:r>
            <a:endParaRPr lang="en-US" sz="1200" b="1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创建实例时 title 缺失必须直接拒绝，不能等推理后才发现。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endParaRPr sz="1400"/>
          </a:p>
          <a:p>
            <a:pPr marL="0" indent="0" algn="l">
              <a:lnSpc>
                <a:spcPct val="133000"/>
              </a:lnSpc>
            </a:pPr>
            <a:r>
              <a:rPr lang="en-US" sz="1200" b="1" i="0" u="none" strike="noStrike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reasoner.py 在写入前做闭世界校验，OWL 推理在写入后做开放世界推导。</a:t>
            </a:r>
            <a:endParaRPr lang="en-US" sz="1200" b="1" i="0" u="none" strike="noStrike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375400" y="3302000"/>
            <a:ext cx="5207000" cy="2540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solidFill>
              <a:srgbClr val="006DB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578600" y="34544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统一校验入口的价值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578600" y="3860800"/>
            <a:ext cx="4826000" cy="185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REST API 写入 → 走 validate_instance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MCP Agent 调用 → 走 validate_instance</a:t>
            </a:r>
            <a:endParaRPr lang="en-US" sz="1200" b="0" i="0" u="none" strike="noStrike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工作流自动生成 → 走 validate_instance</a:t>
            </a:r>
            <a:endParaRPr lang="en-US" sz="1200" b="0" i="0" u="none" strike="noStrike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种子数据初始化 → 走 validate_instance</a:t>
            </a:r>
            <a:endParaRPr lang="en-US" sz="1200" b="0" i="0" u="none" strike="noStrike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endParaRPr sz="1400"/>
          </a:p>
          <a:p>
            <a:pPr marL="0" indent="0" algn="l">
              <a:lnSpc>
                <a:spcPct val="133000"/>
              </a:lnSpc>
            </a:pPr>
            <a:r>
              <a:rPr lang="en-US" sz="1200" b="1" i="0" u="none" strike="noStrike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所有入口共享同一套本体约束，不存在"某个入口绕过规则"的漏洞。</a:t>
            </a:r>
            <a:endParaRPr lang="en-US" sz="1200" b="1" i="0" u="none" strike="noStrike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609600" y="6096000"/>
            <a:ext cx="10972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关键文件：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backend/app/domain/reasoner.py · validate_instance(class_name, properties) → ValidationResult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457200"/>
            <a:ext cx="889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2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核心架构设计—— OWL 公理增强与语义约束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270000"/>
            <a:ext cx="10972800" cy="3302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项目为对象属性、数据属性和枚举值增加 OWL 公理，使本体具备可推理的语义约束，Pellet 推理机可自动推导隐含关系。</a:t>
            </a:r>
            <a:endParaRPr lang="en-US" sz="110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609600" y="1778000"/>
          <a:ext cx="10972800" cy="254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2032000"/>
                <a:gridCol w="6654800"/>
              </a:tblGrid>
              <a:tr h="4191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公理类型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B8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应用对象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B8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语义含义与业务价值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B8">
                        <a:alpha val="100000"/>
                      </a:srgbClr>
                    </a:solidFill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FunctionalProperty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DERIVES_TO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一个 Feature 最多派生一个 Spec；推理时可检测重复派生冲突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TransitiveProperty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BLOCKED_BY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阻塞关系具备传递性；A 阻塞 B、B 阻塞 C → 推理出 A 间接阻塞 C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AllDifferent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枚举个体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low / medium / high / critical 作为 PriorityValue 个体，互斥约束保证枚举合法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07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DatatypeProperty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类字段约束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通过 _constrain_fields 挂载必填/可选/类型/枚举，如 Feature.required = [title]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609600" y="4572000"/>
            <a:ext cx="10972800" cy="1397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solidFill>
              <a:srgbClr val="006DB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12800" y="4724400"/>
            <a:ext cx="10566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公理设计的工程价值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12800" y="5080000"/>
            <a:ext cx="10566400" cy="762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公理写入 ontology.py，Pellet 推理机可自动推导隐含关系（如传递阻塞），并检测违反约束的非法实例。枚举不再是字符串列表，而是 OWL 个体，用 AllDifferent 约束互斥，更符合语义学模型。字段约束通过 DatatypeProperty 挂载到类上，可从本体反推每个类的合法字段集合。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09600" y="6197600"/>
            <a:ext cx="10972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关键文件：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backend/app/domain/ontology.py（本体定义）· backend/app/domain/reasoner.py（校验与推理）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457200"/>
            <a:ext cx="889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2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核心架构设计—— SQL + Neo4j 双存储架构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270000"/>
            <a:ext cx="109728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项目采用 Neo4j 作为知识图谱持久存储，与 PostgreSQL 形成双存储互补，支持高效图查询与推理边持久化。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826000" y="1778000"/>
            <a:ext cx="2540000" cy="711200"/>
          </a:xfrm>
          <a:prstGeom prst="roundRect">
            <a:avLst>
              <a:gd name="adj" fmla="val 0"/>
            </a:avLst>
          </a:prstGeom>
          <a:solidFill>
            <a:srgbClr val="006DB8">
              <a:alpha val="100000"/>
            </a:srgbClr>
          </a:solidFill>
          <a:ln w="12700" cap="flat" cmpd="sng">
            <a:solidFill>
              <a:srgbClr val="00508C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4826000" y="1854200"/>
            <a:ext cx="254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Application Layer</a:t>
            </a:r>
            <a:endParaRPr lang="en-US" sz="1100"/>
          </a:p>
          <a:p>
            <a:pPr marL="0" indent="0" algn="ctr">
              <a:lnSpc>
                <a:spcPct val="92000"/>
              </a:lnSpc>
            </a:pPr>
            <a:r>
              <a:rPr lang="en-US" sz="1000" b="1" i="0" u="none" strike="noStrike">
                <a:solidFill>
                  <a:srgbClr val="C8DC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ontology_service / workflows</a:t>
            </a:r>
            <a:endParaRPr lang="en-US" sz="1000" b="1" i="0" u="none" strike="noStrike">
              <a:solidFill>
                <a:srgbClr val="C8DC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10135514">
            <a:off x="2513502" y="2762253"/>
            <a:ext cx="297397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6DB8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cxnSp>
        <p:nvCxnSpPr>
          <p:cNvPr id="8" name="Connector 8"/>
          <p:cNvCxnSpPr/>
          <p:nvPr/>
        </p:nvCxnSpPr>
        <p:spPr>
          <a:xfrm rot="635124">
            <a:off x="6704528" y="2762253"/>
            <a:ext cx="297397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6DB8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048000"/>
            <a:ext cx="3048000" cy="1651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solidFill>
              <a:srgbClr val="006DB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3175000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PostgreSQL（事务主存）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219200" y="3581400"/>
            <a:ext cx="2667000" cy="106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ontology_classes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ontology_instances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ontology_relations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approval_mappings（新增）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ACID 事务保证 · 结构化查询</a:t>
            </a:r>
            <a:endParaRPr lang="en-US" sz="11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28000" y="3048000"/>
            <a:ext cx="3048000" cy="16510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solidFill>
              <a:srgbClr val="16A34A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128000" y="3175000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Neo4j（图谱存储）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31200" y="3581400"/>
            <a:ext cx="2667000" cy="106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实例节点（Node）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关系边（Relationship）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推导边（inferred，虚线）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局部子图 BFS 扩展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Cypher 图查询 · 可视化拓扑</a:t>
            </a:r>
            <a:endParaRPr lang="en-US" sz="11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5" name="Connector 15"/>
          <p:cNvCxnSpPr/>
          <p:nvPr/>
        </p:nvCxnSpPr>
        <p:spPr>
          <a:xfrm rot="-10742">
            <a:off x="4064010" y="386715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B39B77">
                <a:alpha val="100000"/>
              </a:srgbClr>
            </a:solidFill>
            <a:prstDash val="dash"/>
            <a:round/>
            <a:headEnd type="arrow" w="med" len="med"/>
            <a:tailEnd type="arrow" w="med" len="med"/>
          </a:ln>
        </p:spPr>
      </p:cxnSp>
      <p:sp>
        <p:nvSpPr>
          <p:cNvPr id="16" name="AutoShape 16"/>
          <p:cNvSpPr/>
          <p:nvPr/>
        </p:nvSpPr>
        <p:spPr>
          <a:xfrm>
            <a:off x="4699000" y="36322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B39B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双写同步（graph_db.py）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556000" y="5080000"/>
            <a:ext cx="5080000" cy="635000"/>
          </a:xfrm>
          <a:prstGeom prst="roundRect">
            <a:avLst>
              <a:gd name="adj" fmla="val 0"/>
            </a:avLst>
          </a:prstGeom>
          <a:solidFill>
            <a:srgbClr val="FEF9C3">
              <a:alpha val="100000"/>
            </a:srgbClr>
          </a:solidFill>
          <a:ln w="12700" cap="flat" cmpd="sng">
            <a:solidFill>
              <a:srgbClr val="CA8A04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3683000" y="5181600"/>
            <a:ext cx="482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78350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查询路径：get_graph() 优先读 Neo4j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78350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Neo4j 不可用时自动降级 → 从 SQL 加载关系并内存构建图谱</a:t>
            </a:r>
            <a:endParaRPr lang="en-US" sz="1100" b="0" i="0" u="none" strike="noStrike">
              <a:solidFill>
                <a:srgbClr val="78350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09600" y="60325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取舍：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SQL 保证事务一致性，Neo4j 提供高性能图查询与推导边持久化；代价是需维护双库同步一致性。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457200"/>
            <a:ext cx="9963785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2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核心架构设计—— MCP 安全增强：Agent 受控调用</a:t>
            </a:r>
            <a:endParaRPr lang="en-US" sz="2800"/>
          </a:p>
        </p:txBody>
      </p:sp>
      <p:sp>
        <p:nvSpPr>
          <p:cNvPr id="4" name="AutoShape 4"/>
          <p:cNvSpPr/>
          <p:nvPr/>
        </p:nvSpPr>
        <p:spPr>
          <a:xfrm>
            <a:off x="609600" y="1270000"/>
            <a:ext cx="109728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项目明确 MCP 工具受本体校验保护：Agent 调用创建实例、建立关系等写操作时，必须经过 reasoner 校验，不能绕过本体规则。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600" y="1778000"/>
            <a:ext cx="5207000" cy="2286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09600" y="1778000"/>
            <a:ext cx="5207000" cy="406400"/>
          </a:xfrm>
          <a:prstGeom prst="roundRect">
            <a:avLst>
              <a:gd name="adj" fmla="val 0"/>
            </a:avLst>
          </a:prstGeom>
          <a:solidFill>
            <a:srgbClr val="64748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12800" y="18288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设计原则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12800" y="2336800"/>
            <a:ext cx="4826000" cy="160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所有写操作走 reasoner.validate_instance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Agent 不可绕过规则创建非法实例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校验失败返回结构化错误信息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Agent 可根据错误修正后重试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endParaRPr sz="1400"/>
          </a:p>
          <a:p>
            <a:pPr marL="0" indent="0" algn="l">
              <a:lnSpc>
                <a:spcPct val="133000"/>
              </a:lnSpc>
            </a:pPr>
            <a:r>
              <a:rPr lang="en-US" sz="1200" b="1" i="0" u="none" strike="noStrike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核心思想：AI 生成内容，本体限制合法性</a:t>
            </a:r>
            <a:endParaRPr lang="en-US" sz="1200" b="1" i="0" u="none" strike="noStrike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75400" y="1778000"/>
            <a:ext cx="5207000" cy="2286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solidFill>
              <a:srgbClr val="006DB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375400" y="1778000"/>
            <a:ext cx="5207000" cy="406400"/>
          </a:xfrm>
          <a:prstGeom prst="roundRect">
            <a:avLst>
              <a:gd name="adj" fmla="val 0"/>
            </a:avLst>
          </a:prstGeom>
          <a:solidFill>
            <a:srgbClr val="006D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578600" y="18288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MCP 工具清单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578600" y="2336800"/>
            <a:ext cx="4826000" cy="160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读操作：search_ontology · describe_class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query_graph · export_owl · search_logs</a:t>
            </a:r>
            <a:endParaRPr lang="en-US" sz="1200" b="0" i="0" u="none" strike="noStrike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写操作（受校验保护）：</a:t>
            </a:r>
            <a:endParaRPr lang="en-US" sz="1200" b="0" i="0" u="none" strike="noStrike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create_instance · relate</a:t>
            </a:r>
            <a:endParaRPr lang="en-US" sz="1200" b="0" i="0" u="none" strike="noStrike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run_reasoning · run_semantic_check</a:t>
            </a:r>
            <a:endParaRPr lang="en-US" sz="1200" b="0" i="0" u="none" strike="noStrike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trigger_jenkins · send_feishu_message</a:t>
            </a:r>
            <a:endParaRPr lang="en-US" sz="1200" b="0" i="0" u="none" strike="noStrike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09600" y="4318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调用校验流程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09600" y="4762500"/>
            <a:ext cx="1651000" cy="558800"/>
          </a:xfrm>
          <a:prstGeom prst="roundRect">
            <a:avLst>
              <a:gd name="adj" fmla="val 0"/>
            </a:avLst>
          </a:prstGeom>
          <a:solidFill>
            <a:srgbClr val="006D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09600" y="48895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 Agent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07393">
            <a:off x="2260699" y="50355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6DB8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17" name="AutoShape 17"/>
          <p:cNvSpPr/>
          <p:nvPr/>
        </p:nvSpPr>
        <p:spPr>
          <a:xfrm>
            <a:off x="2667000" y="4762500"/>
            <a:ext cx="1778000" cy="5588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solidFill>
              <a:srgbClr val="006DB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2667000" y="48895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MCP create_instance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07393">
            <a:off x="4445099" y="50355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6DB8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20" name="AutoShape 20"/>
          <p:cNvSpPr/>
          <p:nvPr/>
        </p:nvSpPr>
        <p:spPr>
          <a:xfrm>
            <a:off x="4851400" y="4762500"/>
            <a:ext cx="1778000" cy="558800"/>
          </a:xfrm>
          <a:prstGeom prst="roundRect">
            <a:avLst>
              <a:gd name="adj" fmla="val 0"/>
            </a:avLst>
          </a:prstGeom>
          <a:solidFill>
            <a:srgbClr val="FEF9C3">
              <a:alpha val="100000"/>
            </a:srgbClr>
          </a:solidFill>
          <a:ln w="25400" cap="flat" cmpd="sng">
            <a:solidFill>
              <a:srgbClr val="CA8A04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4851400" y="48895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78350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reasoner 校验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07393">
            <a:off x="6629499" y="50355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6A34A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23" name="AutoShape 23"/>
          <p:cNvSpPr/>
          <p:nvPr/>
        </p:nvSpPr>
        <p:spPr>
          <a:xfrm>
            <a:off x="7035800" y="4762500"/>
            <a:ext cx="1651000" cy="558800"/>
          </a:xfrm>
          <a:prstGeom prst="roundRect">
            <a:avLst>
              <a:gd name="adj" fmla="val 0"/>
            </a:avLst>
          </a:prstGeom>
          <a:solidFill>
            <a:srgbClr val="DCFCE7">
              <a:alpha val="100000"/>
            </a:srgbClr>
          </a:solidFill>
          <a:ln w="25400" cap="flat" cmpd="sng">
            <a:solidFill>
              <a:srgbClr val="16A34A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7035800" y="48895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 → 入库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5304531">
            <a:off x="5511800" y="5543638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DC2626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26" name="AutoShape 26"/>
          <p:cNvSpPr/>
          <p:nvPr/>
        </p:nvSpPr>
        <p:spPr>
          <a:xfrm>
            <a:off x="4699000" y="5778500"/>
            <a:ext cx="2082800" cy="457200"/>
          </a:xfrm>
          <a:prstGeom prst="roundRect">
            <a:avLst>
              <a:gd name="adj" fmla="val 0"/>
            </a:avLst>
          </a:prstGeom>
          <a:solidFill>
            <a:srgbClr val="FEE2E2">
              <a:alpha val="100000"/>
            </a:srgbClr>
          </a:solidFill>
          <a:ln w="12700" cap="flat" cmpd="sng">
            <a:solidFill>
              <a:srgbClr val="DC262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4699000" y="5854700"/>
            <a:ext cx="2082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失败 → 返回错误，Agent 修正重试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144000" y="4762500"/>
            <a:ext cx="2438400" cy="14732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9296400" y="48641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工程价值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296400" y="5168900"/>
            <a:ext cx="2159000" cy="965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解决"Agent 随意写脏数据"问题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生成内容受本体规则约束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系统能力可安全扩展到 Agent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校验入口统一，无规则绕过漏洞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457200"/>
            <a:ext cx="889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2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核心架构设计—— 项目技术总览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270000"/>
            <a:ext cx="109728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Ontology AI Coding MVP 围绕"本体驱动 AI 软件工程"构建，六大核心技术能力形成从需求到交付的完整闭环。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600" y="1778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solidFill>
              <a:srgbClr val="006DB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12800" y="19304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本体建模与语义约束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12800" y="2286000"/>
            <a:ext cx="3048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OWL 本体定义类、属性、公理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Functional / Transitive 公理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枚举个体 AllDifferent 约束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字段必填 / 类型 / 枚举校验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本体作为系统语义真相源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381500" y="1778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solidFill>
              <a:srgbClr val="16A34A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584700" y="19304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双存储与图谱查询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84700" y="2286000"/>
            <a:ext cx="3048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PostgreSQL 事务主存（ACID）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Neo4j 知识图谱持久存储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双写同步（graph_db.py）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推导边持久化（虚线）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Neo4j 故障自动降级回退 SQL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153400" y="1778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EF9C3">
              <a:alpha val="100000"/>
            </a:srgbClr>
          </a:solidFill>
          <a:ln w="25400" cap="flat" cmpd="sng">
            <a:solidFill>
              <a:srgbClr val="CA8A04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356600" y="19304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78350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工作流编排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356600" y="2286000"/>
            <a:ext cx="3048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Feature → Spec → Plan → Task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AIProvider 抽象（规则 / LLM）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Pydantic 结构化输出校验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失败自动回退规则 Provider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生成结果全部本体化持久化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09600" y="3937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25400" cap="flat" cmpd="sng">
            <a:solidFill>
              <a:srgbClr val="DC262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12800" y="40894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OWL 推理与语义校验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2800" y="4445000"/>
            <a:ext cx="3048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Pellet 一致性推理（隔离 World）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reasoner.validate_instance 统一入口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开放世界 ↔ 闭世界桥接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拓扑完整性检查（Checklist）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语义诊断（error / warning）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4394200" y="3937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ECFEFF">
              <a:alpha val="100000"/>
            </a:srgbClr>
          </a:solidFill>
          <a:ln w="25400" cap="flat" cmpd="sng">
            <a:solidFill>
              <a:srgbClr val="0891B2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4597400" y="40894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E749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MCP Agent 受控调用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597400" y="4445000"/>
            <a:ext cx="3048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MCP 协议暴露本体工具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Agent 写操作必过本体校验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不可绕过规则创建非法实例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校验失败返回结构化错误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AI 生成内容，本体限制合法性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523412" y="276225"/>
            <a:ext cx="2376488" cy="54768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180138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6335712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116388" y="6350000"/>
            <a:ext cx="3959225" cy="31591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381750" y="1924050"/>
            <a:ext cx="4486275" cy="11715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400" b="1" i="0" u="none" strike="noStrike" spc="700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6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4400" b="1" i="0" u="none" strike="noStrike" spc="700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</a:t>
            </a:r>
            <a:endParaRPr lang="en-US" sz="4400" b="1" i="0" u="none" strike="noStrike" spc="700">
              <a:solidFill>
                <a:srgbClr val="2D37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508000" y="406400"/>
            <a:ext cx="635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总结与展望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1270000"/>
            <a:ext cx="508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B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项目核心贡献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9107">
            <a:off x="635045" y="1720850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B89A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635000" y="1981200"/>
            <a:ext cx="38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89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92200" y="19812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1E1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本体驱动的系统架构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92200" y="2311400"/>
            <a:ext cx="482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以 OWL 本体作为系统语义唯一真相源，实现业务规则集中管理，消除硬编码与多入口校验不一致问题。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" y="2895600"/>
            <a:ext cx="38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89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92200" y="28956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1E1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双层语义校验机制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92200" y="3225800"/>
            <a:ext cx="482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轻量字段预检 + Pellet 推理机深度语义校验，桥接 OWL 开放世界假设与业务闭世界必填约束。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" y="3810000"/>
            <a:ext cx="38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89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92200" y="38100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1E1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受控的 MCP 安全层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92200" y="4140200"/>
            <a:ext cx="482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所有 Agent 写操作强制经过本体校验，AI 负责生成内容、本体限制合法性，从根本上抑制 AI 幻觉。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" y="4724400"/>
            <a:ext cx="38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89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92200" y="47244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1E1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SQL + Neo4j 双存储架构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92200" y="5054600"/>
            <a:ext cx="482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PostgreSQL 保障事务一致性，Neo4j 承载图谱查询与推导边持久化，兼顾可靠性与图查询性能。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5389889">
            <a:off x="3937000" y="3422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477000" y="1270000"/>
            <a:ext cx="508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B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未来工作展望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49107">
            <a:off x="6477045" y="1720850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B89A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3" name="AutoShape 23"/>
          <p:cNvSpPr/>
          <p:nvPr/>
        </p:nvSpPr>
        <p:spPr>
          <a:xfrm>
            <a:off x="6477000" y="1981200"/>
            <a:ext cx="5080000" cy="812800"/>
          </a:xfrm>
          <a:prstGeom prst="roundRect">
            <a:avLst>
              <a:gd name="adj" fmla="val 6250"/>
            </a:avLst>
          </a:prstGeom>
          <a:solidFill>
            <a:srgbClr val="005BAC">
              <a:alpha val="6000"/>
            </a:srgbClr>
          </a:solidFill>
          <a:ln w="12700" cap="flat" cmpd="sng">
            <a:solidFill>
              <a:srgbClr val="005BA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680200" y="20828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B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推理引擎升级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680200" y="23876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支持增量推理与大规模本体，提升推理性能与实时性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77000" y="2946400"/>
            <a:ext cx="5080000" cy="812800"/>
          </a:xfrm>
          <a:prstGeom prst="roundRect">
            <a:avLst>
              <a:gd name="adj" fmla="val 6250"/>
            </a:avLst>
          </a:prstGeom>
          <a:solidFill>
            <a:srgbClr val="005BAC">
              <a:alpha val="6000"/>
            </a:srgbClr>
          </a:solidFill>
          <a:ln w="12700" cap="flat" cmpd="sng">
            <a:solidFill>
              <a:srgbClr val="005BA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680200" y="30480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B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MCP 工具链扩展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680200" y="33528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丰富图谱操作工具，增强 Agent 对复杂工程场景的操作能力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477000" y="3911600"/>
            <a:ext cx="5080000" cy="812800"/>
          </a:xfrm>
          <a:prstGeom prst="roundRect">
            <a:avLst>
              <a:gd name="adj" fmla="val 6250"/>
            </a:avLst>
          </a:prstGeom>
          <a:solidFill>
            <a:srgbClr val="005BAC">
              <a:alpha val="6000"/>
            </a:srgbClr>
          </a:solidFill>
          <a:ln w="12700" cap="flat" cmpd="sng">
            <a:solidFill>
              <a:srgbClr val="005BA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680200" y="40132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B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 Agent 协作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680200" y="43180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引入需求分析、架构设计、测试等多角色 Agent 协同工作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477000" y="4876800"/>
            <a:ext cx="5080000" cy="812800"/>
          </a:xfrm>
          <a:prstGeom prst="roundRect">
            <a:avLst>
              <a:gd name="adj" fmla="val 6250"/>
            </a:avLst>
          </a:prstGeom>
          <a:solidFill>
            <a:srgbClr val="B89A5A">
              <a:alpha val="8000"/>
            </a:srgbClr>
          </a:solidFill>
          <a:ln w="12700" cap="flat" cmpd="sng">
            <a:solidFill>
              <a:srgbClr val="B89A5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6680200" y="49784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8C6E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工程实践验证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680200" y="52832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在真实软件项目中验证系统有效性，持续优化本体模型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0" y="5969000"/>
            <a:ext cx="12192000" cy="889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5BAC">
                  <a:alpha val="100000"/>
                </a:srgbClr>
              </a:gs>
              <a:gs pos="100000">
                <a:srgbClr val="00468C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635000" y="6121400"/>
            <a:ext cx="1092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本项目验证了</a:t>
            </a:r>
            <a:r>
              <a:rPr lang="en-US" sz="14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本体驱动 + 知识图谱 + MCP Agent</a:t>
            </a:r>
            <a:r>
              <a:rPr lang="en-US" sz="1400" b="0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架构在软件工程领域的可行性，为 AI 辅助软件工程提供了一套可扩展、可校验、可推理的原型方案。</a:t>
            </a:r>
            <a:endParaRPr lang="en-US"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523413" y="276225"/>
            <a:ext cx="2376487" cy="54768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 rot="5400000">
            <a:off x="10383480" y="5049028"/>
            <a:ext cx="1855521" cy="1761380"/>
          </a:xfrm>
          <a:custGeom>
            <a:avLst/>
            <a:gdLst/>
            <a:ahLst/>
            <a:cxnLst/>
            <a:rect l="l" t="t" r="r" b="b"/>
            <a:pathLst>
              <a:path w="1855521" h="1761380">
                <a:moveTo>
                  <a:pt x="0" y="0"/>
                </a:moveTo>
                <a:lnTo>
                  <a:pt x="1855521" y="0"/>
                </a:lnTo>
                <a:lnTo>
                  <a:pt x="1855521" y="1761380"/>
                </a:lnTo>
                <a:lnTo>
                  <a:pt x="0" y="0"/>
                </a:lnTo>
                <a:close/>
              </a:path>
            </a:pathLst>
          </a:custGeom>
          <a:solidFill>
            <a:srgbClr val="006DB8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5400000">
            <a:off x="8470050" y="3140812"/>
            <a:ext cx="3797170" cy="3649905"/>
          </a:xfrm>
          <a:custGeom>
            <a:avLst/>
            <a:gdLst/>
            <a:ahLst/>
            <a:cxnLst/>
            <a:rect l="l" t="t" r="r" b="b"/>
            <a:pathLst>
              <a:path w="3797170" h="3649905">
                <a:moveTo>
                  <a:pt x="0" y="0"/>
                </a:moveTo>
                <a:lnTo>
                  <a:pt x="1965038" y="0"/>
                </a:lnTo>
                <a:lnTo>
                  <a:pt x="3797170" y="1761079"/>
                </a:lnTo>
                <a:lnTo>
                  <a:pt x="3797170" y="3649905"/>
                </a:lnTo>
                <a:lnTo>
                  <a:pt x="0" y="0"/>
                </a:lnTo>
                <a:close/>
              </a:path>
            </a:pathLst>
          </a:custGeom>
          <a:solidFill>
            <a:srgbClr val="B89F7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>
            <a:off x="8585310" y="5163442"/>
            <a:ext cx="3606778" cy="1150703"/>
          </a:xfrm>
          <a:custGeom>
            <a:avLst/>
            <a:gdLst/>
            <a:ahLst/>
            <a:cxnLst/>
            <a:rect l="l" t="t" r="r" b="b"/>
            <a:pathLst>
              <a:path w="3606778" h="1150703">
                <a:moveTo>
                  <a:pt x="1111899" y="0"/>
                </a:moveTo>
                <a:lnTo>
                  <a:pt x="3606778" y="0"/>
                </a:lnTo>
                <a:lnTo>
                  <a:pt x="3606778" y="1150703"/>
                </a:lnTo>
                <a:lnTo>
                  <a:pt x="0" y="1150703"/>
                </a:lnTo>
                <a:lnTo>
                  <a:pt x="1111899" y="0"/>
                </a:lnTo>
                <a:close/>
              </a:path>
            </a:pathLst>
          </a:custGeom>
          <a:solidFill>
            <a:srgbClr val="006D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>
            <a:off x="0" y="0"/>
            <a:ext cx="3728422" cy="3636256"/>
          </a:xfrm>
          <a:custGeom>
            <a:avLst/>
            <a:gdLst/>
            <a:ahLst/>
            <a:cxnLst/>
            <a:rect l="l" t="t" r="r" b="b"/>
            <a:pathLst>
              <a:path w="3728422" h="3636256">
                <a:moveTo>
                  <a:pt x="0" y="0"/>
                </a:moveTo>
                <a:lnTo>
                  <a:pt x="3728422" y="0"/>
                </a:lnTo>
                <a:lnTo>
                  <a:pt x="3728422" y="67224"/>
                </a:lnTo>
                <a:lnTo>
                  <a:pt x="159137" y="3636256"/>
                </a:lnTo>
                <a:lnTo>
                  <a:pt x="159137" y="3621422"/>
                </a:lnTo>
                <a:lnTo>
                  <a:pt x="0" y="3621422"/>
                </a:lnTo>
                <a:lnTo>
                  <a:pt x="0" y="0"/>
                </a:lnTo>
                <a:close/>
              </a:path>
            </a:pathLst>
          </a:custGeom>
          <a:solidFill>
            <a:srgbClr val="B39B7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>
            <a:off x="1658" y="258312"/>
            <a:ext cx="4472915" cy="1150703"/>
          </a:xfrm>
          <a:custGeom>
            <a:avLst/>
            <a:gdLst/>
            <a:ahLst/>
            <a:cxnLst/>
            <a:rect l="l" t="t" r="r" b="b"/>
            <a:pathLst>
              <a:path w="4472915" h="1150703">
                <a:moveTo>
                  <a:pt x="0" y="0"/>
                </a:moveTo>
                <a:lnTo>
                  <a:pt x="4472915" y="0"/>
                </a:lnTo>
                <a:lnTo>
                  <a:pt x="3361016" y="1150703"/>
                </a:lnTo>
                <a:lnTo>
                  <a:pt x="0" y="1150703"/>
                </a:lnTo>
                <a:lnTo>
                  <a:pt x="0" y="0"/>
                </a:lnTo>
                <a:close/>
              </a:path>
            </a:pathLst>
          </a:custGeom>
          <a:solidFill>
            <a:srgbClr val="006D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cxnSp>
        <p:nvCxnSpPr>
          <p:cNvPr id="8" name="Connector 8"/>
          <p:cNvCxnSpPr/>
          <p:nvPr/>
        </p:nvCxnSpPr>
        <p:spPr>
          <a:xfrm>
            <a:off x="3106738" y="4746625"/>
            <a:ext cx="597853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6DB8">
                <a:alpha val="10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cxnSp>
        <p:nvCxnSpPr>
          <p:cNvPr id="9" name="Connector 9"/>
          <p:cNvCxnSpPr/>
          <p:nvPr/>
        </p:nvCxnSpPr>
        <p:spPr>
          <a:xfrm>
            <a:off x="3106738" y="2197100"/>
            <a:ext cx="597853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6DB8">
                <a:alpha val="10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>
            <p:ph type="body" sz="quarter" idx="4294967295" hasCustomPrompt="1"/>
          </p:nvPr>
        </p:nvSpPr>
        <p:spPr>
          <a:xfrm>
            <a:off x="3200400" y="2497138"/>
            <a:ext cx="5791200" cy="1398587"/>
          </a:xfrm>
          <a:prstGeom prst="rect">
            <a:avLst/>
          </a:prstGeom>
        </p:spPr>
        <p:txBody>
          <a:bodyPr wrap="square" lIns="91440" tIns="45720" rIns="91440" bIns="45720" anchor="b">
            <a:normAutofit/>
          </a:bodyPr>
          <a:lstStyle>
            <a:lvl1pPr algn="ctr">
              <a:lnSpc>
                <a:spcPct val="100000"/>
              </a:lnSpc>
              <a:defRPr sz="8000" b="1" i="0" u="none" strike="noStrike" spc="1000">
                <a:solidFill>
                  <a:srgbClr val="262626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8000" b="1" i="0" u="none" strike="noStrike" spc="1000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THANKS</a:t>
            </a:r>
            <a:endParaRPr lang="en-US" sz="8000" b="1" i="0" u="none" strike="noStrike" spc="1000">
              <a:solidFill>
                <a:srgbClr val="26262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0,&quot;left&quot;:520,&quot;top&quot;:160,&quot;width&quot;:420}"/>
</p:tagLst>
</file>

<file path=ppt/tags/tag2.xml><?xml version="1.0" encoding="utf-8"?>
<p:tagLst xmlns:p="http://schemas.openxmlformats.org/presentationml/2006/main">
  <p:tag name="KSO_WM_DIAGRAM_VIRTUALLY_FRAME" val="{&quot;height&quot;:320,&quot;left&quot;:520,&quot;top&quot;:160,&quot;width&quot;:420}"/>
</p:tagLst>
</file>

<file path=ppt/tags/tag3.xml><?xml version="1.0" encoding="utf-8"?>
<p:tagLst xmlns:p="http://schemas.openxmlformats.org/presentationml/2006/main">
  <p:tag name="KSO_WM_DIAGRAM_VIRTUALLY_FRAME" val="{&quot;height&quot;:320,&quot;left&quot;:520,&quot;top&quot;:160,&quot;width&quot;:420}"/>
</p:tagLst>
</file>

<file path=ppt/tags/tag4.xml><?xml version="1.0" encoding="utf-8"?>
<p:tagLst xmlns:p="http://schemas.openxmlformats.org/presentationml/2006/main">
  <p:tag name="KSO_WM_DIAGRAM_VIRTUALLY_FRAME" val="{&quot;height&quot;:320,&quot;left&quot;:520,&quot;top&quot;:160,&quot;width&quot;:420}"/>
</p:tagLst>
</file>

<file path=ppt/tags/tag5.xml><?xml version="1.0" encoding="utf-8"?>
<p:tagLst xmlns:p="http://schemas.openxmlformats.org/presentationml/2006/main">
  <p:tag name="KSO_WM_DIAGRAM_VIRTUALLY_FRAME" val="{&quot;height&quot;:320,&quot;left&quot;:520,&quot;top&quot;:160,&quot;width&quot;:420}"/>
</p:tagLst>
</file>

<file path=ppt/tags/tag6.xml><?xml version="1.0" encoding="utf-8"?>
<p:tagLst xmlns:p="http://schemas.openxmlformats.org/presentationml/2006/main">
  <p:tag name="KSO_WM_DIAGRAM_VIRTUALLY_FRAME" val="{&quot;height&quot;:320,&quot;left&quot;:520,&quot;top&quot;:160,&quot;width&quot;:420}"/>
</p:tagLst>
</file>

<file path=ppt/tags/tag7.xml><?xml version="1.0" encoding="utf-8"?>
<p:tagLst xmlns:p="http://schemas.openxmlformats.org/presentationml/2006/main">
  <p:tag name="KSO_WM_DIAGRAM_VIRTUALLY_FRAME" val="{&quot;height&quot;:320,&quot;left&quot;:520,&quot;top&quot;:160,&quot;width&quot;:420}"/>
</p:tagLst>
</file>

<file path=ppt/tags/tag8.xml><?xml version="1.0" encoding="utf-8"?>
<p:tagLst xmlns:p="http://schemas.openxmlformats.org/presentationml/2006/main">
  <p:tag name="KSO_WM_DIAGRAM_VIRTUALLY_FRAME" val="{&quot;height&quot;:320,&quot;left&quot;:520,&quot;top&quot;:160,&quot;width&quot;:420}"/>
</p:tagLst>
</file>

<file path=ppt/tags/tag9.xml><?xml version="1.0" encoding="utf-8"?>
<p:tagLst xmlns:p="http://schemas.openxmlformats.org/presentationml/2006/main">
  <p:tag name="KSO_WM_DIAGRAM_VIRTUALLY_FRAME" val="{&quot;height&quot;:320,&quot;left&quot;:520,&quot;top&quot;:160,&quot;width&quot;:420}"/>
</p:tagLst>
</file>

<file path=ppt/tags/tag10.xml><?xml version="1.0" encoding="utf-8"?>
<p:tagLst xmlns:p="http://schemas.openxmlformats.org/presentationml/2006/main">
  <p:tag name="KSO_WM_DIAGRAM_VIRTUALLY_FRAME" val="{&quot;height&quot;:320,&quot;left&quot;:520,&quot;top&quot;:160,&quot;width&quot;:420}"/>
</p:tagLst>
</file>

<file path=ppt/tags/tag11.xml><?xml version="1.0" encoding="utf-8"?>
<p:tagLst xmlns:p="http://schemas.openxmlformats.org/presentationml/2006/main">
  <p:tag name="KSO_WM_DIAGRAM_VIRTUALLY_FRAME" val="{&quot;height&quot;:320,&quot;left&quot;:520,&quot;top&quot;:160,&quot;width&quot;:420}"/>
</p:tagLst>
</file>

<file path=ppt/tags/tag12.xml><?xml version="1.0" encoding="utf-8"?>
<p:tagLst xmlns:p="http://schemas.openxmlformats.org/presentationml/2006/main">
  <p:tag name="KSO_WM_DIAGRAM_VIRTUALLY_FRAME" val="{&quot;height&quot;:320,&quot;left&quot;:520,&quot;top&quot;:160,&quot;width&quot;:420}"/>
</p:tagLst>
</file>

<file path=ppt/tags/tag13.xml><?xml version="1.0" encoding="utf-8"?>
<p:tagLst xmlns:p="http://schemas.openxmlformats.org/presentationml/2006/main">
  <p:tag name="KSO_WM_DIAGRAM_VIRTUALLY_FRAME" val="{&quot;height&quot;:320,&quot;left&quot;:520,&quot;top&quot;:160,&quot;width&quot;:420}"/>
</p:tagLst>
</file>

<file path=ppt/tags/tag14.xml><?xml version="1.0" encoding="utf-8"?>
<p:tagLst xmlns:p="http://schemas.openxmlformats.org/presentationml/2006/main">
  <p:tag name="KSO_WM_DIAGRAM_VIRTUALLY_FRAME" val="{&quot;height&quot;:320,&quot;left&quot;:520,&quot;top&quot;:160,&quot;width&quot;:420}"/>
</p:tagLst>
</file>

<file path=ppt/tags/tag15.xml><?xml version="1.0" encoding="utf-8"?>
<p:tagLst xmlns:p="http://schemas.openxmlformats.org/presentationml/2006/main">
  <p:tag name="KSO_WM_DIAGRAM_VIRTUALLY_FRAME" val="{&quot;height&quot;:320,&quot;left&quot;:520,&quot;top&quot;:160,&quot;width&quot;:420}"/>
</p:tagLst>
</file>

<file path=ppt/tags/tag16.xml><?xml version="1.0" encoding="utf-8"?>
<p:tagLst xmlns:p="http://schemas.openxmlformats.org/presentationml/2006/main">
  <p:tag name="KSO_WM_DIAGRAM_VIRTUALLY_FRAME" val="{&quot;height&quot;:320,&quot;left&quot;:520,&quot;top&quot;:160,&quot;width&quot;:420}"/>
</p:tagLst>
</file>

<file path=ppt/tags/tag17.xml><?xml version="1.0" encoding="utf-8"?>
<p:tagLst xmlns:p="http://schemas.openxmlformats.org/presentationml/2006/main">
  <p:tag name="KSO_WM_DIAGRAM_VIRTUALLY_FRAME" val="{&quot;height&quot;:320,&quot;left&quot;:520,&quot;top&quot;:160,&quot;width&quot;:420}"/>
</p:tagLst>
</file>

<file path=ppt/tags/tag18.xml><?xml version="1.0" encoding="utf-8"?>
<p:tagLst xmlns:p="http://schemas.openxmlformats.org/presentationml/2006/main">
  <p:tag name="KSO_WM_DIAGRAM_VIRTUALLY_FRAME" val="{&quot;height&quot;:320,&quot;left&quot;:520,&quot;top&quot;:160,&quot;width&quot;:42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9891</Words>
  <Application>WPS 演示</Application>
  <PresentationFormat/>
  <Paragraphs>703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33</vt:i4>
      </vt:variant>
    </vt:vector>
  </HeadingPairs>
  <TitlesOfParts>
    <vt:vector size="52" baseType="lpstr">
      <vt:lpstr>Arial</vt:lpstr>
      <vt:lpstr>宋体</vt:lpstr>
      <vt:lpstr>Wingdings</vt:lpstr>
      <vt:lpstr>Arial</vt:lpstr>
      <vt:lpstr>Noto Sans SC</vt:lpstr>
      <vt:lpstr>微软雅黑</vt:lpstr>
      <vt:lpstr>汉仪旗黑-85S</vt:lpstr>
      <vt:lpstr>黑体</vt:lpstr>
      <vt:lpstr>Calibri</vt:lpstr>
      <vt:lpstr>Songti SC</vt:lpstr>
      <vt:lpstr>Segoe Print</vt:lpstr>
      <vt:lpstr>Noto Serif SC</vt:lpstr>
      <vt:lpstr>Arial Unicode MS</vt:lpstr>
      <vt:lpstr>Office 主题​​</vt:lpstr>
      <vt:lpstr>自定义主题</vt:lpstr>
      <vt:lpstr>Office 主题​​</vt:lpstr>
      <vt:lpstr>Office 主题​​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Dlo</cp:lastModifiedBy>
  <cp:revision>2</cp:revision>
  <dcterms:created xsi:type="dcterms:W3CDTF">2026-09-16T15:31:00Z</dcterms:created>
  <dcterms:modified xsi:type="dcterms:W3CDTF">2026-09-17T02:12:12Z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{"Label":"1","ContentProducer":"001191110102MACQD9K64010000","ProduceID":"7686150019863596243","ReservedCode1":"","ContentPropagator":"","PropagateID":"","ReservedCode2":""}</vt:lpwstr>
  </property>
  <property fmtid="{D5CDD505-2E9C-101B-9397-08002B2CF9AE}" pid="3" name="KSOProductBuildVer">
    <vt:lpwstr>2052-12.1.0.28505</vt:lpwstr>
  </property>
  <property fmtid="{D5CDD505-2E9C-101B-9397-08002B2CF9AE}" pid="4" name="ICV">
    <vt:lpwstr>A9C9F1C7400045E79EBA37A18142409F_12</vt:lpwstr>
  </property>
</Properties>
</file>